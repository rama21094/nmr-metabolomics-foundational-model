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questions welcome throughout.
TIMING GUIDE (leaves ~8 min slack for interruptions):
  slides 1-4    framing + the arc ................ 6 min
  slides 5-9    what we built ................... 8 min
  slides 10-14  the headline + diagnosis ........ 9 min
  slides 15-21  the three mistakes .............. 10 min  &lt;- the important part
  slides 22-25  the few-shot result ............. 7 min
  slides 26-29  where we stand + discussion ..... 5 min
If running long, slide 6 (preprocessing versions) and slide 9 (protocol) are the two that can be summarised in one sentence each. Do NOT cut 19, 20, 23 or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framing has not changed. Everything that follows is about whether we actually cleared the bar in item 4 — and the honest answer today is: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February deck showed a model that reconstructed beautifully and an evaluation that could not support conclusions. The reconstruction quality was real; it just turned out to be the wrong thing to optimise.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for the talk. I will spend most time on 5 and 6 because that is where the real learning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is still small for a foundation model — 9,670 is orders of magnitude below where masked pretraining usually starts to pay. That becomes one of my proposed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unless asked. The point is methodological: correctness and measurable downstream benefit are different justifications, and we conflated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questions likely here. Patch 1024 = 128 tokens over 131k points. That resolution limit becomes a hypothesis we test and refute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transferable lesson for anyone else in the group doing SSL: a beautiful reconstruction figure tells you almost nothing about whether the features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mechanism for the whole negative result, so do not rush it.
The honest framing: masked reconstruction on this corpus is close to a solved linear-algebra problem before any deep learning is involved. 86% of all corpus variance sits in 5 principal components, and the median spectrum's nearest neighbour correlates at r = 0.991. At 60% masking the model still sees ~52,000 points to pin down ~20 effective degrees of freedom.
Two honest caveats if pushed:
(1) the network does still beat every non-learned baseline, by about +0.02. It is learning something real, just something that is nearly free and not disease-related.
(2) nn_copy benefits from same-study neighbours. Excluding close row-neighbours it drops from 0.90 to 0.885 — the conclusion does not change.
Unexpected result worth mentioning: we predicted r was inflated by predicting empty baseline. It is not. Peak bins score 0.879 and baseline bins 0.855 at 60% masking, so the model really does reproduce peaks. It just does not need much skill to do so.
Side finding: 1.1% of the corpus are near-duplicates at r &gt; 0.9999 and 55% have a neighbour at r &gt; 0.99, despite the corpus being built by a 'combine_unique' dedup step. Effective corpus size is smaller than 9,670. This matters for the corpus-scaling experiment on the next-steps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6-decimal gate is worth emphasising — it is what lets us attribute differences to the features rather than to a plumbing discrepancy.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that set the agenda for the next four months. Note it was measured with the reported DNN head and mean-pooling — both of which turned out to be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mixed picture is the useful part: there is no single fix, and for one target the SSL representation was already better than the classical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Pooling: the backbone makes 128 tokens, one per spectral region. Mean-pooling averages them and throws away WHERE the signal was — but chemical shift position is the discriminative information in NMR. Keeping position costs nothing.
IF SOMEONE ASKS WHY THE PANELS DO NOT CHAIN (a fair question — the left panel's 'after' is not the right panel's 'before'):
They are two independent paired experiments on the same checkpoint, read at different nhead. That checkpoint does not record nhead and the attention weight shapes are identical either way, so it loads silently under both. The left panel is read at nhead=8, the right at the true nhead=4. Each panel is internally valid because each is paired; the absolute heights are not comparable across panels. flatten pooling is almost nhead-invariant (Barth 0.8059 either way) while mean_pool is very sensitive (0.677 vs 0.770), which is exactly why the baselines differ.
LEFT PANEL is the strict paired test from experiment #2: LogReg vs the trained MLP head on IDENTICAL frozen features — same backbone, same pooling, same folds, only the fitting of the final linear map differs. +0.120 mean, positive on 5 of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slide — but flag the asterisk as you show it, do not let it pass as a win.
The two remaining large gaps are the two biggest cohorts, the ones with actual error bars. And the Barth 'win' is retracted later in the talk (experiment #18): 0.806 is the highest of five pretraining seeds and the group mean is 0.690, below classical's 0.705.
The +0.078 mean improvement and the pooling win are both real and both survive; it is only the Barth-beats-classical claim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from this: concentrate on masking. We stopped developing jigsaw and joint. If asked why random is strong — random-feature kernel methods are a real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real time here — this is the part that changed how I work, and it is the part most transferable to everyone else in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this one nearly sent us in the wrong direction entirely — we could have concluded the whole approach was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a confound worth admitting: the small-patch models have ~3x fewer parameters, because the patch embedding scales with patch size. The falling reconstruction loss is the independent evidence for the easier-task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the room what they would have done. The answer we should have reached months earlier is: replicate the reference run before believing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GPU-hours to learn that our headline result was a sampling artifact. Cheapest expensive lesson of the project. Emphasise: this was the student's own suggestion to run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0.020 floor is the deeper error: we had explicitly noted at the time that the three-run agreement looked like a fluke, called it a fluke in writing, and then adopted it as a floor anyway. That is what let three claims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 it is the same mistake as the corpus effect, just applied to a claim we liked.
The Barth 'SSL WINS +0.101' on the earlier scorecard came from arm ps1024_nhead4_true, which is the original unseeded run — exactly the position experiment #15 showed to be selection-biased upward. The other four v3 seeds score 0.598 to 0.699, all BELOW classical's 0.705.
Left panel: one point per pretraining seed, flatten pooling. Star = the run every headline was quoted from. Gold dashed = group mean. Navy line = classical LogReg 0.705, shaded band = the 0.045 noise floor.
Right panel: all four (pooling x corpus) groups, delta vs classical with standard errors. Every one sits inside the grey noise band. The right-hand column counts how many of the 5 seeds beat classical.
If asked 'so was Barth ever a win?' — no. Honest record is 0 wins, 1 tie (MTBLS326, where both are at ceiling), 4 losses. Importantly this STRENGTHENS the few-shot conclusion rather than weakening it: we no longer have one anomalous target to explain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all of this is now in a written lab record with the retractions kept in place rather than edited out, so the reasoning is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experiment was on the queue since July as #6. It is the one that actually tests what we set out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one methodological fix that mattered: the few-shot classifiers still had the OLD hardcoded mean-pooling. Left alone, that would have handicapped SSL by 0.03-0.13 in exactly the experiment meant to favour it. We ported the pooling fix 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pairing plainly: for a fixed episode both models saw the same 4 training samples and the same test samples, so their difference removes the luck of the draw. Single-episode std is 0.07-0.15; the paired se is ~0.016.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seen trying to break my own negative result. If someone in the room has another way it could be an artifact, that is exactly the feedback I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remember, it is this one. The methodological pattern is cleaner than any individual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here. I would rather bring the group an honest negative with good methodology than keep tuning until something crosses a threshold by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1 is the one I most want feedback on — it is the last strong argument for the backbone, and it is cheap because it needs no 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plenty of time here. The three questions are genuine — especially #2, since the scaling answer depends on data we may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1600200"/>
            <a:ext cx="10515600" cy="603504"/>
          </a:xfrm>
          <a:prstGeom prst="rect">
            <a:avLst/>
          </a:prstGeom>
          <a:noFill/>
          <a:ln/>
        </p:spPr>
        <p:txBody>
          <a:bodyPr wrap="square" lIns="0" tIns="0" rIns="0" bIns="0" rtlCol="0" anchor="ctr"/>
          <a:lstStyle/>
          <a:p>
            <a:pPr indent="0" marL="0">
              <a:buNone/>
            </a:pPr>
            <a:r>
              <a:rPr lang="en-US" sz="3400" dirty="0">
                <a:solidFill>
                  <a:srgbClr val="9FC4DA"/>
                </a:solidFill>
                <a:latin typeface="Arial" pitchFamily="34" charset="0"/>
                <a:ea typeface="Arial" pitchFamily="34" charset="-122"/>
                <a:cs typeface="Arial" pitchFamily="34" charset="-120"/>
              </a:rPr>
              <a:t>Foundation Model for</a:t>
            </a:r>
            <a:endParaRPr lang="en-US" sz="3400" dirty="0"/>
          </a:p>
        </p:txBody>
      </p:sp>
      <p:sp>
        <p:nvSpPr>
          <p:cNvPr id="3" name="Text 1"/>
          <p:cNvSpPr/>
          <p:nvPr/>
        </p:nvSpPr>
        <p:spPr>
          <a:xfrm>
            <a:off x="822960" y="2139696"/>
            <a:ext cx="10515600" cy="841248"/>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1D NMR Metabolomics</a:t>
            </a:r>
            <a:endParaRPr lang="en-US" sz="4800" dirty="0"/>
          </a:p>
        </p:txBody>
      </p:sp>
      <p:sp>
        <p:nvSpPr>
          <p:cNvPr id="4" name="Text 2"/>
          <p:cNvSpPr/>
          <p:nvPr/>
        </p:nvSpPr>
        <p:spPr>
          <a:xfrm>
            <a:off x="822960" y="3127248"/>
            <a:ext cx="10515600" cy="457200"/>
          </a:xfrm>
          <a:prstGeom prst="rect">
            <a:avLst/>
          </a:prstGeom>
          <a:noFill/>
          <a:ln/>
        </p:spPr>
        <p:txBody>
          <a:bodyPr wrap="square" lIns="0" tIns="0" rIns="0" bIns="0" rtlCol="0" anchor="ctr"/>
          <a:lstStyle/>
          <a:p>
            <a:pPr indent="0" marL="0">
              <a:buNone/>
            </a:pPr>
            <a:r>
              <a:rPr lang="en-US" sz="2100" i="1" dirty="0">
                <a:solidFill>
                  <a:srgbClr val="CADCFC"/>
                </a:solidFill>
                <a:latin typeface="Arial" pitchFamily="34" charset="0"/>
                <a:ea typeface="Arial" pitchFamily="34" charset="-122"/>
                <a:cs typeface="Arial" pitchFamily="34" charset="-120"/>
              </a:rPr>
              <a:t>What we built, what we found, and the three things we got wrong</a:t>
            </a:r>
            <a:endParaRPr lang="en-US" sz="2100" dirty="0"/>
          </a:p>
        </p:txBody>
      </p:sp>
      <p:sp>
        <p:nvSpPr>
          <p:cNvPr id="5" name="Text 3"/>
          <p:cNvSpPr/>
          <p:nvPr/>
        </p:nvSpPr>
        <p:spPr>
          <a:xfrm>
            <a:off x="822960" y="4041648"/>
            <a:ext cx="10515600" cy="1188720"/>
          </a:xfrm>
          <a:prstGeom prst="rect">
            <a:avLst/>
          </a:prstGeom>
          <a:noFill/>
          <a:ln/>
        </p:spPr>
        <p:txBody>
          <a:bodyPr wrap="square" lIns="0" tIns="0" rIns="0" bIns="0" rtlCol="0" anchor="ctr"/>
          <a:lstStyle/>
          <a:p>
            <a:pPr indent="0" marL="0">
              <a:lnSpc>
                <a:spcPts val="2600"/>
              </a:lnSpc>
              <a:buNone/>
            </a:pPr>
            <a:r>
              <a:rPr lang="en-US" sz="1900" b="1" dirty="0">
                <a:solidFill>
                  <a:srgbClr val="FFFFFF"/>
                </a:solidFill>
                <a:latin typeface="Arial" pitchFamily="34" charset="0"/>
                <a:ea typeface="Arial" pitchFamily="34" charset="-122"/>
                <a:cs typeface="Arial" pitchFamily="34" charset="-120"/>
              </a:rPr>
              <a:t>Shankararama Sharma</a:t>
            </a:r>
            <a:endParaRPr lang="en-US" sz="1900" dirty="0"/>
          </a:p>
          <a:p>
            <a:pPr indent="0" marL="0">
              <a:lnSpc>
                <a:spcPts val="2600"/>
              </a:lnSpc>
              <a:buNone/>
            </a:pPr>
            <a:r>
              <a:rPr lang="en-US" sz="1700" dirty="0">
                <a:solidFill>
                  <a:srgbClr val="9FC4DA"/>
                </a:solidFill>
                <a:latin typeface="Arial" pitchFamily="34" charset="0"/>
                <a:ea typeface="Arial" pitchFamily="34" charset="-122"/>
                <a:cs typeface="Arial" pitchFamily="34" charset="-120"/>
              </a:rPr>
              <a:t>Group Meeting  ·  August 2026</a:t>
            </a:r>
            <a:endParaRPr lang="en-US" sz="1900" dirty="0"/>
          </a:p>
          <a:p>
            <a:pPr indent="0" marL="0">
              <a:lnSpc>
                <a:spcPts val="2600"/>
              </a:lnSpc>
              <a:buNone/>
            </a:pPr>
            <a:r>
              <a:rPr lang="en-US" sz="1600" i="1" dirty="0">
                <a:solidFill>
                  <a:srgbClr val="7FA8C4"/>
                </a:solidFill>
                <a:latin typeface="Arial" pitchFamily="34" charset="0"/>
                <a:ea typeface="Arial" pitchFamily="34" charset="-122"/>
                <a:cs typeface="Arial" pitchFamily="34" charset="-120"/>
              </a:rPr>
              <a:t>continues from 27 Feb 2026</a:t>
            </a:r>
            <a:endParaRPr lang="en-US" sz="1900" dirty="0"/>
          </a:p>
        </p:txBody>
      </p:sp>
      <p:sp>
        <p:nvSpPr>
          <p:cNvPr id="6" name="Text 4"/>
          <p:cNvSpPr/>
          <p:nvPr/>
        </p:nvSpPr>
        <p:spPr>
          <a:xfrm>
            <a:off x="8229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9,670</a:t>
            </a:r>
            <a:endParaRPr lang="en-US" sz="3600" dirty="0"/>
          </a:p>
        </p:txBody>
      </p:sp>
      <p:sp>
        <p:nvSpPr>
          <p:cNvPr id="7" name="Text 5"/>
          <p:cNvSpPr/>
          <p:nvPr/>
        </p:nvSpPr>
        <p:spPr>
          <a:xfrm>
            <a:off x="22860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spectra pretrained on</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(was 2,146 in Feb)</a:t>
            </a:r>
            <a:endParaRPr lang="en-US" sz="1450" dirty="0"/>
          </a:p>
        </p:txBody>
      </p:sp>
      <p:sp>
        <p:nvSpPr>
          <p:cNvPr id="8" name="Text 6"/>
          <p:cNvSpPr/>
          <p:nvPr/>
        </p:nvSpPr>
        <p:spPr>
          <a:xfrm>
            <a:off x="44805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5</a:t>
            </a:r>
            <a:endParaRPr lang="en-US" sz="3600" dirty="0"/>
          </a:p>
        </p:txBody>
      </p:sp>
      <p:sp>
        <p:nvSpPr>
          <p:cNvPr id="9" name="Text 7"/>
          <p:cNvSpPr/>
          <p:nvPr/>
        </p:nvSpPr>
        <p:spPr>
          <a:xfrm>
            <a:off x="59436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evaluation targets</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across 4 cohorts</a:t>
            </a:r>
            <a:endParaRPr lang="en-US" sz="1450" dirty="0"/>
          </a:p>
        </p:txBody>
      </p:sp>
      <p:sp>
        <p:nvSpPr>
          <p:cNvPr id="10" name="Text 8"/>
          <p:cNvSpPr/>
          <p:nvPr/>
        </p:nvSpPr>
        <p:spPr>
          <a:xfrm>
            <a:off x="81381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15</a:t>
            </a:r>
            <a:endParaRPr lang="en-US" sz="3600" dirty="0"/>
          </a:p>
        </p:txBody>
      </p:sp>
      <p:sp>
        <p:nvSpPr>
          <p:cNvPr id="11" name="Text 9"/>
          <p:cNvSpPr/>
          <p:nvPr/>
        </p:nvSpPr>
        <p:spPr>
          <a:xfrm>
            <a:off x="96012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numbered experiments</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3 retractions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goal — unchanged since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Why a foundation model is the right idea for metabolomics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a:t>
            </a:r>
            <a:endParaRPr lang="en-US" sz="1200" dirty="0"/>
          </a:p>
        </p:txBody>
      </p:sp>
      <p:sp>
        <p:nvSpPr>
          <p:cNvPr id="5" name="Shape 3"/>
          <p:cNvSpPr/>
          <p:nvPr/>
        </p:nvSpPr>
        <p:spPr>
          <a:xfrm>
            <a:off x="502920" y="1481328"/>
            <a:ext cx="11155680" cy="1060704"/>
          </a:xfrm>
          <a:prstGeom prst="roundRect">
            <a:avLst>
              <a:gd name="adj" fmla="val 6897"/>
            </a:avLst>
          </a:prstGeom>
          <a:solidFill>
            <a:srgbClr val="EEF3F7"/>
          </a:solidFill>
          <a:ln/>
        </p:spPr>
      </p:sp>
      <p:sp>
        <p:nvSpPr>
          <p:cNvPr id="6" name="Shape 4"/>
          <p:cNvSpPr/>
          <p:nvPr/>
        </p:nvSpPr>
        <p:spPr>
          <a:xfrm>
            <a:off x="713232" y="1737360"/>
            <a:ext cx="548640" cy="548640"/>
          </a:xfrm>
          <a:prstGeom prst="ellipse">
            <a:avLst/>
          </a:prstGeom>
          <a:solidFill>
            <a:srgbClr val="065A82"/>
          </a:solidFill>
          <a:ln/>
        </p:spPr>
      </p:sp>
      <p:sp>
        <p:nvSpPr>
          <p:cNvPr id="7" name="Text 5"/>
          <p:cNvSpPr/>
          <p:nvPr/>
        </p:nvSpPr>
        <p:spPr>
          <a:xfrm>
            <a:off x="713232" y="1737360"/>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a:t>
            </a:r>
            <a:endParaRPr lang="en-US" sz="1900" dirty="0"/>
          </a:p>
        </p:txBody>
      </p:sp>
      <p:sp>
        <p:nvSpPr>
          <p:cNvPr id="8" name="Text 6"/>
          <p:cNvSpPr/>
          <p:nvPr/>
        </p:nvSpPr>
        <p:spPr>
          <a:xfrm>
            <a:off x="1426464" y="1600200"/>
            <a:ext cx="2743200" cy="384048"/>
          </a:xfrm>
          <a:prstGeom prst="rect">
            <a:avLst/>
          </a:prstGeom>
          <a:noFill/>
          <a:ln/>
        </p:spPr>
        <p:txBody>
          <a:bodyPr wrap="square" lIns="0" tIns="0" rIns="0" bIns="0" rtlCol="0" anchor="ctr"/>
          <a:lstStyle/>
          <a:p>
            <a:pPr indent="0" marL="0">
              <a:buNone/>
            </a:pPr>
            <a:r>
              <a:rPr lang="en-US" sz="1900" b="1" dirty="0">
                <a:solidFill>
                  <a:srgbClr val="065A82"/>
                </a:solidFill>
                <a:latin typeface="Arial" pitchFamily="34" charset="0"/>
                <a:ea typeface="Arial" pitchFamily="34" charset="-122"/>
                <a:cs typeface="Arial" pitchFamily="34" charset="-120"/>
              </a:rPr>
              <a:t>The problem</a:t>
            </a:r>
            <a:endParaRPr lang="en-US" sz="1900" dirty="0"/>
          </a:p>
        </p:txBody>
      </p:sp>
      <p:sp>
        <p:nvSpPr>
          <p:cNvPr id="9" name="Text 7"/>
          <p:cNvSpPr/>
          <p:nvPr/>
        </p:nvSpPr>
        <p:spPr>
          <a:xfrm>
            <a:off x="1426464" y="1956816"/>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Metabolomics cohorts are tiny — 10s to 100s of samples. Deep networks need far more than that to train from scratch.</a:t>
            </a:r>
            <a:endParaRPr lang="en-US" sz="1650" dirty="0"/>
          </a:p>
        </p:txBody>
      </p:sp>
      <p:sp>
        <p:nvSpPr>
          <p:cNvPr id="10" name="Shape 8"/>
          <p:cNvSpPr/>
          <p:nvPr/>
        </p:nvSpPr>
        <p:spPr>
          <a:xfrm>
            <a:off x="502920" y="2706624"/>
            <a:ext cx="11155680" cy="1060704"/>
          </a:xfrm>
          <a:prstGeom prst="roundRect">
            <a:avLst>
              <a:gd name="adj" fmla="val 6897"/>
            </a:avLst>
          </a:prstGeom>
          <a:solidFill>
            <a:srgbClr val="EEF3F7"/>
          </a:solidFill>
          <a:ln/>
        </p:spPr>
      </p:sp>
      <p:sp>
        <p:nvSpPr>
          <p:cNvPr id="11" name="Shape 9"/>
          <p:cNvSpPr/>
          <p:nvPr/>
        </p:nvSpPr>
        <p:spPr>
          <a:xfrm>
            <a:off x="713232" y="2962656"/>
            <a:ext cx="548640" cy="548640"/>
          </a:xfrm>
          <a:prstGeom prst="ellipse">
            <a:avLst/>
          </a:prstGeom>
          <a:solidFill>
            <a:srgbClr val="1C7293"/>
          </a:solidFill>
          <a:ln/>
        </p:spPr>
      </p:sp>
      <p:sp>
        <p:nvSpPr>
          <p:cNvPr id="12" name="Text 10"/>
          <p:cNvSpPr/>
          <p:nvPr/>
        </p:nvSpPr>
        <p:spPr>
          <a:xfrm>
            <a:off x="713232" y="2962656"/>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a:t>
            </a:r>
            <a:endParaRPr lang="en-US" sz="1900" dirty="0"/>
          </a:p>
        </p:txBody>
      </p:sp>
      <p:sp>
        <p:nvSpPr>
          <p:cNvPr id="13" name="Text 11"/>
          <p:cNvSpPr/>
          <p:nvPr/>
        </p:nvSpPr>
        <p:spPr>
          <a:xfrm>
            <a:off x="1426464" y="2825496"/>
            <a:ext cx="2743200" cy="384048"/>
          </a:xfrm>
          <a:prstGeom prst="rect">
            <a:avLst/>
          </a:prstGeom>
          <a:noFill/>
          <a:ln/>
        </p:spPr>
        <p:txBody>
          <a:bodyPr wrap="square" lIns="0" tIns="0" rIns="0" bIns="0" rtlCol="0" anchor="ctr"/>
          <a:lstStyle/>
          <a:p>
            <a:pPr indent="0" marL="0">
              <a:buNone/>
            </a:pPr>
            <a:r>
              <a:rPr lang="en-US" sz="1900" b="1" dirty="0">
                <a:solidFill>
                  <a:srgbClr val="1C7293"/>
                </a:solidFill>
                <a:latin typeface="Arial" pitchFamily="34" charset="0"/>
                <a:ea typeface="Arial" pitchFamily="34" charset="-122"/>
                <a:cs typeface="Arial" pitchFamily="34" charset="-120"/>
              </a:rPr>
              <a:t>The idea</a:t>
            </a:r>
            <a:endParaRPr lang="en-US" sz="1900" dirty="0"/>
          </a:p>
        </p:txBody>
      </p:sp>
      <p:sp>
        <p:nvSpPr>
          <p:cNvPr id="14" name="Text 12"/>
          <p:cNvSpPr/>
          <p:nvPr/>
        </p:nvSpPr>
        <p:spPr>
          <a:xfrm>
            <a:off x="1426464" y="3182112"/>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Pretrain once on thousands of UNLABELLED spectra with a self-supervised task. No labels needed — we have plenty of raw spectra.</a:t>
            </a:r>
            <a:endParaRPr lang="en-US" sz="1650" dirty="0"/>
          </a:p>
        </p:txBody>
      </p:sp>
      <p:sp>
        <p:nvSpPr>
          <p:cNvPr id="15" name="Shape 13"/>
          <p:cNvSpPr/>
          <p:nvPr/>
        </p:nvSpPr>
        <p:spPr>
          <a:xfrm>
            <a:off x="502920" y="3931920"/>
            <a:ext cx="11155680" cy="1060704"/>
          </a:xfrm>
          <a:prstGeom prst="roundRect">
            <a:avLst>
              <a:gd name="adj" fmla="val 6897"/>
            </a:avLst>
          </a:prstGeom>
          <a:solidFill>
            <a:srgbClr val="EEF3F7"/>
          </a:solidFill>
          <a:ln/>
        </p:spPr>
      </p:sp>
      <p:sp>
        <p:nvSpPr>
          <p:cNvPr id="16" name="Shape 14"/>
          <p:cNvSpPr/>
          <p:nvPr/>
        </p:nvSpPr>
        <p:spPr>
          <a:xfrm>
            <a:off x="713232" y="4187952"/>
            <a:ext cx="548640" cy="548640"/>
          </a:xfrm>
          <a:prstGeom prst="ellipse">
            <a:avLst/>
          </a:prstGeom>
          <a:solidFill>
            <a:srgbClr val="B8860B"/>
          </a:solidFill>
          <a:ln/>
        </p:spPr>
      </p:sp>
      <p:sp>
        <p:nvSpPr>
          <p:cNvPr id="17" name="Text 15"/>
          <p:cNvSpPr/>
          <p:nvPr/>
        </p:nvSpPr>
        <p:spPr>
          <a:xfrm>
            <a:off x="713232" y="4187952"/>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a:t>
            </a:r>
            <a:endParaRPr lang="en-US" sz="1900" dirty="0"/>
          </a:p>
        </p:txBody>
      </p:sp>
      <p:sp>
        <p:nvSpPr>
          <p:cNvPr id="18" name="Text 16"/>
          <p:cNvSpPr/>
          <p:nvPr/>
        </p:nvSpPr>
        <p:spPr>
          <a:xfrm>
            <a:off x="1426464" y="4050792"/>
            <a:ext cx="2743200" cy="384048"/>
          </a:xfrm>
          <a:prstGeom prst="rect">
            <a:avLst/>
          </a:prstGeom>
          <a:noFill/>
          <a:ln/>
        </p:spPr>
        <p:txBody>
          <a:bodyPr wrap="square" lIns="0" tIns="0" rIns="0" bIns="0" rtlCol="0" anchor="ctr"/>
          <a:lstStyle/>
          <a:p>
            <a:pPr indent="0" marL="0">
              <a:buNone/>
            </a:pPr>
            <a:r>
              <a:rPr lang="en-US" sz="1900" b="1" dirty="0">
                <a:solidFill>
                  <a:srgbClr val="B8860B"/>
                </a:solidFill>
                <a:latin typeface="Arial" pitchFamily="34" charset="0"/>
                <a:ea typeface="Arial" pitchFamily="34" charset="-122"/>
                <a:cs typeface="Arial" pitchFamily="34" charset="-120"/>
              </a:rPr>
              <a:t>The payoff</a:t>
            </a:r>
            <a:endParaRPr lang="en-US" sz="1900" dirty="0"/>
          </a:p>
        </p:txBody>
      </p:sp>
      <p:sp>
        <p:nvSpPr>
          <p:cNvPr id="19" name="Text 17"/>
          <p:cNvSpPr/>
          <p:nvPr/>
        </p:nvSpPr>
        <p:spPr>
          <a:xfrm>
            <a:off x="1426464" y="4407408"/>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Transfer that representation to a small labelled cohort. The backbone already knows what NMR spectra look like.</a:t>
            </a:r>
            <a:endParaRPr lang="en-US" sz="1650" dirty="0"/>
          </a:p>
        </p:txBody>
      </p:sp>
      <p:sp>
        <p:nvSpPr>
          <p:cNvPr id="20" name="Shape 18"/>
          <p:cNvSpPr/>
          <p:nvPr/>
        </p:nvSpPr>
        <p:spPr>
          <a:xfrm>
            <a:off x="502920" y="5157216"/>
            <a:ext cx="11155680" cy="1060704"/>
          </a:xfrm>
          <a:prstGeom prst="roundRect">
            <a:avLst>
              <a:gd name="adj" fmla="val 6897"/>
            </a:avLst>
          </a:prstGeom>
          <a:solidFill>
            <a:srgbClr val="EEF3F7"/>
          </a:solidFill>
          <a:ln/>
        </p:spPr>
      </p:sp>
      <p:sp>
        <p:nvSpPr>
          <p:cNvPr id="21" name="Shape 19"/>
          <p:cNvSpPr/>
          <p:nvPr/>
        </p:nvSpPr>
        <p:spPr>
          <a:xfrm>
            <a:off x="713232" y="5413248"/>
            <a:ext cx="548640" cy="548640"/>
          </a:xfrm>
          <a:prstGeom prst="ellipse">
            <a:avLst/>
          </a:prstGeom>
          <a:solidFill>
            <a:srgbClr val="1A7A3C"/>
          </a:solidFill>
          <a:ln/>
        </p:spPr>
      </p:sp>
      <p:sp>
        <p:nvSpPr>
          <p:cNvPr id="22" name="Text 20"/>
          <p:cNvSpPr/>
          <p:nvPr/>
        </p:nvSpPr>
        <p:spPr>
          <a:xfrm>
            <a:off x="713232" y="5413248"/>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a:t>
            </a:r>
            <a:endParaRPr lang="en-US" sz="1900" dirty="0"/>
          </a:p>
        </p:txBody>
      </p:sp>
      <p:sp>
        <p:nvSpPr>
          <p:cNvPr id="23" name="Text 21"/>
          <p:cNvSpPr/>
          <p:nvPr/>
        </p:nvSpPr>
        <p:spPr>
          <a:xfrm>
            <a:off x="1426464" y="5276088"/>
            <a:ext cx="2743200" cy="384048"/>
          </a:xfrm>
          <a:prstGeom prst="rect">
            <a:avLst/>
          </a:prstGeom>
          <a:noFill/>
          <a:ln/>
        </p:spPr>
        <p:txBody>
          <a:bodyPr wrap="square" lIns="0" tIns="0" rIns="0" bIns="0" rtlCol="0" anchor="ctr"/>
          <a:lstStyle/>
          <a:p>
            <a:pPr indent="0" marL="0">
              <a:buNone/>
            </a:pPr>
            <a:r>
              <a:rPr lang="en-US" sz="1900" b="1" dirty="0">
                <a:solidFill>
                  <a:srgbClr val="1A7A3C"/>
                </a:solidFill>
                <a:latin typeface="Arial" pitchFamily="34" charset="0"/>
                <a:ea typeface="Arial" pitchFamily="34" charset="-122"/>
                <a:cs typeface="Arial" pitchFamily="34" charset="-120"/>
              </a:rPr>
              <a:t>Success criterion</a:t>
            </a:r>
            <a:endParaRPr lang="en-US" sz="1900" dirty="0"/>
          </a:p>
        </p:txBody>
      </p:sp>
      <p:sp>
        <p:nvSpPr>
          <p:cNvPr id="24" name="Text 22"/>
          <p:cNvSpPr/>
          <p:nvPr/>
        </p:nvSpPr>
        <p:spPr>
          <a:xfrm>
            <a:off x="1426464" y="5632704"/>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It must beat classical ML (binned intensities + logistic regression) on small datasets. That is the bar.</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we were on 27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state of play at the last group meeting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a:t>
            </a:r>
            <a:endParaRPr lang="en-US" sz="1200" dirty="0"/>
          </a:p>
        </p:txBody>
      </p:sp>
      <p:sp>
        <p:nvSpPr>
          <p:cNvPr id="5" name="Shape 3"/>
          <p:cNvSpPr/>
          <p:nvPr/>
        </p:nvSpPr>
        <p:spPr>
          <a:xfrm>
            <a:off x="502920" y="1463040"/>
            <a:ext cx="5440680" cy="3977640"/>
          </a:xfrm>
          <a:prstGeom prst="roundRect">
            <a:avLst>
              <a:gd name="adj" fmla="val 1839"/>
            </a:avLst>
          </a:prstGeom>
          <a:solidFill>
            <a:srgbClr val="EBF5EE"/>
          </a:solidFill>
          <a:ln/>
        </p:spPr>
      </p:sp>
      <p:sp>
        <p:nvSpPr>
          <p:cNvPr id="6" name="Text 4"/>
          <p:cNvSpPr/>
          <p:nvPr/>
        </p:nvSpPr>
        <p:spPr>
          <a:xfrm>
            <a:off x="777240" y="1627632"/>
            <a:ext cx="4937760" cy="365760"/>
          </a:xfrm>
          <a:prstGeom prst="rect">
            <a:avLst/>
          </a:prstGeom>
          <a:noFill/>
          <a:ln/>
        </p:spPr>
        <p:txBody>
          <a:bodyPr wrap="square" lIns="0" tIns="0" rIns="0" bIns="0" rtlCol="0" anchor="ctr"/>
          <a:lstStyle/>
          <a:p>
            <a:pPr indent="0" marL="0">
              <a:buNone/>
            </a:pPr>
            <a:r>
              <a:rPr lang="en-US" sz="2000" b="1" dirty="0">
                <a:solidFill>
                  <a:srgbClr val="1A7A3C"/>
                </a:solidFill>
                <a:latin typeface="Arial" pitchFamily="34" charset="0"/>
                <a:ea typeface="Arial" pitchFamily="34" charset="-122"/>
                <a:cs typeface="Arial" pitchFamily="34" charset="-120"/>
              </a:rPr>
              <a:t>What was working</a:t>
            </a:r>
            <a:endParaRPr lang="en-US" sz="2000" dirty="0"/>
          </a:p>
        </p:txBody>
      </p:sp>
      <p:sp>
        <p:nvSpPr>
          <p:cNvPr id="7" name="Text 5"/>
          <p:cNvSpPr/>
          <p:nvPr/>
        </p:nvSpPr>
        <p:spPr>
          <a:xfrm>
            <a:off x="777240" y="1975104"/>
            <a:ext cx="4937760" cy="3364992"/>
          </a:xfrm>
          <a:prstGeom prst="rect">
            <a:avLst/>
          </a:prstGeom>
          <a:noFill/>
          <a:ln/>
        </p:spPr>
        <p:txBody>
          <a:bodyPr wrap="square" lIns="0" tIns="0" rIns="0" bIns="0" rtlCol="0" anchor="ctr"/>
          <a:lstStyle/>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Masked Spectra Modelling trained end-to-end</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2,146 CPMG serum spectra from MetaboLights</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Reconstruction was excellent — MSE ≈ 3×10⁻⁵, R² ≈ 0.98 at 25–35% masking</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Full preprocessing pipeline: TopSpin → align → water-suppress → dedupe → normalise</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Three evaluation routes sketched: embeddings+ML, classification head, ML-only</a:t>
            </a:r>
            <a:endParaRPr lang="en-US" sz="1550" dirty="0"/>
          </a:p>
        </p:txBody>
      </p:sp>
      <p:sp>
        <p:nvSpPr>
          <p:cNvPr id="8" name="Shape 6"/>
          <p:cNvSpPr/>
          <p:nvPr/>
        </p:nvSpPr>
        <p:spPr>
          <a:xfrm>
            <a:off x="6217920" y="1463040"/>
            <a:ext cx="5440680" cy="3977640"/>
          </a:xfrm>
          <a:prstGeom prst="roundRect">
            <a:avLst>
              <a:gd name="adj" fmla="val 1839"/>
            </a:avLst>
          </a:prstGeom>
          <a:solidFill>
            <a:srgbClr val="FBEEF1"/>
          </a:solidFill>
          <a:ln/>
        </p:spPr>
      </p:sp>
      <p:sp>
        <p:nvSpPr>
          <p:cNvPr id="9" name="Text 7"/>
          <p:cNvSpPr/>
          <p:nvPr/>
        </p:nvSpPr>
        <p:spPr>
          <a:xfrm>
            <a:off x="6492240" y="1627632"/>
            <a:ext cx="4937760" cy="365760"/>
          </a:xfrm>
          <a:prstGeom prst="rect">
            <a:avLst/>
          </a:prstGeom>
          <a:noFill/>
          <a:ln/>
        </p:spPr>
        <p:txBody>
          <a:bodyPr wrap="square" lIns="0" tIns="0" rIns="0" bIns="0" rtlCol="0" anchor="ctr"/>
          <a:lstStyle/>
          <a:p>
            <a:pPr indent="0" marL="0">
              <a:buNone/>
            </a:pPr>
            <a:r>
              <a:rPr lang="en-US" sz="2000" b="1" dirty="0">
                <a:solidFill>
                  <a:srgbClr val="C1435B"/>
                </a:solidFill>
                <a:latin typeface="Arial" pitchFamily="34" charset="0"/>
                <a:ea typeface="Arial" pitchFamily="34" charset="-122"/>
                <a:cs typeface="Arial" pitchFamily="34" charset="-120"/>
              </a:rPr>
              <a:t>What was missing</a:t>
            </a:r>
            <a:endParaRPr lang="en-US" sz="2000" dirty="0"/>
          </a:p>
        </p:txBody>
      </p:sp>
      <p:sp>
        <p:nvSpPr>
          <p:cNvPr id="10" name="Text 8"/>
          <p:cNvSpPr/>
          <p:nvPr/>
        </p:nvSpPr>
        <p:spPr>
          <a:xfrm>
            <a:off x="6492240" y="1975104"/>
            <a:ext cx="4937760" cy="3364992"/>
          </a:xfrm>
          <a:prstGeom prst="rect">
            <a:avLst/>
          </a:prstGeom>
          <a:noFill/>
          <a:ln/>
        </p:spPr>
        <p:txBody>
          <a:bodyPr wrap="square" lIns="0" tIns="0" rIns="0" bIns="0" rtlCol="0" anchor="ctr"/>
          <a:lstStyle/>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Only ONE test cohort (TBI, ~57 samples) — no way to tell general from idiosyncratic</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head-to-head against classical ML on identical folds</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control asking whether pretraining helped at all vs a random network</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error bars anywhere — every arm was a single training run</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Reconstruction quality was our success metric. It turns out not to be one.</a:t>
            </a:r>
            <a:endParaRPr lang="en-US" sz="1550" dirty="0"/>
          </a:p>
        </p:txBody>
      </p:sp>
      <p:sp>
        <p:nvSpPr>
          <p:cNvPr id="11" name="Text 9"/>
          <p:cNvSpPr/>
          <p:nvPr/>
        </p:nvSpPr>
        <p:spPr>
          <a:xfrm>
            <a:off x="502920" y="5650992"/>
            <a:ext cx="11155680" cy="411480"/>
          </a:xfrm>
          <a:prstGeom prst="rect">
            <a:avLst/>
          </a:prstGeom>
          <a:noFill/>
          <a:ln/>
        </p:spPr>
        <p:txBody>
          <a:bodyPr wrap="square" lIns="0" tIns="0" rIns="0" bIns="0" rtlCol="0" anchor="ctr"/>
          <a:lstStyle/>
          <a:p>
            <a:pPr algn="ctr" indent="0" marL="0">
              <a:buNone/>
            </a:pPr>
            <a:r>
              <a:rPr lang="en-US" sz="1800" b="1" dirty="0">
                <a:solidFill>
                  <a:srgbClr val="21295C"/>
                </a:solidFill>
                <a:latin typeface="Arial" pitchFamily="34" charset="0"/>
                <a:ea typeface="Arial" pitchFamily="34" charset="-122"/>
                <a:cs typeface="Arial" pitchFamily="34" charset="-120"/>
              </a:rPr>
              <a:t>Most of the last five months went into fixing the right-hand column.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What happened since — the arc</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Five months in one picture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4</a:t>
            </a:r>
            <a:endParaRPr lang="en-US" sz="1200" dirty="0"/>
          </a:p>
        </p:txBody>
      </p:sp>
      <p:sp>
        <p:nvSpPr>
          <p:cNvPr id="5" name="Shape 3"/>
          <p:cNvSpPr/>
          <p:nvPr/>
        </p:nvSpPr>
        <p:spPr>
          <a:xfrm>
            <a:off x="502920" y="1783080"/>
            <a:ext cx="1700784" cy="2286000"/>
          </a:xfrm>
          <a:prstGeom prst="roundRect">
            <a:avLst>
              <a:gd name="adj" fmla="val 4301"/>
            </a:avLst>
          </a:prstGeom>
          <a:solidFill>
            <a:srgbClr val="EEF3F7"/>
          </a:solidFill>
          <a:ln/>
        </p:spPr>
      </p:sp>
      <p:sp>
        <p:nvSpPr>
          <p:cNvPr id="6" name="Shape 4"/>
          <p:cNvSpPr/>
          <p:nvPr/>
        </p:nvSpPr>
        <p:spPr>
          <a:xfrm>
            <a:off x="1097280" y="1956816"/>
            <a:ext cx="512064" cy="512064"/>
          </a:xfrm>
          <a:prstGeom prst="ellipse">
            <a:avLst/>
          </a:prstGeom>
          <a:solidFill>
            <a:srgbClr val="065A82"/>
          </a:solidFill>
          <a:ln/>
        </p:spPr>
      </p:sp>
      <p:sp>
        <p:nvSpPr>
          <p:cNvPr id="7" name="Text 5"/>
          <p:cNvSpPr/>
          <p:nvPr/>
        </p:nvSpPr>
        <p:spPr>
          <a:xfrm>
            <a:off x="109728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55778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065A82"/>
                </a:solidFill>
                <a:latin typeface="Arial" pitchFamily="34" charset="0"/>
                <a:ea typeface="Arial" pitchFamily="34" charset="-122"/>
                <a:cs typeface="Arial" pitchFamily="34" charset="-120"/>
              </a:rPr>
              <a:t>Scale up</a:t>
            </a:r>
            <a:endParaRPr lang="en-US" sz="1650" dirty="0"/>
          </a:p>
        </p:txBody>
      </p:sp>
      <p:sp>
        <p:nvSpPr>
          <p:cNvPr id="9" name="Text 7"/>
          <p:cNvSpPr/>
          <p:nvPr/>
        </p:nvSpPr>
        <p:spPr>
          <a:xfrm>
            <a:off x="55778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2,146 → 9,670 spectra</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4 cohorts, 5 targets</a:t>
            </a:r>
            <a:endParaRPr lang="en-US" sz="1400" dirty="0"/>
          </a:p>
        </p:txBody>
      </p:sp>
      <p:sp>
        <p:nvSpPr>
          <p:cNvPr id="10" name="Shape 8"/>
          <p:cNvSpPr/>
          <p:nvPr/>
        </p:nvSpPr>
        <p:spPr>
          <a:xfrm>
            <a:off x="2217420" y="2788920"/>
            <a:ext cx="146304" cy="164592"/>
          </a:xfrm>
          <a:prstGeom prst="rightArrow">
            <a:avLst/>
          </a:prstGeom>
          <a:solidFill>
            <a:srgbClr val="B9C2CC"/>
          </a:solidFill>
          <a:ln/>
        </p:spPr>
      </p:sp>
      <p:sp>
        <p:nvSpPr>
          <p:cNvPr id="11" name="Shape 9"/>
          <p:cNvSpPr/>
          <p:nvPr/>
        </p:nvSpPr>
        <p:spPr>
          <a:xfrm>
            <a:off x="2377440" y="1783080"/>
            <a:ext cx="1700784" cy="2286000"/>
          </a:xfrm>
          <a:prstGeom prst="roundRect">
            <a:avLst>
              <a:gd name="adj" fmla="val 4301"/>
            </a:avLst>
          </a:prstGeom>
          <a:solidFill>
            <a:srgbClr val="EEF3F7"/>
          </a:solidFill>
          <a:ln/>
        </p:spPr>
      </p:sp>
      <p:sp>
        <p:nvSpPr>
          <p:cNvPr id="12" name="Shape 10"/>
          <p:cNvSpPr/>
          <p:nvPr/>
        </p:nvSpPr>
        <p:spPr>
          <a:xfrm>
            <a:off x="2971800" y="1956816"/>
            <a:ext cx="512064" cy="512064"/>
          </a:xfrm>
          <a:prstGeom prst="ellipse">
            <a:avLst/>
          </a:prstGeom>
          <a:solidFill>
            <a:srgbClr val="1C7293"/>
          </a:solidFill>
          <a:ln/>
        </p:spPr>
      </p:sp>
      <p:sp>
        <p:nvSpPr>
          <p:cNvPr id="13" name="Text 11"/>
          <p:cNvSpPr/>
          <p:nvPr/>
        </p:nvSpPr>
        <p:spPr>
          <a:xfrm>
            <a:off x="297180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2"/>
          <p:cNvSpPr/>
          <p:nvPr/>
        </p:nvSpPr>
        <p:spPr>
          <a:xfrm>
            <a:off x="243230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1C7293"/>
                </a:solidFill>
                <a:latin typeface="Arial" pitchFamily="34" charset="0"/>
                <a:ea typeface="Arial" pitchFamily="34" charset="-122"/>
                <a:cs typeface="Arial" pitchFamily="34" charset="-120"/>
              </a:rPr>
              <a:t>Compare</a:t>
            </a:r>
            <a:endParaRPr lang="en-US" sz="1650" dirty="0"/>
          </a:p>
          <a:p>
            <a:pPr algn="ctr" indent="0" marL="0">
              <a:lnSpc>
                <a:spcPts val="1800"/>
              </a:lnSpc>
              <a:buNone/>
            </a:pPr>
            <a:r>
              <a:rPr lang="en-US" sz="1650" b="1" dirty="0">
                <a:solidFill>
                  <a:srgbClr val="1C7293"/>
                </a:solidFill>
                <a:latin typeface="Arial" pitchFamily="34" charset="0"/>
                <a:ea typeface="Arial" pitchFamily="34" charset="-122"/>
                <a:cs typeface="Arial" pitchFamily="34" charset="-120"/>
              </a:rPr>
              <a:t>properly</a:t>
            </a:r>
            <a:endParaRPr lang="en-US" sz="1650" dirty="0"/>
          </a:p>
        </p:txBody>
      </p:sp>
      <p:sp>
        <p:nvSpPr>
          <p:cNvPr id="15" name="Text 13"/>
          <p:cNvSpPr/>
          <p:nvPr/>
        </p:nvSpPr>
        <p:spPr>
          <a:xfrm>
            <a:off x="243230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Same folds, same metric,</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classical vs SSL</a:t>
            </a:r>
            <a:endParaRPr lang="en-US" sz="1400" dirty="0"/>
          </a:p>
        </p:txBody>
      </p:sp>
      <p:sp>
        <p:nvSpPr>
          <p:cNvPr id="16" name="Shape 14"/>
          <p:cNvSpPr/>
          <p:nvPr/>
        </p:nvSpPr>
        <p:spPr>
          <a:xfrm>
            <a:off x="4091940" y="2788920"/>
            <a:ext cx="146304" cy="164592"/>
          </a:xfrm>
          <a:prstGeom prst="rightArrow">
            <a:avLst/>
          </a:prstGeom>
          <a:solidFill>
            <a:srgbClr val="B9C2CC"/>
          </a:solidFill>
          <a:ln/>
        </p:spPr>
      </p:sp>
      <p:sp>
        <p:nvSpPr>
          <p:cNvPr id="17" name="Shape 15"/>
          <p:cNvSpPr/>
          <p:nvPr/>
        </p:nvSpPr>
        <p:spPr>
          <a:xfrm>
            <a:off x="4251960" y="1783080"/>
            <a:ext cx="1700784" cy="2286000"/>
          </a:xfrm>
          <a:prstGeom prst="roundRect">
            <a:avLst>
              <a:gd name="adj" fmla="val 4301"/>
            </a:avLst>
          </a:prstGeom>
          <a:solidFill>
            <a:srgbClr val="EEF3F7"/>
          </a:solidFill>
          <a:ln/>
        </p:spPr>
      </p:sp>
      <p:sp>
        <p:nvSpPr>
          <p:cNvPr id="18" name="Shape 16"/>
          <p:cNvSpPr/>
          <p:nvPr/>
        </p:nvSpPr>
        <p:spPr>
          <a:xfrm>
            <a:off x="4846320" y="1956816"/>
            <a:ext cx="512064" cy="512064"/>
          </a:xfrm>
          <a:prstGeom prst="ellipse">
            <a:avLst/>
          </a:prstGeom>
          <a:solidFill>
            <a:srgbClr val="B8860B"/>
          </a:solidFill>
          <a:ln/>
        </p:spPr>
      </p:sp>
      <p:sp>
        <p:nvSpPr>
          <p:cNvPr id="19" name="Text 17"/>
          <p:cNvSpPr/>
          <p:nvPr/>
        </p:nvSpPr>
        <p:spPr>
          <a:xfrm>
            <a:off x="484632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0" name="Text 18"/>
          <p:cNvSpPr/>
          <p:nvPr/>
        </p:nvSpPr>
        <p:spPr>
          <a:xfrm>
            <a:off x="430682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B8860B"/>
                </a:solidFill>
                <a:latin typeface="Arial" pitchFamily="34" charset="0"/>
                <a:ea typeface="Arial" pitchFamily="34" charset="-122"/>
                <a:cs typeface="Arial" pitchFamily="34" charset="-120"/>
              </a:rPr>
              <a:t>Diagnose</a:t>
            </a:r>
            <a:endParaRPr lang="en-US" sz="1650" dirty="0"/>
          </a:p>
          <a:p>
            <a:pPr algn="ctr" indent="0" marL="0">
              <a:lnSpc>
                <a:spcPts val="1800"/>
              </a:lnSpc>
              <a:buNone/>
            </a:pPr>
            <a:r>
              <a:rPr lang="en-US" sz="1650" b="1" dirty="0">
                <a:solidFill>
                  <a:srgbClr val="B8860B"/>
                </a:solidFill>
                <a:latin typeface="Arial" pitchFamily="34" charset="0"/>
                <a:ea typeface="Arial" pitchFamily="34" charset="-122"/>
                <a:cs typeface="Arial" pitchFamily="34" charset="-120"/>
              </a:rPr>
              <a:t>the gap</a:t>
            </a:r>
            <a:endParaRPr lang="en-US" sz="1650" dirty="0"/>
          </a:p>
        </p:txBody>
      </p:sp>
      <p:sp>
        <p:nvSpPr>
          <p:cNvPr id="21" name="Text 19"/>
          <p:cNvSpPr/>
          <p:nvPr/>
        </p:nvSpPr>
        <p:spPr>
          <a:xfrm>
            <a:off x="430682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Head deficit vs</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representation ceiling</a:t>
            </a:r>
            <a:endParaRPr lang="en-US" sz="1400" dirty="0"/>
          </a:p>
        </p:txBody>
      </p:sp>
      <p:sp>
        <p:nvSpPr>
          <p:cNvPr id="22" name="Shape 20"/>
          <p:cNvSpPr/>
          <p:nvPr/>
        </p:nvSpPr>
        <p:spPr>
          <a:xfrm>
            <a:off x="5966460" y="2788920"/>
            <a:ext cx="146304" cy="164592"/>
          </a:xfrm>
          <a:prstGeom prst="rightArrow">
            <a:avLst/>
          </a:prstGeom>
          <a:solidFill>
            <a:srgbClr val="B9C2CC"/>
          </a:solidFill>
          <a:ln/>
        </p:spPr>
      </p:sp>
      <p:sp>
        <p:nvSpPr>
          <p:cNvPr id="23" name="Shape 21"/>
          <p:cNvSpPr/>
          <p:nvPr/>
        </p:nvSpPr>
        <p:spPr>
          <a:xfrm>
            <a:off x="6126480" y="1783080"/>
            <a:ext cx="1700784" cy="2286000"/>
          </a:xfrm>
          <a:prstGeom prst="roundRect">
            <a:avLst>
              <a:gd name="adj" fmla="val 4301"/>
            </a:avLst>
          </a:prstGeom>
          <a:solidFill>
            <a:srgbClr val="EEF3F7"/>
          </a:solidFill>
          <a:ln/>
        </p:spPr>
      </p:sp>
      <p:sp>
        <p:nvSpPr>
          <p:cNvPr id="24" name="Shape 22"/>
          <p:cNvSpPr/>
          <p:nvPr/>
        </p:nvSpPr>
        <p:spPr>
          <a:xfrm>
            <a:off x="6720840" y="1956816"/>
            <a:ext cx="512064" cy="512064"/>
          </a:xfrm>
          <a:prstGeom prst="ellipse">
            <a:avLst/>
          </a:prstGeom>
          <a:solidFill>
            <a:srgbClr val="C1435B"/>
          </a:solidFill>
          <a:ln/>
        </p:spPr>
      </p:sp>
      <p:sp>
        <p:nvSpPr>
          <p:cNvPr id="25" name="Text 23"/>
          <p:cNvSpPr/>
          <p:nvPr/>
        </p:nvSpPr>
        <p:spPr>
          <a:xfrm>
            <a:off x="672084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6" name="Text 24"/>
          <p:cNvSpPr/>
          <p:nvPr/>
        </p:nvSpPr>
        <p:spPr>
          <a:xfrm>
            <a:off x="618134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C1435B"/>
                </a:solidFill>
                <a:latin typeface="Arial" pitchFamily="34" charset="0"/>
                <a:ea typeface="Arial" pitchFamily="34" charset="-122"/>
                <a:cs typeface="Arial" pitchFamily="34" charset="-120"/>
              </a:rPr>
              <a:t>Try to fix</a:t>
            </a:r>
            <a:endParaRPr lang="en-US" sz="1650" dirty="0"/>
          </a:p>
          <a:p>
            <a:pPr algn="ctr" indent="0" marL="0">
              <a:lnSpc>
                <a:spcPts val="1800"/>
              </a:lnSpc>
              <a:buNone/>
            </a:pPr>
            <a:r>
              <a:rPr lang="en-US" sz="1650" b="1" dirty="0">
                <a:solidFill>
                  <a:srgbClr val="C1435B"/>
                </a:solidFill>
                <a:latin typeface="Arial" pitchFamily="34" charset="0"/>
                <a:ea typeface="Arial" pitchFamily="34" charset="-122"/>
                <a:cs typeface="Arial" pitchFamily="34" charset="-120"/>
              </a:rPr>
              <a:t>the backbone</a:t>
            </a:r>
            <a:endParaRPr lang="en-US" sz="1650" dirty="0"/>
          </a:p>
        </p:txBody>
      </p:sp>
      <p:sp>
        <p:nvSpPr>
          <p:cNvPr id="27" name="Text 25"/>
          <p:cNvSpPr/>
          <p:nvPr/>
        </p:nvSpPr>
        <p:spPr>
          <a:xfrm>
            <a:off x="618134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Patch size, capacity,</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objectives, corpus</a:t>
            </a:r>
            <a:endParaRPr lang="en-US" sz="1400" dirty="0"/>
          </a:p>
        </p:txBody>
      </p:sp>
      <p:sp>
        <p:nvSpPr>
          <p:cNvPr id="28" name="Shape 26"/>
          <p:cNvSpPr/>
          <p:nvPr/>
        </p:nvSpPr>
        <p:spPr>
          <a:xfrm>
            <a:off x="7840980" y="2788920"/>
            <a:ext cx="146304" cy="164592"/>
          </a:xfrm>
          <a:prstGeom prst="rightArrow">
            <a:avLst/>
          </a:prstGeom>
          <a:solidFill>
            <a:srgbClr val="B9C2CC"/>
          </a:solidFill>
          <a:ln/>
        </p:spPr>
      </p:sp>
      <p:sp>
        <p:nvSpPr>
          <p:cNvPr id="29" name="Shape 27"/>
          <p:cNvSpPr/>
          <p:nvPr/>
        </p:nvSpPr>
        <p:spPr>
          <a:xfrm>
            <a:off x="8001000" y="1783080"/>
            <a:ext cx="1700784" cy="2286000"/>
          </a:xfrm>
          <a:prstGeom prst="roundRect">
            <a:avLst>
              <a:gd name="adj" fmla="val 4301"/>
            </a:avLst>
          </a:prstGeom>
          <a:solidFill>
            <a:srgbClr val="EEF3F7"/>
          </a:solidFill>
          <a:ln/>
        </p:spPr>
      </p:sp>
      <p:sp>
        <p:nvSpPr>
          <p:cNvPr id="30" name="Shape 28"/>
          <p:cNvSpPr/>
          <p:nvPr/>
        </p:nvSpPr>
        <p:spPr>
          <a:xfrm>
            <a:off x="8595360" y="1956816"/>
            <a:ext cx="512064" cy="512064"/>
          </a:xfrm>
          <a:prstGeom prst="ellipse">
            <a:avLst/>
          </a:prstGeom>
          <a:solidFill>
            <a:srgbClr val="21295C"/>
          </a:solidFill>
          <a:ln/>
        </p:spPr>
      </p:sp>
      <p:sp>
        <p:nvSpPr>
          <p:cNvPr id="31" name="Text 29"/>
          <p:cNvSpPr/>
          <p:nvPr/>
        </p:nvSpPr>
        <p:spPr>
          <a:xfrm>
            <a:off x="859536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2" name="Text 30"/>
          <p:cNvSpPr/>
          <p:nvPr/>
        </p:nvSpPr>
        <p:spPr>
          <a:xfrm>
            <a:off x="805586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21295C"/>
                </a:solidFill>
                <a:latin typeface="Arial" pitchFamily="34" charset="0"/>
                <a:ea typeface="Arial" pitchFamily="34" charset="-122"/>
                <a:cs typeface="Arial" pitchFamily="34" charset="-120"/>
              </a:rPr>
              <a:t>Learn to</a:t>
            </a:r>
            <a:endParaRPr lang="en-US" sz="1650" dirty="0"/>
          </a:p>
          <a:p>
            <a:pPr algn="ctr" indent="0" marL="0">
              <a:lnSpc>
                <a:spcPts val="1800"/>
              </a:lnSpc>
              <a:buNone/>
            </a:pPr>
            <a:r>
              <a:rPr lang="en-US" sz="1650" b="1" dirty="0">
                <a:solidFill>
                  <a:srgbClr val="21295C"/>
                </a:solidFill>
                <a:latin typeface="Arial" pitchFamily="34" charset="0"/>
                <a:ea typeface="Arial" pitchFamily="34" charset="-122"/>
                <a:cs typeface="Arial" pitchFamily="34" charset="-120"/>
              </a:rPr>
              <a:t>measure noise</a:t>
            </a:r>
            <a:endParaRPr lang="en-US" sz="1650" dirty="0"/>
          </a:p>
        </p:txBody>
      </p:sp>
      <p:sp>
        <p:nvSpPr>
          <p:cNvPr id="33" name="Text 31"/>
          <p:cNvSpPr/>
          <p:nvPr/>
        </p:nvSpPr>
        <p:spPr>
          <a:xfrm>
            <a:off x="805586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10 seed replicates.</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3 claims retracted</a:t>
            </a:r>
            <a:endParaRPr lang="en-US" sz="1400" dirty="0"/>
          </a:p>
        </p:txBody>
      </p:sp>
      <p:sp>
        <p:nvSpPr>
          <p:cNvPr id="34" name="Shape 32"/>
          <p:cNvSpPr/>
          <p:nvPr/>
        </p:nvSpPr>
        <p:spPr>
          <a:xfrm>
            <a:off x="9715500" y="2788920"/>
            <a:ext cx="146304" cy="164592"/>
          </a:xfrm>
          <a:prstGeom prst="rightArrow">
            <a:avLst/>
          </a:prstGeom>
          <a:solidFill>
            <a:srgbClr val="B9C2CC"/>
          </a:solidFill>
          <a:ln/>
        </p:spPr>
      </p:sp>
      <p:sp>
        <p:nvSpPr>
          <p:cNvPr id="35" name="Shape 33"/>
          <p:cNvSpPr/>
          <p:nvPr/>
        </p:nvSpPr>
        <p:spPr>
          <a:xfrm>
            <a:off x="9875520" y="1783080"/>
            <a:ext cx="1700784" cy="2286000"/>
          </a:xfrm>
          <a:prstGeom prst="roundRect">
            <a:avLst>
              <a:gd name="adj" fmla="val 4301"/>
            </a:avLst>
          </a:prstGeom>
          <a:solidFill>
            <a:srgbClr val="EEF3F7"/>
          </a:solidFill>
          <a:ln/>
        </p:spPr>
      </p:sp>
      <p:sp>
        <p:nvSpPr>
          <p:cNvPr id="36" name="Shape 34"/>
          <p:cNvSpPr/>
          <p:nvPr/>
        </p:nvSpPr>
        <p:spPr>
          <a:xfrm>
            <a:off x="10469880" y="1956816"/>
            <a:ext cx="512064" cy="512064"/>
          </a:xfrm>
          <a:prstGeom prst="ellipse">
            <a:avLst/>
          </a:prstGeom>
          <a:solidFill>
            <a:srgbClr val="1A7A3C"/>
          </a:solidFill>
          <a:ln/>
        </p:spPr>
      </p:sp>
      <p:sp>
        <p:nvSpPr>
          <p:cNvPr id="37" name="Text 35"/>
          <p:cNvSpPr/>
          <p:nvPr/>
        </p:nvSpPr>
        <p:spPr>
          <a:xfrm>
            <a:off x="1046988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38" name="Text 36"/>
          <p:cNvSpPr/>
          <p:nvPr/>
        </p:nvSpPr>
        <p:spPr>
          <a:xfrm>
            <a:off x="993038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1A7A3C"/>
                </a:solidFill>
                <a:latin typeface="Arial" pitchFamily="34" charset="0"/>
                <a:ea typeface="Arial" pitchFamily="34" charset="-122"/>
                <a:cs typeface="Arial" pitchFamily="34" charset="-120"/>
              </a:rPr>
              <a:t>Test the</a:t>
            </a:r>
            <a:endParaRPr lang="en-US" sz="1650" dirty="0"/>
          </a:p>
          <a:p>
            <a:pPr algn="ctr" indent="0" marL="0">
              <a:lnSpc>
                <a:spcPts val="1800"/>
              </a:lnSpc>
              <a:buNone/>
            </a:pPr>
            <a:r>
              <a:rPr lang="en-US" sz="1650" b="1" dirty="0">
                <a:solidFill>
                  <a:srgbClr val="1A7A3C"/>
                </a:solidFill>
                <a:latin typeface="Arial" pitchFamily="34" charset="0"/>
                <a:ea typeface="Arial" pitchFamily="34" charset="-122"/>
                <a:cs typeface="Arial" pitchFamily="34" charset="-120"/>
              </a:rPr>
              <a:t>premise</a:t>
            </a:r>
            <a:endParaRPr lang="en-US" sz="1650" dirty="0"/>
          </a:p>
        </p:txBody>
      </p:sp>
      <p:sp>
        <p:nvSpPr>
          <p:cNvPr id="39" name="Text 37"/>
          <p:cNvSpPr/>
          <p:nvPr/>
        </p:nvSpPr>
        <p:spPr>
          <a:xfrm>
            <a:off x="993038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Few-shot benchmark</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on all 5 targets</a:t>
            </a:r>
            <a:endParaRPr lang="en-US" sz="1400" dirty="0"/>
          </a:p>
        </p:txBody>
      </p:sp>
      <p:sp>
        <p:nvSpPr>
          <p:cNvPr id="40" name="Shape 38"/>
          <p:cNvSpPr/>
          <p:nvPr/>
        </p:nvSpPr>
        <p:spPr>
          <a:xfrm>
            <a:off x="502920" y="4370832"/>
            <a:ext cx="11155680" cy="1371600"/>
          </a:xfrm>
          <a:prstGeom prst="roundRect">
            <a:avLst>
              <a:gd name="adj" fmla="val 5333"/>
            </a:avLst>
          </a:prstGeom>
          <a:solidFill>
            <a:srgbClr val="EBF5EE"/>
          </a:solidFill>
          <a:ln/>
        </p:spPr>
      </p:sp>
      <p:sp>
        <p:nvSpPr>
          <p:cNvPr id="41" name="Text 39"/>
          <p:cNvSpPr/>
          <p:nvPr/>
        </p:nvSpPr>
        <p:spPr>
          <a:xfrm>
            <a:off x="777240" y="4517136"/>
            <a:ext cx="10607040" cy="329184"/>
          </a:xfrm>
          <a:prstGeom prst="rect">
            <a:avLst/>
          </a:prstGeom>
          <a:noFill/>
          <a:ln/>
        </p:spPr>
        <p:txBody>
          <a:bodyPr wrap="square" lIns="0" tIns="0" rIns="0" bIns="0" rtlCol="0" anchor="ctr"/>
          <a:lstStyle/>
          <a:p>
            <a:pPr indent="0" marL="0">
              <a:buNone/>
            </a:pPr>
            <a:r>
              <a:rPr lang="en-US" sz="1800" b="1" dirty="0">
                <a:solidFill>
                  <a:srgbClr val="1A7A3C"/>
                </a:solidFill>
                <a:latin typeface="Arial" pitchFamily="34" charset="0"/>
                <a:ea typeface="Arial" pitchFamily="34" charset="-122"/>
                <a:cs typeface="Arial" pitchFamily="34" charset="-120"/>
              </a:rPr>
              <a:t>The honest summary of the arc</a:t>
            </a:r>
            <a:endParaRPr lang="en-US" sz="1800" dirty="0"/>
          </a:p>
        </p:txBody>
      </p:sp>
      <p:sp>
        <p:nvSpPr>
          <p:cNvPr id="42" name="Text 40"/>
          <p:cNvSpPr/>
          <p:nvPr/>
        </p:nvSpPr>
        <p:spPr>
          <a:xfrm>
            <a:off x="777240" y="4882896"/>
            <a:ext cx="10607040" cy="786384"/>
          </a:xfrm>
          <a:prstGeom prst="rect">
            <a:avLst/>
          </a:prstGeom>
          <a:noFill/>
          <a:ln/>
        </p:spPr>
        <p:txBody>
          <a:bodyPr wrap="square" lIns="0" tIns="0" rIns="0" bIns="0" rtlCol="0" anchor="ctr"/>
          <a:lstStyle/>
          <a:p>
            <a:pPr indent="0" marL="0">
              <a:lnSpc>
                <a:spcPts val="2100"/>
              </a:lnSpc>
              <a:buNone/>
            </a:pPr>
            <a:r>
              <a:rPr lang="en-US" sz="1700" dirty="0">
                <a:solidFill>
                  <a:srgbClr val="1A1A1A"/>
                </a:solidFill>
                <a:latin typeface="Arial" pitchFamily="34" charset="0"/>
                <a:ea typeface="Arial" pitchFamily="34" charset="-122"/>
                <a:cs typeface="Arial" pitchFamily="34" charset="-120"/>
              </a:rPr>
              <a:t>Steps 1–3 worked and produced two real improvements. Step 4 failed on every axis we tried. Step 5 revealed that most of step 4's "results" were noise. Step 6 tested the project's core premise directly — and it did not hold.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Step 1 — more data, and real evaluation cohorts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February had one test set. Now there are five targets across four independent cohorts.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5</a:t>
            </a:r>
            <a:endParaRPr lang="en-US" sz="1200" dirty="0"/>
          </a:p>
        </p:txBody>
      </p:sp>
      <p:sp>
        <p:nvSpPr>
          <p:cNvPr id="5" name="Shape 3"/>
          <p:cNvSpPr/>
          <p:nvPr/>
        </p:nvSpPr>
        <p:spPr>
          <a:xfrm>
            <a:off x="502920" y="1572768"/>
            <a:ext cx="3383280" cy="2395728"/>
          </a:xfrm>
          <a:prstGeom prst="roundRect">
            <a:avLst>
              <a:gd name="adj" fmla="val 3053"/>
            </a:avLst>
          </a:prstGeom>
          <a:solidFill>
            <a:srgbClr val="EEF3F7"/>
          </a:solidFill>
          <a:ln/>
        </p:spPr>
      </p:sp>
      <p:sp>
        <p:nvSpPr>
          <p:cNvPr id="6" name="Text 4"/>
          <p:cNvSpPr/>
          <p:nvPr/>
        </p:nvSpPr>
        <p:spPr>
          <a:xfrm>
            <a:off x="731520" y="1737360"/>
            <a:ext cx="2926080" cy="310896"/>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Pretraining corpus</a:t>
            </a:r>
            <a:endParaRPr lang="en-US" sz="1750" dirty="0"/>
          </a:p>
        </p:txBody>
      </p:sp>
      <p:sp>
        <p:nvSpPr>
          <p:cNvPr id="7" name="Text 5"/>
          <p:cNvSpPr/>
          <p:nvPr/>
        </p:nvSpPr>
        <p:spPr>
          <a:xfrm>
            <a:off x="731520" y="2066544"/>
            <a:ext cx="2926080" cy="603504"/>
          </a:xfrm>
          <a:prstGeom prst="rect">
            <a:avLst/>
          </a:prstGeom>
          <a:noFill/>
          <a:ln/>
        </p:spPr>
        <p:txBody>
          <a:bodyPr wrap="square" lIns="0" tIns="0" rIns="0" bIns="0" rtlCol="0" anchor="ctr"/>
          <a:lstStyle/>
          <a:p>
            <a:pPr indent="0" marL="0">
              <a:buNone/>
            </a:pPr>
            <a:r>
              <a:rPr lang="en-US" sz="2600" b="1" dirty="0">
                <a:solidFill>
                  <a:srgbClr val="5A6068"/>
                </a:solidFill>
                <a:latin typeface="Arial" pitchFamily="34" charset="0"/>
                <a:ea typeface="Arial" pitchFamily="34" charset="-122"/>
                <a:cs typeface="Arial" pitchFamily="34" charset="-120"/>
              </a:rPr>
              <a:t>2,146</a:t>
            </a:r>
            <a:pPr indent="0" marL="0">
              <a:buNone/>
            </a:pPr>
            <a:r>
              <a:rPr lang="en-US" sz="2000" dirty="0">
                <a:solidFill>
                  <a:srgbClr val="5A6068"/>
                </a:solidFill>
                <a:latin typeface="Arial" pitchFamily="34" charset="0"/>
                <a:ea typeface="Arial" pitchFamily="34" charset="-122"/>
                <a:cs typeface="Arial" pitchFamily="34" charset="-120"/>
              </a:rPr>
              <a:t>   →   </a:t>
            </a:r>
            <a:pPr indent="0" marL="0">
              <a:buNone/>
            </a:pPr>
            <a:r>
              <a:rPr lang="en-US" sz="3800" b="1" dirty="0">
                <a:solidFill>
                  <a:srgbClr val="065A82"/>
                </a:solidFill>
                <a:latin typeface="Arial" pitchFamily="34" charset="0"/>
                <a:ea typeface="Arial" pitchFamily="34" charset="-122"/>
                <a:cs typeface="Arial" pitchFamily="34" charset="-120"/>
              </a:rPr>
              <a:t>9,670</a:t>
            </a:r>
            <a:endParaRPr lang="en-US" sz="2600" dirty="0"/>
          </a:p>
        </p:txBody>
      </p:sp>
      <p:sp>
        <p:nvSpPr>
          <p:cNvPr id="8" name="Text 6"/>
          <p:cNvSpPr/>
          <p:nvPr/>
        </p:nvSpPr>
        <p:spPr>
          <a:xfrm>
            <a:off x="731520" y="2761488"/>
            <a:ext cx="2926080" cy="1097280"/>
          </a:xfrm>
          <a:prstGeom prst="rect">
            <a:avLst/>
          </a:prstGeom>
          <a:noFill/>
          <a:ln/>
        </p:spPr>
        <p:txBody>
          <a:bodyPr wrap="square" lIns="0" tIns="0" rIns="0" bIns="0" rtlCol="0" anchor="ctr"/>
          <a:lstStyle/>
          <a:p>
            <a:pPr indent="0" marL="0">
              <a:lnSpc>
                <a:spcPts val="1700"/>
              </a:lnSpc>
              <a:buNone/>
            </a:pPr>
            <a:r>
              <a:rPr lang="en-US" sz="1400" dirty="0">
                <a:solidFill>
                  <a:srgbClr val="1A1A1A"/>
                </a:solidFill>
                <a:latin typeface="Arial" pitchFamily="34" charset="0"/>
                <a:ea typeface="Arial" pitchFamily="34" charset="-122"/>
                <a:cs typeface="Arial" pitchFamily="34" charset="-120"/>
              </a:rPr>
              <a:t>unlabelled CPMG serum / plasma spectra</a:t>
            </a:r>
            <a:endParaRPr lang="en-US" sz="1400" dirty="0"/>
          </a:p>
          <a:p>
            <a:pPr indent="0" marL="0">
              <a:lnSpc>
                <a:spcPts val="1700"/>
              </a:lnSpc>
              <a:buNone/>
            </a:pPr>
            <a:r>
              <a:rPr lang="en-US" sz="1400" dirty="0">
                <a:solidFill>
                  <a:srgbClr val="1A1A1A"/>
                </a:solidFill>
                <a:latin typeface="Arial" pitchFamily="34" charset="0"/>
                <a:ea typeface="Arial" pitchFamily="34" charset="-122"/>
                <a:cs typeface="Arial" pitchFamily="34" charset="-120"/>
              </a:rPr>
              <a:t>MetaboLights + Metabolomics Workbench</a:t>
            </a:r>
            <a:endParaRPr lang="en-US" sz="1400" dirty="0"/>
          </a:p>
          <a:p>
            <a:pPr indent="0" marL="0">
              <a:lnSpc>
                <a:spcPts val="1700"/>
              </a:lnSpc>
              <a:buNone/>
            </a:pPr>
            <a:r>
              <a:rPr lang="en-US" sz="1400" dirty="0">
                <a:solidFill>
                  <a:srgbClr val="1A1A1A"/>
                </a:solidFill>
                <a:latin typeface="Arial" pitchFamily="34" charset="0"/>
                <a:ea typeface="Arial" pitchFamily="34" charset="-122"/>
                <a:cs typeface="Arial" pitchFamily="34" charset="-120"/>
              </a:rPr>
              <a:t>131,072 points each, deduplicated</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0" y="1572768"/>
          <a:ext cx="7543800" cy="914400"/>
        </p:xfrm>
        <a:graphic>
          <a:graphicData uri="http://schemas.openxmlformats.org/drawingml/2006/table">
            <a:tbl>
              <a:tblPr/>
              <a:tblGrid>
                <a:gridCol w="3017520"/>
                <a:gridCol w="1143000"/>
                <a:gridCol w="2148840"/>
                <a:gridCol w="1234440"/>
              </a:tblGrid>
              <a:tr h="347472">
                <a:tc>
                  <a:txBody>
                    <a:bodyPr/>
                    <a:lstStyle/>
                    <a:p>
                      <a:pPr indent="0" marL="0">
                        <a:buNone/>
                      </a:pPr>
                      <a:r>
                        <a:rPr lang="en-US" sz="1600" b="1" dirty="0">
                          <a:solidFill>
                            <a:srgbClr val="FFFFFF"/>
                          </a:solidFill>
                          <a:latin typeface="Arial" pitchFamily="34" charset="0"/>
                          <a:ea typeface="Arial" pitchFamily="34" charset="-122"/>
                          <a:cs typeface="Arial" pitchFamily="34" charset="-120"/>
                        </a:rPr>
                        <a:t>Evaluation target</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Size</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Label</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Protocol</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Barth Syndrome</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37</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Case / Control</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LOOCV</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MTBLS326</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42</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Yes / No (IP3R)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LOOCV</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MTBLS563</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113</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3-class diagnosis</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BrC-T2D — cancer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78</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Cancer / No cancer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BrC-T2D — diabetes</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78</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Diabetes / No</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10" name="Shape 7"/>
          <p:cNvSpPr/>
          <p:nvPr/>
        </p:nvSpPr>
        <p:spPr>
          <a:xfrm>
            <a:off x="502920" y="4133088"/>
            <a:ext cx="11155680" cy="1664208"/>
          </a:xfrm>
          <a:prstGeom prst="roundRect">
            <a:avLst>
              <a:gd name="adj" fmla="val 4396"/>
            </a:avLst>
          </a:prstGeom>
          <a:solidFill>
            <a:srgbClr val="FBEEF1"/>
          </a:solidFill>
          <a:ln/>
        </p:spPr>
      </p:sp>
      <p:sp>
        <p:nvSpPr>
          <p:cNvPr id="11" name="Text 8"/>
          <p:cNvSpPr/>
          <p:nvPr/>
        </p:nvSpPr>
        <p:spPr>
          <a:xfrm>
            <a:off x="777240" y="4242816"/>
            <a:ext cx="10607040" cy="310896"/>
          </a:xfrm>
          <a:prstGeom prst="rect">
            <a:avLst/>
          </a:prstGeom>
          <a:noFill/>
          <a:ln/>
        </p:spPr>
        <p:txBody>
          <a:bodyPr wrap="square" lIns="0" tIns="0" rIns="0" bIns="0" rtlCol="0" anchor="ctr"/>
          <a:lstStyle/>
          <a:p>
            <a:pPr indent="0" marL="0">
              <a:buNone/>
            </a:pPr>
            <a:r>
              <a:rPr lang="en-US" sz="1800" b="1" dirty="0">
                <a:solidFill>
                  <a:srgbClr val="C1435B"/>
                </a:solidFill>
                <a:latin typeface="Arial" pitchFamily="34" charset="0"/>
                <a:ea typeface="Arial" pitchFamily="34" charset="-122"/>
                <a:cs typeface="Arial" pitchFamily="34" charset="-120"/>
              </a:rPr>
              <a:t>Two things to flag about the evaluation set</a:t>
            </a:r>
            <a:endParaRPr lang="en-US" sz="1800" dirty="0"/>
          </a:p>
        </p:txBody>
      </p:sp>
      <p:sp>
        <p:nvSpPr>
          <p:cNvPr id="12" name="Text 9"/>
          <p:cNvSpPr/>
          <p:nvPr/>
        </p:nvSpPr>
        <p:spPr>
          <a:xfrm>
            <a:off x="777240" y="4572000"/>
            <a:ext cx="10607040" cy="1152144"/>
          </a:xfrm>
          <a:prstGeom prst="rect">
            <a:avLst/>
          </a:prstGeom>
          <a:noFill/>
          <a:ln/>
        </p:spPr>
        <p:txBody>
          <a:bodyPr wrap="square" lIns="0" tIns="0" rIns="0" bIns="0" rtlCol="0" anchor="ctr"/>
          <a:lstStyle/>
          <a:p>
            <a:pPr marL="342900" indent="-342900">
              <a:lnSpc>
                <a:spcPts val="1850"/>
              </a:lnSpc>
              <a:spcAft>
                <a:spcPts val="700"/>
              </a:spcAft>
              <a:buSzPct val="100000"/>
              <a:buChar char="•"/>
            </a:pPr>
            <a:r>
              <a:rPr lang="en-US" sz="1550" dirty="0">
                <a:solidFill>
                  <a:srgbClr val="1A1A1A"/>
                </a:solidFill>
                <a:latin typeface="Arial" pitchFamily="34" charset="0"/>
                <a:ea typeface="Arial" pitchFamily="34" charset="-122"/>
                <a:cs typeface="Arial" pitchFamily="34" charset="-120"/>
              </a:rPr>
              <a:t>Barth and MTBLS326 use LOOCV, so they have NO fold variance — no error bars. Differences of 0.02 there are one sample.</a:t>
            </a:r>
            <a:endParaRPr lang="en-US" sz="1550" dirty="0"/>
          </a:p>
          <a:p>
            <a:pPr marL="342900" indent="-342900">
              <a:lnSpc>
                <a:spcPts val="1850"/>
              </a:lnSpc>
              <a:spcAft>
                <a:spcPts val="700"/>
              </a:spcAft>
              <a:buSzPct val="100000"/>
              <a:buChar char="•"/>
            </a:pPr>
            <a:r>
              <a:rPr lang="en-US" sz="1550" dirty="0">
                <a:solidFill>
                  <a:srgbClr val="1A1A1A"/>
                </a:solidFill>
                <a:latin typeface="Arial" pitchFamily="34" charset="0"/>
                <a:ea typeface="Arial" pitchFamily="34" charset="-122"/>
                <a:cs typeface="Arial" pitchFamily="34" charset="-120"/>
              </a:rPr>
              <a:t>MTBLS326's classical score is a perfect 1.000 on n=42. It clears a permutation null, but we have not yet checked run-order / batch confounding. Until we do, it should not count as evidence.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 detour worth mentioning — four preprocessing versions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We found a real bug. Then we found out it did not matter.</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6</a:t>
            </a:r>
            <a:endParaRPr lang="en-US" sz="1200" dirty="0"/>
          </a:p>
        </p:txBody>
      </p:sp>
      <p:sp>
        <p:nvSpPr>
          <p:cNvPr id="5" name="Shape 3"/>
          <p:cNvSpPr/>
          <p:nvPr/>
        </p:nvSpPr>
        <p:spPr>
          <a:xfrm>
            <a:off x="502920" y="1600200"/>
            <a:ext cx="2615184" cy="1481328"/>
          </a:xfrm>
          <a:prstGeom prst="roundRect">
            <a:avLst>
              <a:gd name="adj" fmla="val 4938"/>
            </a:avLst>
          </a:prstGeom>
          <a:solidFill>
            <a:srgbClr val="EEF3F7"/>
          </a:solidFill>
          <a:ln/>
        </p:spPr>
      </p:sp>
      <p:sp>
        <p:nvSpPr>
          <p:cNvPr id="6" name="Text 4"/>
          <p:cNvSpPr/>
          <p:nvPr/>
        </p:nvSpPr>
        <p:spPr>
          <a:xfrm>
            <a:off x="630936" y="1737360"/>
            <a:ext cx="914400" cy="402336"/>
          </a:xfrm>
          <a:prstGeom prst="rect">
            <a:avLst/>
          </a:prstGeom>
          <a:noFill/>
          <a:ln/>
        </p:spPr>
        <p:txBody>
          <a:bodyPr wrap="square" lIns="0" tIns="0" rIns="0" bIns="0" rtlCol="0" anchor="ctr"/>
          <a:lstStyle/>
          <a:p>
            <a:pPr indent="0" marL="0">
              <a:buNone/>
            </a:pPr>
            <a:r>
              <a:rPr lang="en-US" sz="2400" b="1" dirty="0">
                <a:solidFill>
                  <a:srgbClr val="5A6068"/>
                </a:solidFill>
                <a:latin typeface="Arial" pitchFamily="34" charset="0"/>
                <a:ea typeface="Arial" pitchFamily="34" charset="-122"/>
                <a:cs typeface="Arial" pitchFamily="34" charset="-120"/>
              </a:rPr>
              <a:t>v1</a:t>
            </a:r>
            <a:endParaRPr lang="en-US" sz="2400" dirty="0"/>
          </a:p>
        </p:txBody>
      </p:sp>
      <p:sp>
        <p:nvSpPr>
          <p:cNvPr id="7" name="Text 5"/>
          <p:cNvSpPr/>
          <p:nvPr/>
        </p:nvSpPr>
        <p:spPr>
          <a:xfrm>
            <a:off x="63093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Water suppression only</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points 62,500–68,000 → 0</a:t>
            </a:r>
            <a:endParaRPr lang="en-US" sz="1450" dirty="0"/>
          </a:p>
        </p:txBody>
      </p:sp>
      <p:sp>
        <p:nvSpPr>
          <p:cNvPr id="8" name="Shape 6"/>
          <p:cNvSpPr/>
          <p:nvPr/>
        </p:nvSpPr>
        <p:spPr>
          <a:xfrm>
            <a:off x="3145536" y="2267712"/>
            <a:ext cx="137160" cy="155448"/>
          </a:xfrm>
          <a:prstGeom prst="rightArrow">
            <a:avLst/>
          </a:prstGeom>
          <a:solidFill>
            <a:srgbClr val="B9C2CC"/>
          </a:solidFill>
          <a:ln/>
        </p:spPr>
      </p:sp>
      <p:sp>
        <p:nvSpPr>
          <p:cNvPr id="9" name="Shape 7"/>
          <p:cNvSpPr/>
          <p:nvPr/>
        </p:nvSpPr>
        <p:spPr>
          <a:xfrm>
            <a:off x="3337560" y="1600200"/>
            <a:ext cx="2615184" cy="1481328"/>
          </a:xfrm>
          <a:prstGeom prst="roundRect">
            <a:avLst>
              <a:gd name="adj" fmla="val 4938"/>
            </a:avLst>
          </a:prstGeom>
          <a:solidFill>
            <a:srgbClr val="EEF3F7"/>
          </a:solidFill>
          <a:ln/>
        </p:spPr>
      </p:sp>
      <p:sp>
        <p:nvSpPr>
          <p:cNvPr id="10" name="Text 8"/>
          <p:cNvSpPr/>
          <p:nvPr/>
        </p:nvSpPr>
        <p:spPr>
          <a:xfrm>
            <a:off x="3465576" y="1737360"/>
            <a:ext cx="914400" cy="402336"/>
          </a:xfrm>
          <a:prstGeom prst="rect">
            <a:avLst/>
          </a:prstGeom>
          <a:noFill/>
          <a:ln/>
        </p:spPr>
        <p:txBody>
          <a:bodyPr wrap="square" lIns="0" tIns="0" rIns="0" bIns="0" rtlCol="0" anchor="ctr"/>
          <a:lstStyle/>
          <a:p>
            <a:pPr indent="0" marL="0">
              <a:buNone/>
            </a:pPr>
            <a:r>
              <a:rPr lang="en-US" sz="2400" b="1" dirty="0">
                <a:solidFill>
                  <a:srgbClr val="1C7293"/>
                </a:solidFill>
                <a:latin typeface="Arial" pitchFamily="34" charset="0"/>
                <a:ea typeface="Arial" pitchFamily="34" charset="-122"/>
                <a:cs typeface="Arial" pitchFamily="34" charset="-120"/>
              </a:rPr>
              <a:t>v2</a:t>
            </a:r>
            <a:endParaRPr lang="en-US" sz="2400" dirty="0"/>
          </a:p>
        </p:txBody>
      </p:sp>
      <p:sp>
        <p:nvSpPr>
          <p:cNvPr id="11" name="Text 9"/>
          <p:cNvSpPr/>
          <p:nvPr/>
        </p:nvSpPr>
        <p:spPr>
          <a:xfrm>
            <a:off x="346557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window skipped</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(left largely untouched)</a:t>
            </a:r>
            <a:endParaRPr lang="en-US" sz="1450" dirty="0"/>
          </a:p>
        </p:txBody>
      </p:sp>
      <p:sp>
        <p:nvSpPr>
          <p:cNvPr id="12" name="Shape 10"/>
          <p:cNvSpPr/>
          <p:nvPr/>
        </p:nvSpPr>
        <p:spPr>
          <a:xfrm>
            <a:off x="5980176" y="2267712"/>
            <a:ext cx="137160" cy="155448"/>
          </a:xfrm>
          <a:prstGeom prst="rightArrow">
            <a:avLst/>
          </a:prstGeom>
          <a:solidFill>
            <a:srgbClr val="B9C2CC"/>
          </a:solidFill>
          <a:ln/>
        </p:spPr>
      </p:sp>
      <p:sp>
        <p:nvSpPr>
          <p:cNvPr id="13" name="Shape 11"/>
          <p:cNvSpPr/>
          <p:nvPr/>
        </p:nvSpPr>
        <p:spPr>
          <a:xfrm>
            <a:off x="6172200" y="1600200"/>
            <a:ext cx="2615184" cy="1481328"/>
          </a:xfrm>
          <a:prstGeom prst="roundRect">
            <a:avLst>
              <a:gd name="adj" fmla="val 4938"/>
            </a:avLst>
          </a:prstGeom>
          <a:solidFill>
            <a:srgbClr val="EEF3F7"/>
          </a:solidFill>
          <a:ln/>
        </p:spPr>
      </p:sp>
      <p:sp>
        <p:nvSpPr>
          <p:cNvPr id="14" name="Text 12"/>
          <p:cNvSpPr/>
          <p:nvPr/>
        </p:nvSpPr>
        <p:spPr>
          <a:xfrm>
            <a:off x="6300216" y="1737360"/>
            <a:ext cx="914400" cy="402336"/>
          </a:xfrm>
          <a:prstGeom prst="rect">
            <a:avLst/>
          </a:prstGeom>
          <a:noFill/>
          <a:ln/>
        </p:spPr>
        <p:txBody>
          <a:bodyPr wrap="square" lIns="0" tIns="0" rIns="0" bIns="0" rtlCol="0" anchor="ctr"/>
          <a:lstStyle/>
          <a:p>
            <a:pPr indent="0" marL="0">
              <a:buNone/>
            </a:pPr>
            <a:r>
              <a:rPr lang="en-US" sz="2400" b="1" dirty="0">
                <a:solidFill>
                  <a:srgbClr val="065A82"/>
                </a:solidFill>
                <a:latin typeface="Arial" pitchFamily="34" charset="0"/>
                <a:ea typeface="Arial" pitchFamily="34" charset="-122"/>
                <a:cs typeface="Arial" pitchFamily="34" charset="-120"/>
              </a:rPr>
              <a:t>v3</a:t>
            </a:r>
            <a:endParaRPr lang="en-US" sz="2400" dirty="0"/>
          </a:p>
        </p:txBody>
      </p:sp>
      <p:sp>
        <p:nvSpPr>
          <p:cNvPr id="15" name="Text 13"/>
          <p:cNvSpPr/>
          <p:nvPr/>
        </p:nvSpPr>
        <p:spPr>
          <a:xfrm>
            <a:off x="630021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Uniform magnitude-based</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suppression</a:t>
            </a:r>
            <a:endParaRPr lang="en-US" sz="1450" dirty="0"/>
          </a:p>
        </p:txBody>
      </p:sp>
      <p:sp>
        <p:nvSpPr>
          <p:cNvPr id="16" name="Shape 14"/>
          <p:cNvSpPr/>
          <p:nvPr/>
        </p:nvSpPr>
        <p:spPr>
          <a:xfrm>
            <a:off x="8814816" y="2267712"/>
            <a:ext cx="137160" cy="155448"/>
          </a:xfrm>
          <a:prstGeom prst="rightArrow">
            <a:avLst/>
          </a:prstGeom>
          <a:solidFill>
            <a:srgbClr val="B9C2CC"/>
          </a:solidFill>
          <a:ln/>
        </p:spPr>
      </p:sp>
      <p:sp>
        <p:nvSpPr>
          <p:cNvPr id="17" name="Shape 15"/>
          <p:cNvSpPr/>
          <p:nvPr/>
        </p:nvSpPr>
        <p:spPr>
          <a:xfrm>
            <a:off x="9006840" y="1600200"/>
            <a:ext cx="2615184" cy="1481328"/>
          </a:xfrm>
          <a:prstGeom prst="roundRect">
            <a:avLst>
              <a:gd name="adj" fmla="val 4938"/>
            </a:avLst>
          </a:prstGeom>
          <a:solidFill>
            <a:srgbClr val="EEF3F7"/>
          </a:solidFill>
          <a:ln/>
        </p:spPr>
      </p:sp>
      <p:sp>
        <p:nvSpPr>
          <p:cNvPr id="18" name="Text 16"/>
          <p:cNvSpPr/>
          <p:nvPr/>
        </p:nvSpPr>
        <p:spPr>
          <a:xfrm>
            <a:off x="9134856" y="1737360"/>
            <a:ext cx="914400" cy="402336"/>
          </a:xfrm>
          <a:prstGeom prst="rect">
            <a:avLst/>
          </a:prstGeom>
          <a:noFill/>
          <a:ln/>
        </p:spPr>
        <p:txBody>
          <a:bodyPr wrap="square" lIns="0" tIns="0" rIns="0" bIns="0" rtlCol="0" anchor="ctr"/>
          <a:lstStyle/>
          <a:p>
            <a:pPr indent="0" marL="0">
              <a:buNone/>
            </a:pPr>
            <a:r>
              <a:rPr lang="en-US" sz="2400" b="1" dirty="0">
                <a:solidFill>
                  <a:srgbClr val="1A7A3C"/>
                </a:solidFill>
                <a:latin typeface="Arial" pitchFamily="34" charset="0"/>
                <a:ea typeface="Arial" pitchFamily="34" charset="-122"/>
                <a:cs typeface="Arial" pitchFamily="34" charset="-120"/>
              </a:rPr>
              <a:t>v4</a:t>
            </a:r>
            <a:endParaRPr lang="en-US" sz="2400" dirty="0"/>
          </a:p>
        </p:txBody>
      </p:sp>
      <p:sp>
        <p:nvSpPr>
          <p:cNvPr id="19" name="Text 17"/>
          <p:cNvSpPr/>
          <p:nvPr/>
        </p:nvSpPr>
        <p:spPr>
          <a:xfrm>
            <a:off x="913485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cutoff FIXED to the</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baseline-to-peak midpoint</a:t>
            </a:r>
            <a:endParaRPr lang="en-US" sz="1450" dirty="0"/>
          </a:p>
        </p:txBody>
      </p:sp>
      <p:sp>
        <p:nvSpPr>
          <p:cNvPr id="20" name="Shape 18"/>
          <p:cNvSpPr/>
          <p:nvPr/>
        </p:nvSpPr>
        <p:spPr>
          <a:xfrm>
            <a:off x="502920" y="3273552"/>
            <a:ext cx="5440680" cy="2542032"/>
          </a:xfrm>
          <a:prstGeom prst="roundRect">
            <a:avLst>
              <a:gd name="adj" fmla="val 2878"/>
            </a:avLst>
          </a:prstGeom>
          <a:solidFill>
            <a:srgbClr val="EBF5EE"/>
          </a:solidFill>
          <a:ln/>
        </p:spPr>
      </p:sp>
      <p:sp>
        <p:nvSpPr>
          <p:cNvPr id="21" name="Text 19"/>
          <p:cNvSpPr/>
          <p:nvPr/>
        </p:nvSpPr>
        <p:spPr>
          <a:xfrm>
            <a:off x="777240" y="3401568"/>
            <a:ext cx="4937760" cy="329184"/>
          </a:xfrm>
          <a:prstGeom prst="rect">
            <a:avLst/>
          </a:prstGeom>
          <a:noFill/>
          <a:ln/>
        </p:spPr>
        <p:txBody>
          <a:bodyPr wrap="square" lIns="0" tIns="0" rIns="0" bIns="0" rtlCol="0" anchor="ctr"/>
          <a:lstStyle/>
          <a:p>
            <a:pPr indent="0" marL="0">
              <a:buNone/>
            </a:pPr>
            <a:r>
              <a:rPr lang="en-US" sz="1800" b="1" dirty="0">
                <a:solidFill>
                  <a:srgbClr val="1A7A3C"/>
                </a:solidFill>
                <a:latin typeface="Arial" pitchFamily="34" charset="0"/>
                <a:ea typeface="Arial" pitchFamily="34" charset="-122"/>
                <a:cs typeface="Arial" pitchFamily="34" charset="-120"/>
              </a:rPr>
              <a:t>EDTA is a real contaminant problem</a:t>
            </a:r>
            <a:endParaRPr lang="en-US" sz="1800" dirty="0"/>
          </a:p>
        </p:txBody>
      </p:sp>
      <p:sp>
        <p:nvSpPr>
          <p:cNvPr id="22" name="Text 20"/>
          <p:cNvSpPr/>
          <p:nvPr/>
        </p:nvSpPr>
        <p:spPr>
          <a:xfrm>
            <a:off x="777240" y="3785616"/>
            <a:ext cx="4937760" cy="188366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Blood-collection tubes leave EDTA peaks that can dominate a spectrum and swamp the row normalisation.</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v3 → v4 fixed a genuine cutoff bug: the suppression was removing too much of the surrounding signal.</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7 rows repo-wide still retain a dominant EDTA peak — documented, not hidden.</a:t>
            </a:r>
            <a:endParaRPr lang="en-US" sz="1500" dirty="0"/>
          </a:p>
        </p:txBody>
      </p:sp>
      <p:sp>
        <p:nvSpPr>
          <p:cNvPr id="23" name="Shape 21"/>
          <p:cNvSpPr/>
          <p:nvPr/>
        </p:nvSpPr>
        <p:spPr>
          <a:xfrm>
            <a:off x="6217920" y="3273552"/>
            <a:ext cx="5440680" cy="2542032"/>
          </a:xfrm>
          <a:prstGeom prst="roundRect">
            <a:avLst>
              <a:gd name="adj" fmla="val 2878"/>
            </a:avLst>
          </a:prstGeom>
          <a:solidFill>
            <a:srgbClr val="FBEEF1"/>
          </a:solidFill>
          <a:ln/>
        </p:spPr>
      </p:sp>
      <p:sp>
        <p:nvSpPr>
          <p:cNvPr id="24" name="Text 22"/>
          <p:cNvSpPr/>
          <p:nvPr/>
        </p:nvSpPr>
        <p:spPr>
          <a:xfrm>
            <a:off x="6492240" y="3401568"/>
            <a:ext cx="4937760" cy="365760"/>
          </a:xfrm>
          <a:prstGeom prst="rect">
            <a:avLst/>
          </a:prstGeom>
          <a:noFill/>
          <a:ln/>
        </p:spPr>
        <p:txBody>
          <a:bodyPr wrap="square" lIns="0" tIns="0" rIns="0" bIns="0" rtlCol="0" anchor="ctr"/>
          <a:lstStyle/>
          <a:p>
            <a:pPr indent="0" marL="0">
              <a:buNone/>
            </a:pPr>
            <a:r>
              <a:rPr lang="en-US" sz="1800" b="1" dirty="0">
                <a:solidFill>
                  <a:srgbClr val="C1435B"/>
                </a:solidFill>
                <a:latin typeface="Arial" pitchFamily="34" charset="0"/>
                <a:ea typeface="Arial" pitchFamily="34" charset="-122"/>
                <a:cs typeface="Arial" pitchFamily="34" charset="-120"/>
              </a:rPr>
              <a:t>…but it does not matter downstream</a:t>
            </a:r>
            <a:endParaRPr lang="en-US" sz="1800" dirty="0"/>
          </a:p>
        </p:txBody>
      </p:sp>
      <p:sp>
        <p:nvSpPr>
          <p:cNvPr id="25" name="Text 23"/>
          <p:cNvSpPr/>
          <p:nvPr/>
        </p:nvSpPr>
        <p:spPr>
          <a:xfrm>
            <a:off x="6492240" y="3785616"/>
            <a:ext cx="4937760" cy="188366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We spent two whole experiments trying to explain a v3-vs-v4 downstream difference.</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With 5 seeds per corpus that difference is −0.014 ± 0.022 — indistinguishable from zero (slide 19).</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Lesson: fix the preprocessing because it is CORRECT, not because you measured a downstream gain from one run.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backbone, and the three objectives we tried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Architecture is unchanged from February; two more pretext tasks were added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7</a:t>
            </a:r>
            <a:endParaRPr lang="en-US" sz="1200" dirty="0"/>
          </a:p>
        </p:txBody>
      </p:sp>
      <p:sp>
        <p:nvSpPr>
          <p:cNvPr id="5" name="Shape 3"/>
          <p:cNvSpPr/>
          <p:nvPr/>
        </p:nvSpPr>
        <p:spPr>
          <a:xfrm>
            <a:off x="502920" y="1536192"/>
            <a:ext cx="1755648" cy="1481328"/>
          </a:xfrm>
          <a:prstGeom prst="roundRect">
            <a:avLst>
              <a:gd name="adj" fmla="val 4938"/>
            </a:avLst>
          </a:prstGeom>
          <a:solidFill>
            <a:srgbClr val="EEF3F7"/>
          </a:solidFill>
          <a:ln/>
        </p:spPr>
      </p:sp>
      <p:sp>
        <p:nvSpPr>
          <p:cNvPr id="6" name="Text 4"/>
          <p:cNvSpPr/>
          <p:nvPr/>
        </p:nvSpPr>
        <p:spPr>
          <a:xfrm>
            <a:off x="566928"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Input spectrum</a:t>
            </a:r>
            <a:endParaRPr lang="en-US" sz="1550" dirty="0"/>
          </a:p>
        </p:txBody>
      </p:sp>
      <p:sp>
        <p:nvSpPr>
          <p:cNvPr id="7" name="Text 5"/>
          <p:cNvSpPr/>
          <p:nvPr/>
        </p:nvSpPr>
        <p:spPr>
          <a:xfrm>
            <a:off x="566928"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131,072 points</a:t>
            </a:r>
            <a:endParaRPr lang="en-US" sz="1350" dirty="0"/>
          </a:p>
        </p:txBody>
      </p:sp>
      <p:sp>
        <p:nvSpPr>
          <p:cNvPr id="8" name="Shape 6"/>
          <p:cNvSpPr/>
          <p:nvPr/>
        </p:nvSpPr>
        <p:spPr>
          <a:xfrm>
            <a:off x="2263140" y="2194560"/>
            <a:ext cx="118872" cy="137160"/>
          </a:xfrm>
          <a:prstGeom prst="rightArrow">
            <a:avLst/>
          </a:prstGeom>
          <a:solidFill>
            <a:srgbClr val="9AA6B2"/>
          </a:solidFill>
          <a:ln/>
        </p:spPr>
      </p:sp>
      <p:sp>
        <p:nvSpPr>
          <p:cNvPr id="9" name="Shape 7"/>
          <p:cNvSpPr/>
          <p:nvPr/>
        </p:nvSpPr>
        <p:spPr>
          <a:xfrm>
            <a:off x="2386584" y="1536192"/>
            <a:ext cx="1755648" cy="1481328"/>
          </a:xfrm>
          <a:prstGeom prst="roundRect">
            <a:avLst>
              <a:gd name="adj" fmla="val 4938"/>
            </a:avLst>
          </a:prstGeom>
          <a:solidFill>
            <a:srgbClr val="EEF3F7"/>
          </a:solidFill>
          <a:ln/>
        </p:spPr>
      </p:sp>
      <p:sp>
        <p:nvSpPr>
          <p:cNvPr id="10" name="Text 8"/>
          <p:cNvSpPr/>
          <p:nvPr/>
        </p:nvSpPr>
        <p:spPr>
          <a:xfrm>
            <a:off x="2450592"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Patch split</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 mask</a:t>
            </a:r>
            <a:endParaRPr lang="en-US" sz="1550" dirty="0"/>
          </a:p>
        </p:txBody>
      </p:sp>
      <p:sp>
        <p:nvSpPr>
          <p:cNvPr id="11" name="Text 9"/>
          <p:cNvSpPr/>
          <p:nvPr/>
        </p:nvSpPr>
        <p:spPr>
          <a:xfrm>
            <a:off x="2450592"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1,024-pt patches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 128 tokens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mask 20–60%</a:t>
            </a:r>
            <a:endParaRPr lang="en-US" sz="1350" dirty="0"/>
          </a:p>
        </p:txBody>
      </p:sp>
      <p:sp>
        <p:nvSpPr>
          <p:cNvPr id="12" name="Shape 10"/>
          <p:cNvSpPr/>
          <p:nvPr/>
        </p:nvSpPr>
        <p:spPr>
          <a:xfrm>
            <a:off x="4146804" y="2194560"/>
            <a:ext cx="118872" cy="137160"/>
          </a:xfrm>
          <a:prstGeom prst="rightArrow">
            <a:avLst/>
          </a:prstGeom>
          <a:solidFill>
            <a:srgbClr val="9AA6B2"/>
          </a:solidFill>
          <a:ln/>
        </p:spPr>
      </p:sp>
      <p:sp>
        <p:nvSpPr>
          <p:cNvPr id="13" name="Shape 11"/>
          <p:cNvSpPr/>
          <p:nvPr/>
        </p:nvSpPr>
        <p:spPr>
          <a:xfrm>
            <a:off x="4270248" y="1536192"/>
            <a:ext cx="1755648" cy="1481328"/>
          </a:xfrm>
          <a:prstGeom prst="roundRect">
            <a:avLst>
              <a:gd name="adj" fmla="val 4938"/>
            </a:avLst>
          </a:prstGeom>
          <a:solidFill>
            <a:srgbClr val="EEF3F7"/>
          </a:solidFill>
          <a:ln/>
        </p:spPr>
      </p:sp>
      <p:sp>
        <p:nvSpPr>
          <p:cNvPr id="14" name="Text 12"/>
          <p:cNvSpPr/>
          <p:nvPr/>
        </p:nvSpPr>
        <p:spPr>
          <a:xfrm>
            <a:off x="4334256"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Patch embed</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 position</a:t>
            </a:r>
            <a:endParaRPr lang="en-US" sz="1550" dirty="0"/>
          </a:p>
        </p:txBody>
      </p:sp>
      <p:sp>
        <p:nvSpPr>
          <p:cNvPr id="15" name="Text 13"/>
          <p:cNvSpPr/>
          <p:nvPr/>
        </p:nvSpPr>
        <p:spPr>
          <a:xfrm>
            <a:off x="4334256"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Linear → 128-d</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 positional enc.</a:t>
            </a:r>
            <a:endParaRPr lang="en-US" sz="1350" dirty="0"/>
          </a:p>
        </p:txBody>
      </p:sp>
      <p:sp>
        <p:nvSpPr>
          <p:cNvPr id="16" name="Shape 14"/>
          <p:cNvSpPr/>
          <p:nvPr/>
        </p:nvSpPr>
        <p:spPr>
          <a:xfrm>
            <a:off x="6030468" y="2194560"/>
            <a:ext cx="118872" cy="137160"/>
          </a:xfrm>
          <a:prstGeom prst="rightArrow">
            <a:avLst/>
          </a:prstGeom>
          <a:solidFill>
            <a:srgbClr val="9AA6B2"/>
          </a:solidFill>
          <a:ln/>
        </p:spPr>
      </p:sp>
      <p:sp>
        <p:nvSpPr>
          <p:cNvPr id="17" name="Shape 15"/>
          <p:cNvSpPr/>
          <p:nvPr/>
        </p:nvSpPr>
        <p:spPr>
          <a:xfrm>
            <a:off x="6153912" y="1536192"/>
            <a:ext cx="1755648" cy="1481328"/>
          </a:xfrm>
          <a:prstGeom prst="roundRect">
            <a:avLst>
              <a:gd name="adj" fmla="val 4938"/>
            </a:avLst>
          </a:prstGeom>
          <a:solidFill>
            <a:srgbClr val="D6E6EF"/>
          </a:solidFill>
          <a:ln w="12700">
            <a:solidFill>
              <a:srgbClr val="065A82"/>
            </a:solidFill>
            <a:prstDash val="solid"/>
          </a:ln>
        </p:spPr>
      </p:sp>
      <p:sp>
        <p:nvSpPr>
          <p:cNvPr id="18" name="Text 16"/>
          <p:cNvSpPr/>
          <p:nvPr/>
        </p:nvSpPr>
        <p:spPr>
          <a:xfrm>
            <a:off x="6217920"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065A82"/>
                </a:solidFill>
                <a:latin typeface="Arial" pitchFamily="34" charset="0"/>
                <a:ea typeface="Arial" pitchFamily="34" charset="-122"/>
                <a:cs typeface="Arial" pitchFamily="34" charset="-120"/>
              </a:rPr>
              <a:t>Transformer</a:t>
            </a:r>
            <a:endParaRPr lang="en-US" sz="1550" dirty="0"/>
          </a:p>
          <a:p>
            <a:pPr algn="ctr" indent="0" marL="0">
              <a:lnSpc>
                <a:spcPts val="1700"/>
              </a:lnSpc>
              <a:buNone/>
            </a:pPr>
            <a:r>
              <a:rPr lang="en-US" sz="1550" b="1" dirty="0">
                <a:solidFill>
                  <a:srgbClr val="065A82"/>
                </a:solidFill>
                <a:latin typeface="Arial" pitchFamily="34" charset="0"/>
                <a:ea typeface="Arial" pitchFamily="34" charset="-122"/>
                <a:cs typeface="Arial" pitchFamily="34" charset="-120"/>
              </a:rPr>
              <a:t>encoder</a:t>
            </a:r>
            <a:endParaRPr lang="en-US" sz="1550" dirty="0"/>
          </a:p>
        </p:txBody>
      </p:sp>
      <p:sp>
        <p:nvSpPr>
          <p:cNvPr id="19" name="Text 17"/>
          <p:cNvSpPr/>
          <p:nvPr/>
        </p:nvSpPr>
        <p:spPr>
          <a:xfrm>
            <a:off x="6217920"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3 layers, 4 heads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ff 256, pre-norm</a:t>
            </a:r>
            <a:endParaRPr lang="en-US" sz="1350" dirty="0"/>
          </a:p>
        </p:txBody>
      </p:sp>
      <p:sp>
        <p:nvSpPr>
          <p:cNvPr id="20" name="Shape 18"/>
          <p:cNvSpPr/>
          <p:nvPr/>
        </p:nvSpPr>
        <p:spPr>
          <a:xfrm>
            <a:off x="7914132" y="2194560"/>
            <a:ext cx="118872" cy="137160"/>
          </a:xfrm>
          <a:prstGeom prst="rightArrow">
            <a:avLst/>
          </a:prstGeom>
          <a:solidFill>
            <a:srgbClr val="9AA6B2"/>
          </a:solidFill>
          <a:ln/>
        </p:spPr>
      </p:sp>
      <p:sp>
        <p:nvSpPr>
          <p:cNvPr id="21" name="Shape 19"/>
          <p:cNvSpPr/>
          <p:nvPr/>
        </p:nvSpPr>
        <p:spPr>
          <a:xfrm>
            <a:off x="8037576" y="1536192"/>
            <a:ext cx="1755648" cy="1481328"/>
          </a:xfrm>
          <a:prstGeom prst="roundRect">
            <a:avLst>
              <a:gd name="adj" fmla="val 4938"/>
            </a:avLst>
          </a:prstGeom>
          <a:solidFill>
            <a:srgbClr val="EEF3F7"/>
          </a:solidFill>
          <a:ln/>
        </p:spPr>
      </p:sp>
      <p:sp>
        <p:nvSpPr>
          <p:cNvPr id="22" name="Text 20"/>
          <p:cNvSpPr/>
          <p:nvPr/>
        </p:nvSpPr>
        <p:spPr>
          <a:xfrm>
            <a:off x="8101584"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Reconstruction</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head</a:t>
            </a:r>
            <a:endParaRPr lang="en-US" sz="1550" dirty="0"/>
          </a:p>
        </p:txBody>
      </p:sp>
      <p:sp>
        <p:nvSpPr>
          <p:cNvPr id="23" name="Text 21"/>
          <p:cNvSpPr/>
          <p:nvPr/>
        </p:nvSpPr>
        <p:spPr>
          <a:xfrm>
            <a:off x="8101584"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MLP → patches</a:t>
            </a:r>
            <a:endParaRPr lang="en-US" sz="1350" dirty="0"/>
          </a:p>
        </p:txBody>
      </p:sp>
      <p:sp>
        <p:nvSpPr>
          <p:cNvPr id="24" name="Shape 22"/>
          <p:cNvSpPr/>
          <p:nvPr/>
        </p:nvSpPr>
        <p:spPr>
          <a:xfrm>
            <a:off x="9797796" y="2194560"/>
            <a:ext cx="118872" cy="137160"/>
          </a:xfrm>
          <a:prstGeom prst="rightArrow">
            <a:avLst/>
          </a:prstGeom>
          <a:solidFill>
            <a:srgbClr val="9AA6B2"/>
          </a:solidFill>
          <a:ln/>
        </p:spPr>
      </p:sp>
      <p:sp>
        <p:nvSpPr>
          <p:cNvPr id="25" name="Shape 23"/>
          <p:cNvSpPr/>
          <p:nvPr/>
        </p:nvSpPr>
        <p:spPr>
          <a:xfrm>
            <a:off x="9921240" y="1536192"/>
            <a:ext cx="1755648" cy="1481328"/>
          </a:xfrm>
          <a:prstGeom prst="roundRect">
            <a:avLst>
              <a:gd name="adj" fmla="val 4938"/>
            </a:avLst>
          </a:prstGeom>
          <a:solidFill>
            <a:srgbClr val="EEF3F7"/>
          </a:solidFill>
          <a:ln/>
        </p:spPr>
      </p:sp>
      <p:sp>
        <p:nvSpPr>
          <p:cNvPr id="26" name="Text 24"/>
          <p:cNvSpPr/>
          <p:nvPr/>
        </p:nvSpPr>
        <p:spPr>
          <a:xfrm>
            <a:off x="9985248"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Output</a:t>
            </a:r>
            <a:endParaRPr lang="en-US" sz="1550" dirty="0"/>
          </a:p>
        </p:txBody>
      </p:sp>
      <p:sp>
        <p:nvSpPr>
          <p:cNvPr id="27" name="Text 25"/>
          <p:cNvSpPr/>
          <p:nvPr/>
        </p:nvSpPr>
        <p:spPr>
          <a:xfrm>
            <a:off x="9985248"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masked regions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restored</a:t>
            </a:r>
            <a:endParaRPr lang="en-US" sz="1350" dirty="0"/>
          </a:p>
        </p:txBody>
      </p:sp>
      <p:sp>
        <p:nvSpPr>
          <p:cNvPr id="28" name="Text 26"/>
          <p:cNvSpPr/>
          <p:nvPr/>
        </p:nvSpPr>
        <p:spPr>
          <a:xfrm>
            <a:off x="502920" y="3090672"/>
            <a:ext cx="11155680" cy="310896"/>
          </a:xfrm>
          <a:prstGeom prst="rect">
            <a:avLst/>
          </a:prstGeom>
          <a:noFill/>
          <a:ln/>
        </p:spPr>
        <p:txBody>
          <a:bodyPr wrap="square" lIns="0" tIns="0" rIns="0" bIns="0" rtlCol="0" anchor="ctr"/>
          <a:lstStyle/>
          <a:p>
            <a:pPr algn="ctr" indent="0" marL="0">
              <a:buNone/>
            </a:pPr>
            <a:r>
              <a:rPr lang="en-US" sz="1600" b="1" dirty="0">
                <a:solidFill>
                  <a:srgbClr val="3D4450"/>
                </a:solidFill>
                <a:latin typeface="Arial" pitchFamily="34" charset="0"/>
                <a:ea typeface="Arial" pitchFamily="34" charset="-122"/>
                <a:cs typeface="Arial" pitchFamily="34" charset="-120"/>
              </a:rPr>
              <a:t>1.89 M parameters  ·  patch 1024  ·  d_model 128  ·  best val reconstruction 9.3×10⁻⁵</a:t>
            </a:r>
            <a:endParaRPr lang="en-US" sz="1600" dirty="0"/>
          </a:p>
        </p:txBody>
      </p:sp>
      <p:sp>
        <p:nvSpPr>
          <p:cNvPr id="29" name="Shape 27"/>
          <p:cNvSpPr/>
          <p:nvPr/>
        </p:nvSpPr>
        <p:spPr>
          <a:xfrm>
            <a:off x="502920" y="3566160"/>
            <a:ext cx="3602736" cy="2148840"/>
          </a:xfrm>
          <a:prstGeom prst="roundRect">
            <a:avLst>
              <a:gd name="adj" fmla="val 3404"/>
            </a:avLst>
          </a:prstGeom>
          <a:solidFill>
            <a:srgbClr val="EBF5EE"/>
          </a:solidFill>
          <a:ln/>
        </p:spPr>
      </p:sp>
      <p:sp>
        <p:nvSpPr>
          <p:cNvPr id="30" name="Text 28"/>
          <p:cNvSpPr/>
          <p:nvPr/>
        </p:nvSpPr>
        <p:spPr>
          <a:xfrm>
            <a:off x="685800"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Masked (MSM)</a:t>
            </a:r>
            <a:endParaRPr lang="en-US" sz="1900" dirty="0"/>
          </a:p>
        </p:txBody>
      </p:sp>
      <p:sp>
        <p:nvSpPr>
          <p:cNvPr id="31" name="Text 29"/>
          <p:cNvSpPr/>
          <p:nvPr/>
        </p:nvSpPr>
        <p:spPr>
          <a:xfrm>
            <a:off x="685800"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Hide 20–60% of patches, reconstruct them.</a:t>
            </a:r>
            <a:endParaRPr lang="en-US" sz="1600" dirty="0"/>
          </a:p>
        </p:txBody>
      </p:sp>
      <p:sp>
        <p:nvSpPr>
          <p:cNvPr id="32" name="Text 30"/>
          <p:cNvSpPr/>
          <p:nvPr/>
        </p:nvSpPr>
        <p:spPr>
          <a:xfrm>
            <a:off x="685800" y="5074920"/>
            <a:ext cx="3236976" cy="502920"/>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The one that works</a:t>
            </a:r>
            <a:endParaRPr lang="en-US" sz="1700" dirty="0"/>
          </a:p>
        </p:txBody>
      </p:sp>
      <p:sp>
        <p:nvSpPr>
          <p:cNvPr id="33" name="Shape 31"/>
          <p:cNvSpPr/>
          <p:nvPr/>
        </p:nvSpPr>
        <p:spPr>
          <a:xfrm>
            <a:off x="4279392" y="3566160"/>
            <a:ext cx="3602736" cy="2148840"/>
          </a:xfrm>
          <a:prstGeom prst="roundRect">
            <a:avLst>
              <a:gd name="adj" fmla="val 3404"/>
            </a:avLst>
          </a:prstGeom>
          <a:solidFill>
            <a:srgbClr val="FBEEF1"/>
          </a:solidFill>
          <a:ln/>
        </p:spPr>
      </p:sp>
      <p:sp>
        <p:nvSpPr>
          <p:cNvPr id="34" name="Text 32"/>
          <p:cNvSpPr/>
          <p:nvPr/>
        </p:nvSpPr>
        <p:spPr>
          <a:xfrm>
            <a:off x="4462272"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Jigsaw</a:t>
            </a:r>
            <a:endParaRPr lang="en-US" sz="1900" dirty="0"/>
          </a:p>
        </p:txBody>
      </p:sp>
      <p:sp>
        <p:nvSpPr>
          <p:cNvPr id="35" name="Text 33"/>
          <p:cNvSpPr/>
          <p:nvPr/>
        </p:nvSpPr>
        <p:spPr>
          <a:xfrm>
            <a:off x="4462272"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Shuffle spectral bins, predict the original order.</a:t>
            </a:r>
            <a:endParaRPr lang="en-US" sz="1600" dirty="0"/>
          </a:p>
        </p:txBody>
      </p:sp>
      <p:sp>
        <p:nvSpPr>
          <p:cNvPr id="36" name="Text 34"/>
          <p:cNvSpPr/>
          <p:nvPr/>
        </p:nvSpPr>
        <p:spPr>
          <a:xfrm>
            <a:off x="4462272" y="5074920"/>
            <a:ext cx="3236976" cy="502920"/>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No better than random init</a:t>
            </a:r>
            <a:endParaRPr lang="en-US" sz="1700" dirty="0"/>
          </a:p>
        </p:txBody>
      </p:sp>
      <p:sp>
        <p:nvSpPr>
          <p:cNvPr id="37" name="Shape 35"/>
          <p:cNvSpPr/>
          <p:nvPr/>
        </p:nvSpPr>
        <p:spPr>
          <a:xfrm>
            <a:off x="8055864" y="3566160"/>
            <a:ext cx="3602736" cy="2148840"/>
          </a:xfrm>
          <a:prstGeom prst="roundRect">
            <a:avLst>
              <a:gd name="adj" fmla="val 3404"/>
            </a:avLst>
          </a:prstGeom>
          <a:solidFill>
            <a:srgbClr val="FBEEF1"/>
          </a:solidFill>
          <a:ln/>
        </p:spPr>
      </p:sp>
      <p:sp>
        <p:nvSpPr>
          <p:cNvPr id="38" name="Text 36"/>
          <p:cNvSpPr/>
          <p:nvPr/>
        </p:nvSpPr>
        <p:spPr>
          <a:xfrm>
            <a:off x="8238744"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Joint</a:t>
            </a:r>
            <a:endParaRPr lang="en-US" sz="1900" dirty="0"/>
          </a:p>
        </p:txBody>
      </p:sp>
      <p:sp>
        <p:nvSpPr>
          <p:cNvPr id="39" name="Text 37"/>
          <p:cNvSpPr/>
          <p:nvPr/>
        </p:nvSpPr>
        <p:spPr>
          <a:xfrm>
            <a:off x="8238744"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Masked + jigsaw together, shared encoder.</a:t>
            </a:r>
            <a:endParaRPr lang="en-US" sz="1600" dirty="0"/>
          </a:p>
        </p:txBody>
      </p:sp>
      <p:sp>
        <p:nvSpPr>
          <p:cNvPr id="40" name="Text 38"/>
          <p:cNvSpPr/>
          <p:nvPr/>
        </p:nvSpPr>
        <p:spPr>
          <a:xfrm>
            <a:off x="8238744" y="5074920"/>
            <a:ext cx="3236976" cy="502920"/>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Actively harmful</a:t>
            </a:r>
            <a:endParaRPr lang="en-US" sz="1700" dirty="0"/>
          </a:p>
        </p:txBody>
      </p:sp>
      <p:sp>
        <p:nvSpPr>
          <p:cNvPr id="41" name="Text 39"/>
          <p:cNvSpPr/>
          <p:nvPr/>
        </p:nvSpPr>
        <p:spPr>
          <a:xfrm>
            <a:off x="502920" y="5833872"/>
            <a:ext cx="11155680" cy="274320"/>
          </a:xfrm>
          <a:prstGeom prst="rect">
            <a:avLst/>
          </a:prstGeom>
          <a:noFill/>
          <a:ln/>
        </p:spPr>
        <p:txBody>
          <a:bodyPr wrap="square" lIns="0" tIns="0" rIns="0" bIns="0" rtlCol="0" anchor="ctr"/>
          <a:lstStyle/>
          <a:p>
            <a:pPr algn="ctr" indent="0" marL="0">
              <a:buNone/>
            </a:pPr>
            <a:r>
              <a:rPr lang="en-US" sz="1450" i="1" dirty="0">
                <a:solidFill>
                  <a:srgbClr val="5A6068"/>
                </a:solidFill>
                <a:latin typeface="Arial" pitchFamily="34" charset="0"/>
                <a:ea typeface="Arial" pitchFamily="34" charset="-122"/>
                <a:cs typeface="Arial" pitchFamily="34" charset="-120"/>
              </a:rPr>
              <a:t>(the verdicts come from the random-init control on slide 14)</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pretext task itself works very well</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Re-measured from February — and this is exactly where the trap was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8</a:t>
            </a:r>
            <a:endParaRPr lang="en-US" sz="1200" dirty="0"/>
          </a:p>
        </p:txBody>
      </p:sp>
      <p:pic>
        <p:nvPicPr>
          <p:cNvPr id="5" name="Image 0" descr="/home/nmrbox/0012/shasharma/Desktop/NMR_Metabolomics/docs/gm_figures/gm08_reconstruction.png">    </p:cNvPr>
          <p:cNvPicPr>
            <a:picLocks noChangeAspect="1"/>
          </p:cNvPicPr>
          <p:nvPr/>
        </p:nvPicPr>
        <p:blipFill>
          <a:blip r:embed="rId1"/>
          <a:stretch>
            <a:fillRect/>
          </a:stretch>
        </p:blipFill>
        <p:spPr>
          <a:xfrm>
            <a:off x="1051638" y="1371600"/>
            <a:ext cx="10058245" cy="3931920"/>
          </a:xfrm>
          <a:prstGeom prst="rect">
            <a:avLst/>
          </a:prstGeom>
        </p:spPr>
      </p:pic>
      <p:sp>
        <p:nvSpPr>
          <p:cNvPr id="6" name="Text 3"/>
          <p:cNvSpPr/>
          <p:nvPr/>
        </p:nvSpPr>
        <p:spPr>
          <a:xfrm>
            <a:off x="502920" y="5340096"/>
            <a:ext cx="11155680" cy="274320"/>
          </a:xfrm>
          <a:prstGeom prst="rect">
            <a:avLst/>
          </a:prstGeom>
          <a:noFill/>
          <a:ln/>
        </p:spPr>
        <p:txBody>
          <a:bodyPr wrap="square" lIns="0" tIns="0" rIns="0" bIns="0" rtlCol="0" anchor="ctr"/>
          <a:lstStyle/>
          <a:p>
            <a:pPr algn="ctr" indent="0" marL="0">
              <a:buNone/>
            </a:pPr>
            <a:r>
              <a:rPr lang="en-US" sz="1500" dirty="0">
                <a:solidFill>
                  <a:srgbClr val="5A6068"/>
                </a:solidFill>
                <a:latin typeface="Arial" pitchFamily="34" charset="0"/>
                <a:ea typeface="Arial" pitchFamily="34" charset="-122"/>
                <a:cs typeface="Arial" pitchFamily="34" charset="-120"/>
              </a:rPr>
              <a:t>Across 50 spectra:  </a:t>
            </a:r>
            <a:pPr algn="ctr" indent="0" marL="0">
              <a:buNone/>
            </a:pPr>
            <a:r>
              <a:rPr lang="en-US" sz="1500" b="1" dirty="0">
                <a:solidFill>
                  <a:srgbClr val="21295C"/>
                </a:solidFill>
                <a:latin typeface="Arial" pitchFamily="34" charset="0"/>
                <a:ea typeface="Arial" pitchFamily="34" charset="-122"/>
                <a:cs typeface="Arial" pitchFamily="34" charset="-120"/>
              </a:rPr>
              <a:t>r = 0.940 ± 0.090</a:t>
            </a:r>
            <a:pPr algn="ctr" indent="0" marL="0">
              <a:buNone/>
            </a:pPr>
            <a:r>
              <a:rPr lang="en-US" sz="1500" dirty="0">
                <a:solidFill>
                  <a:srgbClr val="5A6068"/>
                </a:solidFill>
                <a:latin typeface="Arial" pitchFamily="34" charset="0"/>
                <a:ea typeface="Arial" pitchFamily="34" charset="-122"/>
                <a:cs typeface="Arial" pitchFamily="34" charset="-120"/>
              </a:rPr>
              <a:t>  on the hidden bins only</a:t>
            </a:r>
            <a:endParaRPr lang="en-US" sz="1500" dirty="0"/>
          </a:p>
        </p:txBody>
      </p:sp>
      <p:sp>
        <p:nvSpPr>
          <p:cNvPr id="7" name="Shape 4"/>
          <p:cNvSpPr/>
          <p:nvPr/>
        </p:nvSpPr>
        <p:spPr>
          <a:xfrm>
            <a:off x="502920" y="5669280"/>
            <a:ext cx="11155680" cy="731520"/>
          </a:xfrm>
          <a:prstGeom prst="roundRect">
            <a:avLst>
              <a:gd name="adj" fmla="val 10000"/>
            </a:avLst>
          </a:prstGeom>
          <a:solidFill>
            <a:srgbClr val="FBEEF1"/>
          </a:solidFill>
          <a:ln/>
        </p:spPr>
      </p:sp>
      <p:sp>
        <p:nvSpPr>
          <p:cNvPr id="8" name="Text 5"/>
          <p:cNvSpPr/>
          <p:nvPr/>
        </p:nvSpPr>
        <p:spPr>
          <a:xfrm>
            <a:off x="777240" y="5705856"/>
            <a:ext cx="10607040" cy="658368"/>
          </a:xfrm>
          <a:prstGeom prst="rect">
            <a:avLst/>
          </a:prstGeom>
          <a:noFill/>
          <a:ln/>
        </p:spPr>
        <p:txBody>
          <a:bodyPr wrap="square" lIns="0" tIns="0" rIns="0" bIns="0" rtlCol="0" anchor="ctr"/>
          <a:lstStyle/>
          <a:p>
            <a:pPr indent="0" marL="0">
              <a:lnSpc>
                <a:spcPts val="1800"/>
              </a:lnSpc>
              <a:buNone/>
            </a:pPr>
            <a:r>
              <a:rPr lang="en-US" sz="1500" b="1" dirty="0">
                <a:solidFill>
                  <a:srgbClr val="C1435B"/>
                </a:solidFill>
                <a:latin typeface="Arial" pitchFamily="34" charset="0"/>
                <a:ea typeface="Arial" pitchFamily="34" charset="-122"/>
                <a:cs typeface="Arial" pitchFamily="34" charset="-120"/>
              </a:rPr>
              <a:t>The trap:  </a:t>
            </a:r>
            <a:pPr indent="0" marL="0">
              <a:lnSpc>
                <a:spcPts val="1800"/>
              </a:lnSpc>
              <a:buNone/>
            </a:pPr>
            <a:r>
              <a:rPr lang="en-US" sz="1500" dirty="0">
                <a:solidFill>
                  <a:srgbClr val="1A1A1A"/>
                </a:solidFill>
                <a:latin typeface="Arial" pitchFamily="34" charset="0"/>
                <a:ea typeface="Arial" pitchFamily="34" charset="-122"/>
                <a:cs typeface="Arial" pitchFamily="34" charset="-120"/>
              </a:rPr>
              <a:t>the pretext task is genuinely solved well — and it still tells you almost nothing. (February's r = 0.999 was whole-spectrum, which includes the 75% of bins the model is handed.) Across five backbones BETTER reconstruction went with WORSE transfer, so we never select a checkpoint, architecture or epoch on reconstruction loss.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Why reconstruction was never the hard part</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number above has no baseline — so we built the baselines it was missing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9</a:t>
            </a:r>
            <a:endParaRPr lang="en-US" sz="1200" dirty="0"/>
          </a:p>
        </p:txBody>
      </p:sp>
      <p:pic>
        <p:nvPicPr>
          <p:cNvPr id="5" name="Image 0" descr="/home/nmrbox/0012/shasharma/Desktop/NMR_Metabolomics/docs/gm_figures/gm10_recon_baselines.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5440680" cy="749808"/>
          </a:xfrm>
          <a:prstGeom prst="roundRect">
            <a:avLst>
              <a:gd name="adj" fmla="val 9756"/>
            </a:avLst>
          </a:prstGeom>
          <a:solidFill>
            <a:srgbClr val="FBEEF1"/>
          </a:solidFill>
          <a:ln/>
        </p:spPr>
      </p:sp>
      <p:sp>
        <p:nvSpPr>
          <p:cNvPr id="7" name="Text 4"/>
          <p:cNvSpPr/>
          <p:nvPr/>
        </p:nvSpPr>
        <p:spPr>
          <a:xfrm>
            <a:off x="731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C1435B"/>
                </a:solidFill>
                <a:latin typeface="Arial" pitchFamily="34" charset="0"/>
                <a:ea typeface="Arial" pitchFamily="34" charset="-122"/>
                <a:cs typeface="Arial" pitchFamily="34" charset="-120"/>
              </a:rPr>
              <a:t>No learning needed.  </a:t>
            </a:r>
            <a:pPr indent="0" marL="0">
              <a:lnSpc>
                <a:spcPts val="1700"/>
              </a:lnSpc>
              <a:buNone/>
            </a:pPr>
            <a:r>
              <a:rPr lang="en-US" sz="1450" dirty="0">
                <a:solidFill>
                  <a:srgbClr val="1A1A1A"/>
                </a:solidFill>
                <a:latin typeface="Arial" pitchFamily="34" charset="0"/>
                <a:ea typeface="Arial" pitchFamily="34" charset="-122"/>
                <a:cs typeface="Arial" pitchFamily="34" charset="-120"/>
              </a:rPr>
              <a:t>Finding the most similar other spectrum and copying its hidden bins scores 0.90 at 60% masking. The trained network gets 0.92.</a:t>
            </a:r>
            <a:endParaRPr lang="en-US" sz="1450" dirty="0"/>
          </a:p>
        </p:txBody>
      </p:sp>
      <p:sp>
        <p:nvSpPr>
          <p:cNvPr id="8" name="Shape 5"/>
          <p:cNvSpPr/>
          <p:nvPr/>
        </p:nvSpPr>
        <p:spPr>
          <a:xfrm>
            <a:off x="6217920" y="5687568"/>
            <a:ext cx="5440680" cy="749808"/>
          </a:xfrm>
          <a:prstGeom prst="roundRect">
            <a:avLst>
              <a:gd name="adj" fmla="val 9756"/>
            </a:avLst>
          </a:prstGeom>
          <a:solidFill>
            <a:srgbClr val="EEF3F7"/>
          </a:solidFill>
          <a:ln/>
        </p:spPr>
      </p:sp>
      <p:sp>
        <p:nvSpPr>
          <p:cNvPr id="9" name="Text 6"/>
          <p:cNvSpPr/>
          <p:nvPr/>
        </p:nvSpPr>
        <p:spPr>
          <a:xfrm>
            <a:off x="6446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065A82"/>
                </a:solidFill>
                <a:latin typeface="Arial" pitchFamily="34" charset="0"/>
                <a:ea typeface="Arial" pitchFamily="34" charset="-122"/>
                <a:cs typeface="Arial" pitchFamily="34" charset="-120"/>
              </a:rPr>
              <a:t>So the objective cannot bite.  </a:t>
            </a:r>
            <a:pPr indent="0" marL="0">
              <a:lnSpc>
                <a:spcPts val="1700"/>
              </a:lnSpc>
              <a:buNone/>
            </a:pPr>
            <a:r>
              <a:rPr lang="en-US" sz="1450" dirty="0">
                <a:solidFill>
                  <a:srgbClr val="1A1A1A"/>
                </a:solidFill>
                <a:latin typeface="Arial" pitchFamily="34" charset="0"/>
                <a:ea typeface="Arial" pitchFamily="34" charset="-122"/>
                <a:cs typeface="Arial" pitchFamily="34" charset="-120"/>
              </a:rPr>
              <a:t>Disease signal is a small perturbation orthogonal to the few components that dominate the loss — which is why MSM never learned it.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How we compare now</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protocol that made everything after this interpretable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10</a:t>
            </a:r>
            <a:endParaRPr lang="en-US" sz="1200" dirty="0"/>
          </a:p>
        </p:txBody>
      </p:sp>
      <p:sp>
        <p:nvSpPr>
          <p:cNvPr id="5" name="Shape 3"/>
          <p:cNvSpPr/>
          <p:nvPr/>
        </p:nvSpPr>
        <p:spPr>
          <a:xfrm>
            <a:off x="502920" y="1481328"/>
            <a:ext cx="6766560" cy="1316736"/>
          </a:xfrm>
          <a:prstGeom prst="roundRect">
            <a:avLst>
              <a:gd name="adj" fmla="val 5556"/>
            </a:avLst>
          </a:prstGeom>
          <a:solidFill>
            <a:srgbClr val="EEF3F7"/>
          </a:solidFill>
          <a:ln/>
        </p:spPr>
      </p:sp>
      <p:sp>
        <p:nvSpPr>
          <p:cNvPr id="6" name="Text 4"/>
          <p:cNvSpPr/>
          <p:nvPr/>
        </p:nvSpPr>
        <p:spPr>
          <a:xfrm>
            <a:off x="777240" y="1609344"/>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Identical folds</a:t>
            </a:r>
            <a:endParaRPr lang="en-US" sz="1800" dirty="0"/>
          </a:p>
        </p:txBody>
      </p:sp>
      <p:sp>
        <p:nvSpPr>
          <p:cNvPr id="7" name="Text 5"/>
          <p:cNvSpPr/>
          <p:nvPr/>
        </p:nvSpPr>
        <p:spPr>
          <a:xfrm>
            <a:off x="777240" y="1975104"/>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Both tracks see exactly the same splits — LOOCV for Barth / MTBLS326, stratified 10-fold (seed 42) for the rest.</a:t>
            </a:r>
            <a:endParaRPr lang="en-US" sz="1550" dirty="0"/>
          </a:p>
        </p:txBody>
      </p:sp>
      <p:sp>
        <p:nvSpPr>
          <p:cNvPr id="8" name="Shape 6"/>
          <p:cNvSpPr/>
          <p:nvPr/>
        </p:nvSpPr>
        <p:spPr>
          <a:xfrm>
            <a:off x="502920" y="2962656"/>
            <a:ext cx="6766560" cy="1316736"/>
          </a:xfrm>
          <a:prstGeom prst="roundRect">
            <a:avLst>
              <a:gd name="adj" fmla="val 5556"/>
            </a:avLst>
          </a:prstGeom>
          <a:solidFill>
            <a:srgbClr val="EEF3F7"/>
          </a:solidFill>
          <a:ln/>
        </p:spPr>
      </p:sp>
      <p:sp>
        <p:nvSpPr>
          <p:cNvPr id="9" name="Text 7"/>
          <p:cNvSpPr/>
          <p:nvPr/>
        </p:nvSpPr>
        <p:spPr>
          <a:xfrm>
            <a:off x="777240" y="3090672"/>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Identical metric</a:t>
            </a:r>
            <a:endParaRPr lang="en-US" sz="1800" dirty="0"/>
          </a:p>
        </p:txBody>
      </p:sp>
      <p:sp>
        <p:nvSpPr>
          <p:cNvPr id="10" name="Text 8"/>
          <p:cNvSpPr/>
          <p:nvPr/>
        </p:nvSpPr>
        <p:spPr>
          <a:xfrm>
            <a:off x="777240" y="3456432"/>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Balanced accuracy everywhere, because several targets are imbalanced (Barth is 14 / 23).</a:t>
            </a:r>
            <a:endParaRPr lang="en-US" sz="1550" dirty="0"/>
          </a:p>
        </p:txBody>
      </p:sp>
      <p:sp>
        <p:nvSpPr>
          <p:cNvPr id="11" name="Shape 9"/>
          <p:cNvSpPr/>
          <p:nvPr/>
        </p:nvSpPr>
        <p:spPr>
          <a:xfrm>
            <a:off x="502920" y="4443984"/>
            <a:ext cx="6766560" cy="1316736"/>
          </a:xfrm>
          <a:prstGeom prst="roundRect">
            <a:avLst>
              <a:gd name="adj" fmla="val 5556"/>
            </a:avLst>
          </a:prstGeom>
          <a:solidFill>
            <a:srgbClr val="EEF3F7"/>
          </a:solidFill>
          <a:ln/>
        </p:spPr>
      </p:sp>
      <p:sp>
        <p:nvSpPr>
          <p:cNvPr id="12" name="Text 10"/>
          <p:cNvSpPr/>
          <p:nvPr/>
        </p:nvSpPr>
        <p:spPr>
          <a:xfrm>
            <a:off x="777240" y="4572000"/>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Both classifiers linear</a:t>
            </a:r>
            <a:endParaRPr lang="en-US" sz="1800" dirty="0"/>
          </a:p>
        </p:txBody>
      </p:sp>
      <p:sp>
        <p:nvSpPr>
          <p:cNvPr id="13" name="Text 11"/>
          <p:cNvSpPr/>
          <p:nvPr/>
        </p:nvSpPr>
        <p:spPr>
          <a:xfrm>
            <a:off x="777240" y="4937760"/>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Classical = StandardScaler → LogReg. SSL = frozen embedding → LogReg probe. So a difference is about the FEATURES, not the classifier.</a:t>
            </a:r>
            <a:endParaRPr lang="en-US" sz="1550" dirty="0"/>
          </a:p>
        </p:txBody>
      </p:sp>
      <p:sp>
        <p:nvSpPr>
          <p:cNvPr id="14" name="Shape 12"/>
          <p:cNvSpPr/>
          <p:nvPr/>
        </p:nvSpPr>
        <p:spPr>
          <a:xfrm>
            <a:off x="7543800" y="1481328"/>
            <a:ext cx="4114800" cy="4443984"/>
          </a:xfrm>
          <a:prstGeom prst="roundRect">
            <a:avLst>
              <a:gd name="adj" fmla="val 1778"/>
            </a:avLst>
          </a:prstGeom>
          <a:solidFill>
            <a:srgbClr val="EBF5EE"/>
          </a:solidFill>
          <a:ln/>
        </p:spPr>
      </p:sp>
      <p:sp>
        <p:nvSpPr>
          <p:cNvPr id="15" name="Text 13"/>
          <p:cNvSpPr/>
          <p:nvPr/>
        </p:nvSpPr>
        <p:spPr>
          <a:xfrm>
            <a:off x="7818120" y="1645920"/>
            <a:ext cx="3611880" cy="347472"/>
          </a:xfrm>
          <a:prstGeom prst="rect">
            <a:avLst/>
          </a:prstGeom>
          <a:noFill/>
          <a:ln/>
        </p:spPr>
        <p:txBody>
          <a:bodyPr wrap="square" lIns="0" tIns="0" rIns="0" bIns="0" rtlCol="0" anchor="ctr"/>
          <a:lstStyle/>
          <a:p>
            <a:pPr indent="0" marL="0">
              <a:buNone/>
            </a:pPr>
            <a:r>
              <a:rPr lang="en-US" sz="1900" b="1" dirty="0">
                <a:solidFill>
                  <a:srgbClr val="1A7A3C"/>
                </a:solidFill>
                <a:latin typeface="Arial" pitchFamily="34" charset="0"/>
                <a:ea typeface="Arial" pitchFamily="34" charset="-122"/>
                <a:cs typeface="Arial" pitchFamily="34" charset="-120"/>
              </a:rPr>
              <a:t>The validation gate</a:t>
            </a:r>
            <a:endParaRPr lang="en-US" sz="1900" dirty="0"/>
          </a:p>
        </p:txBody>
      </p:sp>
      <p:sp>
        <p:nvSpPr>
          <p:cNvPr id="16" name="Text 14"/>
          <p:cNvSpPr/>
          <p:nvPr/>
        </p:nvSpPr>
        <p:spPr>
          <a:xfrm>
            <a:off x="7818120" y="2048256"/>
            <a:ext cx="3611880" cy="96012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Before drawing any conclusion, the harness had to reproduce the committed classical numbers to 6 decimal places on all five targets:</a:t>
            </a:r>
            <a:endParaRPr lang="en-US" sz="1550" dirty="0"/>
          </a:p>
        </p:txBody>
      </p:sp>
      <p:sp>
        <p:nvSpPr>
          <p:cNvPr id="17" name="Text 15"/>
          <p:cNvSpPr/>
          <p:nvPr/>
        </p:nvSpPr>
        <p:spPr>
          <a:xfrm>
            <a:off x="7818120" y="3127248"/>
            <a:ext cx="2103120" cy="1600200"/>
          </a:xfrm>
          <a:prstGeom prst="rect">
            <a:avLst/>
          </a:prstGeom>
          <a:noFill/>
          <a:ln/>
        </p:spPr>
        <p:txBody>
          <a:bodyPr wrap="square" lIns="0" tIns="0" rIns="0" bIns="0" rtlCol="0" anchor="ctr"/>
          <a:lstStyle/>
          <a:p>
            <a:pPr indent="0" marL="0">
              <a:lnSpc>
                <a:spcPts val="2400"/>
              </a:lnSpc>
              <a:buNone/>
            </a:pPr>
            <a:r>
              <a:rPr lang="en-US" sz="1500" dirty="0">
                <a:solidFill>
                  <a:srgbClr val="21295C"/>
                </a:solidFill>
                <a:latin typeface="Arial" pitchFamily="34" charset="0"/>
                <a:ea typeface="Arial" pitchFamily="34" charset="-122"/>
                <a:cs typeface="Arial" pitchFamily="34" charset="-120"/>
              </a:rPr>
              <a:t>BrC-T2D cancer</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BrC-T2D diabetes</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MTBLS563</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MTBLS326</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Barth</a:t>
            </a:r>
            <a:endParaRPr lang="en-US" sz="1500" dirty="0"/>
          </a:p>
        </p:txBody>
      </p:sp>
      <p:sp>
        <p:nvSpPr>
          <p:cNvPr id="18" name="Text 16"/>
          <p:cNvSpPr/>
          <p:nvPr/>
        </p:nvSpPr>
        <p:spPr>
          <a:xfrm>
            <a:off x="9921240" y="3127248"/>
            <a:ext cx="1508760" cy="1600200"/>
          </a:xfrm>
          <a:prstGeom prst="rect">
            <a:avLst/>
          </a:prstGeom>
          <a:noFill/>
          <a:ln/>
        </p:spPr>
        <p:txBody>
          <a:bodyPr wrap="square" lIns="0" tIns="0" rIns="0" bIns="0" rtlCol="0" anchor="ctr"/>
          <a:lstStyle/>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0.936842</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0.828877</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0.720785</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1.000000</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0.704969</a:t>
            </a:r>
            <a:endParaRPr lang="en-US" sz="1500" dirty="0"/>
          </a:p>
        </p:txBody>
      </p:sp>
      <p:sp>
        <p:nvSpPr>
          <p:cNvPr id="19" name="Text 17"/>
          <p:cNvSpPr/>
          <p:nvPr/>
        </p:nvSpPr>
        <p:spPr>
          <a:xfrm>
            <a:off x="7818120" y="4864608"/>
            <a:ext cx="3611880" cy="914400"/>
          </a:xfrm>
          <a:prstGeom prst="rect">
            <a:avLst/>
          </a:prstGeom>
          <a:noFill/>
          <a:ln/>
        </p:spPr>
        <p:txBody>
          <a:bodyPr wrap="square" lIns="0" tIns="0" rIns="0" bIns="0" rtlCol="0" anchor="ctr"/>
          <a:lstStyle/>
          <a:p>
            <a:pPr indent="0" marL="0">
              <a:lnSpc>
                <a:spcPts val="1900"/>
              </a:lnSpc>
              <a:buNone/>
            </a:pPr>
            <a:r>
              <a:rPr lang="en-US" sz="1550" b="1" dirty="0">
                <a:solidFill>
                  <a:srgbClr val="1A7A3C"/>
                </a:solidFill>
                <a:latin typeface="Arial" pitchFamily="34" charset="0"/>
                <a:ea typeface="Arial" pitchFamily="34" charset="-122"/>
                <a:cs typeface="Arial" pitchFamily="34" charset="-120"/>
              </a:rPr>
              <a:t>Without this, none of the comparisons would mean anything.</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Step 2 result — classical ML beat every SSL family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Balanced accuracy, v4 data, best mode per family, identical folds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11</a:t>
            </a:r>
            <a:endParaRPr lang="en-US" sz="1200" dirty="0"/>
          </a:p>
        </p:txBody>
      </p:sp>
      <p:pic>
        <p:nvPicPr>
          <p:cNvPr id="5" name="Image 0" descr="/home/nmrbox/0012/shasharma/Desktop/NMR_Metabolomics/docs/gm_figures/gm01_headline.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FBEEF1"/>
          </a:solidFill>
          <a:ln/>
        </p:spPr>
      </p:sp>
      <p:sp>
        <p:nvSpPr>
          <p:cNvPr id="7" name="Text 4"/>
          <p:cNvSpPr/>
          <p:nvPr/>
        </p:nvSpPr>
        <p:spPr>
          <a:xfrm>
            <a:off x="777240" y="5742432"/>
            <a:ext cx="10607040" cy="603504"/>
          </a:xfrm>
          <a:prstGeom prst="rect">
            <a:avLst/>
          </a:prstGeom>
          <a:noFill/>
          <a:ln/>
        </p:spPr>
        <p:txBody>
          <a:bodyPr wrap="square" lIns="0" tIns="0" rIns="0" bIns="0" rtlCol="0" anchor="ctr"/>
          <a:lstStyle/>
          <a:p>
            <a:pPr indent="0" marL="0">
              <a:lnSpc>
                <a:spcPts val="1800"/>
              </a:lnSpc>
              <a:buNone/>
            </a:pPr>
            <a:r>
              <a:rPr lang="en-US" sz="1550" dirty="0">
                <a:solidFill>
                  <a:srgbClr val="1A1A1A"/>
                </a:solidFill>
                <a:latin typeface="Arial" pitchFamily="34" charset="0"/>
                <a:ea typeface="Arial" pitchFamily="34" charset="-122"/>
                <a:cs typeface="Arial" pitchFamily="34" charset="-120"/>
              </a:rPr>
              <a:t>Consistent ordering: masked &gt; jigsaw ≈ joint. Two of the gaps are large (0.14–0.18). Barth and MTBLS326 are effectively ties — half a sample and one sample respectively.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gap is not one problem — it is two</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Run the SAME logistic regression on the frozen SSL embedding to separate them</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12</a:t>
            </a:r>
            <a:endParaRPr lang="en-US" sz="1200" dirty="0"/>
          </a:p>
        </p:txBody>
      </p:sp>
      <p:sp>
        <p:nvSpPr>
          <p:cNvPr id="5" name="Shape 3"/>
          <p:cNvSpPr/>
          <p:nvPr/>
        </p:nvSpPr>
        <p:spPr>
          <a:xfrm>
            <a:off x="502920" y="1481328"/>
            <a:ext cx="5440680" cy="1874520"/>
          </a:xfrm>
          <a:prstGeom prst="roundRect">
            <a:avLst>
              <a:gd name="adj" fmla="val 3902"/>
            </a:avLst>
          </a:prstGeom>
          <a:solidFill>
            <a:srgbClr val="EEF3F7"/>
          </a:solidFill>
          <a:ln/>
        </p:spPr>
      </p:sp>
      <p:sp>
        <p:nvSpPr>
          <p:cNvPr id="6" name="Text 4"/>
          <p:cNvSpPr/>
          <p:nvPr/>
        </p:nvSpPr>
        <p:spPr>
          <a:xfrm>
            <a:off x="777240" y="1627632"/>
            <a:ext cx="4937760" cy="347472"/>
          </a:xfrm>
          <a:prstGeom prst="rect">
            <a:avLst/>
          </a:prstGeom>
          <a:noFill/>
          <a:ln/>
        </p:spPr>
        <p:txBody>
          <a:bodyPr wrap="square" lIns="0" tIns="0" rIns="0" bIns="0" rtlCol="0" anchor="ctr"/>
          <a:lstStyle/>
          <a:p>
            <a:pPr indent="0" marL="0">
              <a:buNone/>
            </a:pPr>
            <a:r>
              <a:rPr lang="en-US" sz="1900" b="1" dirty="0">
                <a:solidFill>
                  <a:srgbClr val="1C7293"/>
                </a:solidFill>
                <a:latin typeface="Arial" pitchFamily="34" charset="0"/>
                <a:ea typeface="Arial" pitchFamily="34" charset="-122"/>
                <a:cs typeface="Arial" pitchFamily="34" charset="-120"/>
              </a:rPr>
              <a:t>Head-fitting deficit</a:t>
            </a:r>
            <a:endParaRPr lang="en-US" sz="1900" dirty="0"/>
          </a:p>
        </p:txBody>
      </p:sp>
      <p:sp>
        <p:nvSpPr>
          <p:cNvPr id="7" name="Text 5"/>
          <p:cNvSpPr/>
          <p:nvPr/>
        </p:nvSpPr>
        <p:spPr>
          <a:xfrm>
            <a:off x="777240" y="2011680"/>
            <a:ext cx="4937760" cy="123444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The SSL head is a linear layer trained by Adam for ~50 epochs on a handful of samples. LogReg on the IDENTICAL features fits the same linear map properly (L-BFGS to convergence, explicit L2, standardised inputs).</a:t>
            </a:r>
            <a:endParaRPr lang="en-US" sz="1550" dirty="0"/>
          </a:p>
        </p:txBody>
      </p:sp>
      <p:sp>
        <p:nvSpPr>
          <p:cNvPr id="8" name="Shape 6"/>
          <p:cNvSpPr/>
          <p:nvPr/>
        </p:nvSpPr>
        <p:spPr>
          <a:xfrm>
            <a:off x="6217920" y="1481328"/>
            <a:ext cx="5440680" cy="1874520"/>
          </a:xfrm>
          <a:prstGeom prst="roundRect">
            <a:avLst>
              <a:gd name="adj" fmla="val 3902"/>
            </a:avLst>
          </a:prstGeom>
          <a:solidFill>
            <a:srgbClr val="EEF3F7"/>
          </a:solidFill>
          <a:ln/>
        </p:spPr>
      </p:sp>
      <p:sp>
        <p:nvSpPr>
          <p:cNvPr id="9" name="Text 7"/>
          <p:cNvSpPr/>
          <p:nvPr/>
        </p:nvSpPr>
        <p:spPr>
          <a:xfrm>
            <a:off x="6492240" y="1627632"/>
            <a:ext cx="4937760" cy="347472"/>
          </a:xfrm>
          <a:prstGeom prst="rect">
            <a:avLst/>
          </a:prstGeom>
          <a:noFill/>
          <a:ln/>
        </p:spPr>
        <p:txBody>
          <a:bodyPr wrap="square" lIns="0" tIns="0" rIns="0" bIns="0" rtlCol="0" anchor="ctr"/>
          <a:lstStyle/>
          <a:p>
            <a:pPr indent="0" marL="0">
              <a:buNone/>
            </a:pPr>
            <a:r>
              <a:rPr lang="en-US" sz="1900" b="1" dirty="0">
                <a:solidFill>
                  <a:srgbClr val="B8860B"/>
                </a:solidFill>
                <a:latin typeface="Arial" pitchFamily="34" charset="0"/>
                <a:ea typeface="Arial" pitchFamily="34" charset="-122"/>
                <a:cs typeface="Arial" pitchFamily="34" charset="-120"/>
              </a:rPr>
              <a:t>Representation ceiling</a:t>
            </a:r>
            <a:endParaRPr lang="en-US" sz="1900" dirty="0"/>
          </a:p>
        </p:txBody>
      </p:sp>
      <p:sp>
        <p:nvSpPr>
          <p:cNvPr id="10" name="Text 8"/>
          <p:cNvSpPr/>
          <p:nvPr/>
        </p:nvSpPr>
        <p:spPr>
          <a:xfrm>
            <a:off x="6492240" y="2011680"/>
            <a:ext cx="4937760" cy="123444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Whatever survives the better classifier is the embedding's own limit — information the backbone never encoded, which 1,024-bin integrated areas do carry.</a:t>
            </a:r>
            <a:endParaRPr lang="en-US" sz="15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3566160"/>
          <a:ext cx="11155680" cy="914400"/>
        </p:xfrm>
        <a:graphic>
          <a:graphicData uri="http://schemas.openxmlformats.org/drawingml/2006/table">
            <a:tbl>
              <a:tblPr/>
              <a:tblGrid>
                <a:gridCol w="2514600"/>
                <a:gridCol w="1463040"/>
                <a:gridCol w="2331720"/>
                <a:gridCol w="1737360"/>
                <a:gridCol w="1463040"/>
                <a:gridCol w="1645920"/>
              </a:tblGrid>
              <a:tr h="347472">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SSL head</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LogReg on</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same embedding</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LogReg @</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1024 bins</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Head</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deficit</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Representation</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ceiling</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BrC-T2D cancer</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0.796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0.833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0.104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BrC-T2D diabetes</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0.653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0.810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0.829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C7293"/>
                          </a:solidFill>
                          <a:latin typeface="Arial" pitchFamily="34" charset="0"/>
                          <a:ea typeface="Arial" pitchFamily="34" charset="-122"/>
                          <a:cs typeface="Arial" pitchFamily="34" charset="-120"/>
                        </a:rPr>
                        <a:t>0.157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0.019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MTBLS563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0.558</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0.607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0.721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0.049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0.114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Barth</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0.691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0.770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0.705</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C7293"/>
                          </a:solidFill>
                          <a:latin typeface="Arial" pitchFamily="34" charset="0"/>
                          <a:ea typeface="Arial" pitchFamily="34" charset="-122"/>
                          <a:cs typeface="Arial" pitchFamily="34" charset="-120"/>
                        </a:rPr>
                        <a:t>0.079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−0.065</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MTBLS326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0.981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0.944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1.000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0.056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12" name="Text 9"/>
          <p:cNvSpPr/>
          <p:nvPr/>
        </p:nvSpPr>
        <p:spPr>
          <a:xfrm>
            <a:off x="502920" y="5961888"/>
            <a:ext cx="11155680" cy="475488"/>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Diabetes is 89% a head problem — the embedding already supports 0.810. Cancer and MTBLS563 are mostly representation. Barth's embedding actually BEATS binned features (0.770 vs 0.705); the head was wasting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Two fixes that cost zero GPU time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Both are PAIRED comparisons — same frozen checkpoint, one thing changed. Both still stand today.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13</a:t>
            </a:r>
            <a:endParaRPr lang="en-US" sz="1200" dirty="0"/>
          </a:p>
        </p:txBody>
      </p:sp>
      <p:pic>
        <p:nvPicPr>
          <p:cNvPr id="5" name="Image 0" descr="/home/nmrbox/0012/shasharma/Desktop/NMR_Metabolomics/docs/gm_figures/gm02_free_wins.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EBF5EE"/>
          </a:solidFill>
          <a:ln/>
        </p:spPr>
      </p:sp>
      <p:sp>
        <p:nvSpPr>
          <p:cNvPr id="7" name="Text 4"/>
          <p:cNvSpPr/>
          <p:nvPr/>
        </p:nvSpPr>
        <p:spPr>
          <a:xfrm>
            <a:off x="777240" y="5733288"/>
            <a:ext cx="10607040" cy="603504"/>
          </a:xfrm>
          <a:prstGeom prst="rect">
            <a:avLst/>
          </a:prstGeom>
          <a:noFill/>
          <a:ln/>
        </p:spPr>
        <p:txBody>
          <a:bodyPr wrap="square" lIns="0" tIns="0" rIns="0" bIns="0" rtlCol="0" anchor="ctr"/>
          <a:lstStyle/>
          <a:p>
            <a:pPr indent="0" marL="0">
              <a:lnSpc>
                <a:spcPts val="2000"/>
              </a:lnSpc>
              <a:buNone/>
            </a:pPr>
            <a:r>
              <a:rPr lang="en-US" sz="1550" dirty="0">
                <a:solidFill>
                  <a:srgbClr val="1A1A1A"/>
                </a:solidFill>
                <a:latin typeface="Arial" pitchFamily="34" charset="0"/>
                <a:ea typeface="Arial" pitchFamily="34" charset="-122"/>
                <a:cs typeface="Arial" pitchFamily="34" charset="-120"/>
              </a:rPr>
              <a:t>Why these two survived everything that came later: they vary a transform on a FIXED checkpoint, so they carry no pretraining run-to-run variance at all. That distinction turns out to be the whole story of this project.</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those two fixes left us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SSL vs classical, after the head and pooling fixes — no retraining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14</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1572768"/>
          <a:ext cx="10515600" cy="914400"/>
        </p:xfrm>
        <a:graphic>
          <a:graphicData uri="http://schemas.openxmlformats.org/drawingml/2006/table">
            <a:tbl>
              <a:tblPr/>
              <a:tblGrid>
                <a:gridCol w="2606040"/>
                <a:gridCol w="1874520"/>
                <a:gridCol w="1783080"/>
                <a:gridCol w="1600200"/>
                <a:gridCol w="1371600"/>
                <a:gridCol w="1280160"/>
              </a:tblGrid>
              <a:tr h="411480">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Target</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Reported</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Feb-style head</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Probe +</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pooling fix</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Classical</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LogReg</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vs classical</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Verdict</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Barth</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0.691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0.806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0.705</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+0.101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1 seed *</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MTBLS326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0.981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5A6068"/>
                          </a:solidFill>
                          <a:latin typeface="Arial" pitchFamily="34" charset="0"/>
                          <a:ea typeface="Arial" pitchFamily="34" charset="-122"/>
                          <a:cs typeface="Arial" pitchFamily="34" charset="-120"/>
                        </a:rPr>
                        <a:t>0.000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5A6068"/>
                          </a:solidFill>
                          <a:latin typeface="Arial" pitchFamily="34" charset="0"/>
                          <a:ea typeface="Arial" pitchFamily="34" charset="-122"/>
                          <a:cs typeface="Arial" pitchFamily="34" charset="-120"/>
                        </a:rPr>
                        <a:t>tie</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BrC-T2D cancer</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0.796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0.859</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0.937</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−0.078</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BrC-T2D diabetes</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0.653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0.783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0.829</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−0.046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MTBLS563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0.558</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0.621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0.721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−0.100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6" name="Shape 3"/>
          <p:cNvSpPr/>
          <p:nvPr/>
        </p:nvSpPr>
        <p:spPr>
          <a:xfrm>
            <a:off x="822960" y="4315968"/>
            <a:ext cx="3319272" cy="1325880"/>
          </a:xfrm>
          <a:prstGeom prst="roundRect">
            <a:avLst>
              <a:gd name="adj" fmla="val 5517"/>
            </a:avLst>
          </a:prstGeom>
          <a:solidFill>
            <a:srgbClr val="EEF3F7"/>
          </a:solidFill>
          <a:ln/>
        </p:spPr>
      </p:sp>
      <p:sp>
        <p:nvSpPr>
          <p:cNvPr id="7" name="Text 4"/>
          <p:cNvSpPr/>
          <p:nvPr/>
        </p:nvSpPr>
        <p:spPr>
          <a:xfrm>
            <a:off x="960120" y="4425696"/>
            <a:ext cx="3044952" cy="530352"/>
          </a:xfrm>
          <a:prstGeom prst="rect">
            <a:avLst/>
          </a:prstGeom>
          <a:noFill/>
          <a:ln/>
        </p:spPr>
        <p:txBody>
          <a:bodyPr wrap="square" lIns="0" tIns="0" rIns="0" bIns="0" rtlCol="0" anchor="ctr"/>
          <a:lstStyle/>
          <a:p>
            <a:pPr algn="ctr" indent="0" marL="0">
              <a:buNone/>
            </a:pPr>
            <a:r>
              <a:rPr lang="en-US" sz="3000" b="1" dirty="0">
                <a:solidFill>
                  <a:srgbClr val="065A82"/>
                </a:solidFill>
                <a:latin typeface="Arial" pitchFamily="34" charset="0"/>
                <a:ea typeface="Arial" pitchFamily="34" charset="-122"/>
                <a:cs typeface="Arial" pitchFamily="34" charset="-120"/>
              </a:rPr>
              <a:t>+0.078</a:t>
            </a:r>
            <a:endParaRPr lang="en-US" sz="3000" dirty="0"/>
          </a:p>
        </p:txBody>
      </p:sp>
      <p:sp>
        <p:nvSpPr>
          <p:cNvPr id="8" name="Text 5"/>
          <p:cNvSpPr/>
          <p:nvPr/>
        </p:nvSpPr>
        <p:spPr>
          <a:xfrm>
            <a:off x="960120"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mean improvement over the</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February-style numbers</a:t>
            </a:r>
            <a:endParaRPr lang="en-US" sz="1450" dirty="0"/>
          </a:p>
        </p:txBody>
      </p:sp>
      <p:sp>
        <p:nvSpPr>
          <p:cNvPr id="9" name="Shape 6"/>
          <p:cNvSpPr/>
          <p:nvPr/>
        </p:nvSpPr>
        <p:spPr>
          <a:xfrm>
            <a:off x="4361688" y="4315968"/>
            <a:ext cx="3319272" cy="1325880"/>
          </a:xfrm>
          <a:prstGeom prst="roundRect">
            <a:avLst>
              <a:gd name="adj" fmla="val 5517"/>
            </a:avLst>
          </a:prstGeom>
          <a:solidFill>
            <a:srgbClr val="EEF3F7"/>
          </a:solidFill>
          <a:ln/>
        </p:spPr>
      </p:sp>
      <p:sp>
        <p:nvSpPr>
          <p:cNvPr id="10" name="Text 7"/>
          <p:cNvSpPr/>
          <p:nvPr/>
        </p:nvSpPr>
        <p:spPr>
          <a:xfrm>
            <a:off x="4498848" y="4425696"/>
            <a:ext cx="3044952" cy="530352"/>
          </a:xfrm>
          <a:prstGeom prst="rect">
            <a:avLst/>
          </a:prstGeom>
          <a:noFill/>
          <a:ln/>
        </p:spPr>
        <p:txBody>
          <a:bodyPr wrap="square" lIns="0" tIns="0" rIns="0" bIns="0" rtlCol="0" anchor="ctr"/>
          <a:lstStyle/>
          <a:p>
            <a:pPr algn="ctr" indent="0" marL="0">
              <a:buNone/>
            </a:pPr>
            <a:r>
              <a:rPr lang="en-US" sz="3000" b="1" dirty="0">
                <a:solidFill>
                  <a:srgbClr val="B8860B"/>
                </a:solidFill>
                <a:latin typeface="Arial" pitchFamily="34" charset="0"/>
                <a:ea typeface="Arial" pitchFamily="34" charset="-122"/>
                <a:cs typeface="Arial" pitchFamily="34" charset="-120"/>
              </a:rPr>
              <a:t>0 → 1</a:t>
            </a:r>
            <a:endParaRPr lang="en-US" sz="3000" dirty="0"/>
          </a:p>
        </p:txBody>
      </p:sp>
      <p:sp>
        <p:nvSpPr>
          <p:cNvPr id="11" name="Text 8"/>
          <p:cNvSpPr/>
          <p:nvPr/>
        </p:nvSpPr>
        <p:spPr>
          <a:xfrm>
            <a:off x="4498848"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apparent win at the time</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 retracted later, see #18</a:t>
            </a:r>
            <a:endParaRPr lang="en-US" sz="1450" dirty="0"/>
          </a:p>
        </p:txBody>
      </p:sp>
      <p:sp>
        <p:nvSpPr>
          <p:cNvPr id="12" name="Shape 9"/>
          <p:cNvSpPr/>
          <p:nvPr/>
        </p:nvSpPr>
        <p:spPr>
          <a:xfrm>
            <a:off x="7900416" y="4315968"/>
            <a:ext cx="3319272" cy="1325880"/>
          </a:xfrm>
          <a:prstGeom prst="roundRect">
            <a:avLst>
              <a:gd name="adj" fmla="val 5517"/>
            </a:avLst>
          </a:prstGeom>
          <a:solidFill>
            <a:srgbClr val="EEF3F7"/>
          </a:solidFill>
          <a:ln/>
        </p:spPr>
      </p:sp>
      <p:sp>
        <p:nvSpPr>
          <p:cNvPr id="13" name="Text 10"/>
          <p:cNvSpPr/>
          <p:nvPr/>
        </p:nvSpPr>
        <p:spPr>
          <a:xfrm>
            <a:off x="8037576" y="4425696"/>
            <a:ext cx="3044952" cy="530352"/>
          </a:xfrm>
          <a:prstGeom prst="rect">
            <a:avLst/>
          </a:prstGeom>
          <a:noFill/>
          <a:ln/>
        </p:spPr>
        <p:txBody>
          <a:bodyPr wrap="square" lIns="0" tIns="0" rIns="0" bIns="0" rtlCol="0" anchor="ctr"/>
          <a:lstStyle/>
          <a:p>
            <a:pPr algn="ctr" indent="0" marL="0">
              <a:buNone/>
            </a:pPr>
            <a:r>
              <a:rPr lang="en-US" sz="3000" b="1" dirty="0">
                <a:solidFill>
                  <a:srgbClr val="1C7293"/>
                </a:solidFill>
                <a:latin typeface="Arial" pitchFamily="34" charset="0"/>
                <a:ea typeface="Arial" pitchFamily="34" charset="-122"/>
                <a:cs typeface="Arial" pitchFamily="34" charset="-120"/>
              </a:rPr>
              <a:t>0 h</a:t>
            </a:r>
            <a:endParaRPr lang="en-US" sz="3000" dirty="0"/>
          </a:p>
        </p:txBody>
      </p:sp>
      <p:sp>
        <p:nvSpPr>
          <p:cNvPr id="14" name="Text 11"/>
          <p:cNvSpPr/>
          <p:nvPr/>
        </p:nvSpPr>
        <p:spPr>
          <a:xfrm>
            <a:off x="8037576"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GPU time spent —</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both fixes are post-hoc</a:t>
            </a:r>
            <a:endParaRPr lang="en-US" sz="1450" dirty="0"/>
          </a:p>
        </p:txBody>
      </p:sp>
      <p:sp>
        <p:nvSpPr>
          <p:cNvPr id="15" name="Text 12"/>
          <p:cNvSpPr/>
          <p:nvPr/>
        </p:nvSpPr>
        <p:spPr>
          <a:xfrm>
            <a:off x="822960" y="5742432"/>
            <a:ext cx="10515600" cy="365760"/>
          </a:xfrm>
          <a:prstGeom prst="rect">
            <a:avLst/>
          </a:prstGeom>
          <a:noFill/>
          <a:ln/>
        </p:spPr>
        <p:txBody>
          <a:bodyPr wrap="square" lIns="0" tIns="0" rIns="0" bIns="0" rtlCol="0" anchor="ctr"/>
          <a:lstStyle/>
          <a:p>
            <a:pPr algn="ctr" indent="0" marL="0">
              <a:buNone/>
            </a:pPr>
            <a:r>
              <a:rPr lang="en-US" sz="1600" b="1" dirty="0">
                <a:solidFill>
                  <a:srgbClr val="C1435B"/>
                </a:solidFill>
                <a:latin typeface="Arial" pitchFamily="34" charset="0"/>
                <a:ea typeface="Arial" pitchFamily="34" charset="-122"/>
                <a:cs typeface="Arial" pitchFamily="34" charset="-120"/>
              </a:rPr>
              <a:t>* This is what we believed in June. The Barth win rests on ONE pretraining seed — it does not survive n=5. We come back to it.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control we were missing in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Same architecture, NO pretrained weights anywhere, classifier held fixed — so any difference is the objective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15</a:t>
            </a:r>
            <a:endParaRPr lang="en-US" sz="1200" dirty="0"/>
          </a:p>
        </p:txBody>
      </p:sp>
      <p:pic>
        <p:nvPicPr>
          <p:cNvPr id="5" name="Image 0" descr="/home/nmrbox/0012/shasharma/Desktop/NMR_Metabolomics/docs/gm_figures/gm03_pretraining_gain.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440680" cy="731520"/>
          </a:xfrm>
          <a:prstGeom prst="roundRect">
            <a:avLst>
              <a:gd name="adj" fmla="val 10000"/>
            </a:avLst>
          </a:prstGeom>
          <a:solidFill>
            <a:srgbClr val="EBF5EE"/>
          </a:solidFill>
          <a:ln/>
        </p:spPr>
      </p:sp>
      <p:sp>
        <p:nvSpPr>
          <p:cNvPr id="7" name="Text 4"/>
          <p:cNvSpPr/>
          <p:nvPr/>
        </p:nvSpPr>
        <p:spPr>
          <a:xfrm>
            <a:off x="731520" y="5724144"/>
            <a:ext cx="4992624"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Masked pretraining earns its keep: +0.117 mean, positive on 5 of 5. This is the ONLY single-run result in the whole project that clears the noise floor.</a:t>
            </a:r>
            <a:endParaRPr lang="en-US" sz="1450" dirty="0"/>
          </a:p>
        </p:txBody>
      </p:sp>
      <p:sp>
        <p:nvSpPr>
          <p:cNvPr id="8" name="Shape 5"/>
          <p:cNvSpPr/>
          <p:nvPr/>
        </p:nvSpPr>
        <p:spPr>
          <a:xfrm>
            <a:off x="6217920" y="5669280"/>
            <a:ext cx="5440680" cy="731520"/>
          </a:xfrm>
          <a:prstGeom prst="roundRect">
            <a:avLst>
              <a:gd name="adj" fmla="val 10000"/>
            </a:avLst>
          </a:prstGeom>
          <a:solidFill>
            <a:srgbClr val="FBEEF1"/>
          </a:solidFill>
          <a:ln/>
        </p:spPr>
      </p:sp>
      <p:sp>
        <p:nvSpPr>
          <p:cNvPr id="9" name="Text 6"/>
          <p:cNvSpPr/>
          <p:nvPr/>
        </p:nvSpPr>
        <p:spPr>
          <a:xfrm>
            <a:off x="6446520" y="5724144"/>
            <a:ext cx="4992624"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Jigsaw and joint add nothing over a RANDOM projection. A random transformer is a strong baseline — so this means the objective, not the architecture, is the problem.</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914400" y="1828800"/>
            <a:ext cx="10332720" cy="457200"/>
          </a:xfrm>
          <a:prstGeom prst="rect">
            <a:avLst/>
          </a:prstGeom>
          <a:noFill/>
          <a:ln/>
        </p:spPr>
        <p:txBody>
          <a:bodyPr wrap="square" lIns="0" tIns="0" rIns="0" bIns="0" rtlCol="0" anchor="ctr"/>
          <a:lstStyle/>
          <a:p>
            <a:pPr indent="0" marL="0">
              <a:buNone/>
            </a:pPr>
            <a:r>
              <a:rPr lang="en-US" sz="2200" dirty="0">
                <a:solidFill>
                  <a:srgbClr val="7FA8C4"/>
                </a:solidFill>
                <a:latin typeface="Arial" pitchFamily="34" charset="0"/>
                <a:ea typeface="Arial" pitchFamily="34" charset="-122"/>
                <a:cs typeface="Arial" pitchFamily="34" charset="-120"/>
              </a:rPr>
              <a:t>Part 2</a:t>
            </a:r>
            <a:endParaRPr lang="en-US" sz="2200" dirty="0"/>
          </a:p>
        </p:txBody>
      </p:sp>
      <p:sp>
        <p:nvSpPr>
          <p:cNvPr id="3" name="Text 1"/>
          <p:cNvSpPr/>
          <p:nvPr/>
        </p:nvSpPr>
        <p:spPr>
          <a:xfrm>
            <a:off x="914400" y="2331720"/>
            <a:ext cx="10332720" cy="91440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Three things we got wrong</a:t>
            </a:r>
            <a:endParaRPr lang="en-US" sz="4200" dirty="0"/>
          </a:p>
        </p:txBody>
      </p:sp>
      <p:sp>
        <p:nvSpPr>
          <p:cNvPr id="4" name="Text 2"/>
          <p:cNvSpPr/>
          <p:nvPr/>
        </p:nvSpPr>
        <p:spPr>
          <a:xfrm>
            <a:off x="914400" y="3291840"/>
            <a:ext cx="10332720" cy="502920"/>
          </a:xfrm>
          <a:prstGeom prst="rect">
            <a:avLst/>
          </a:prstGeom>
          <a:noFill/>
          <a:ln/>
        </p:spPr>
        <p:txBody>
          <a:bodyPr wrap="square" lIns="0" tIns="0" rIns="0" bIns="0" rtlCol="0" anchor="ctr"/>
          <a:lstStyle/>
          <a:p>
            <a:pPr indent="0" marL="0">
              <a:buNone/>
            </a:pPr>
            <a:r>
              <a:rPr lang="en-US" sz="2300" i="1" dirty="0">
                <a:solidFill>
                  <a:srgbClr val="CADCFC"/>
                </a:solidFill>
                <a:latin typeface="Arial" pitchFamily="34" charset="0"/>
                <a:ea typeface="Arial" pitchFamily="34" charset="-122"/>
                <a:cs typeface="Arial" pitchFamily="34" charset="-120"/>
              </a:rPr>
              <a:t>and the one experiment that caught them all</a:t>
            </a:r>
            <a:endParaRPr lang="en-US" sz="2300" dirty="0"/>
          </a:p>
        </p:txBody>
      </p:sp>
      <p:sp>
        <p:nvSpPr>
          <p:cNvPr id="5" name="Shape 3"/>
          <p:cNvSpPr/>
          <p:nvPr/>
        </p:nvSpPr>
        <p:spPr>
          <a:xfrm>
            <a:off x="914400" y="4261104"/>
            <a:ext cx="3200400" cy="1572768"/>
          </a:xfrm>
          <a:prstGeom prst="roundRect">
            <a:avLst>
              <a:gd name="adj" fmla="val 4651"/>
            </a:avLst>
          </a:prstGeom>
          <a:solidFill>
            <a:srgbClr val="2E3A73"/>
          </a:solidFill>
          <a:ln/>
        </p:spPr>
      </p:sp>
      <p:sp>
        <p:nvSpPr>
          <p:cNvPr id="6" name="Text 4"/>
          <p:cNvSpPr/>
          <p:nvPr/>
        </p:nvSpPr>
        <p:spPr>
          <a:xfrm>
            <a:off x="109728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1</a:t>
            </a:r>
            <a:endParaRPr lang="en-US" sz="2300" dirty="0"/>
          </a:p>
        </p:txBody>
      </p:sp>
      <p:sp>
        <p:nvSpPr>
          <p:cNvPr id="7" name="Text 5"/>
          <p:cNvSpPr/>
          <p:nvPr/>
        </p:nvSpPr>
        <p:spPr>
          <a:xfrm>
            <a:off x="109728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 control that did not control</a:t>
            </a:r>
            <a:endParaRPr lang="en-US" sz="1600" dirty="0"/>
          </a:p>
        </p:txBody>
      </p:sp>
      <p:sp>
        <p:nvSpPr>
          <p:cNvPr id="8" name="Text 6"/>
          <p:cNvSpPr/>
          <p:nvPr/>
        </p:nvSpPr>
        <p:spPr>
          <a:xfrm>
            <a:off x="109728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we read an ablation backwards</a:t>
            </a:r>
            <a:endParaRPr lang="en-US" sz="1400" dirty="0"/>
          </a:p>
        </p:txBody>
      </p:sp>
      <p:sp>
        <p:nvSpPr>
          <p:cNvPr id="9" name="Shape 7"/>
          <p:cNvSpPr/>
          <p:nvPr/>
        </p:nvSpPr>
        <p:spPr>
          <a:xfrm>
            <a:off x="4389120" y="4261104"/>
            <a:ext cx="3200400" cy="1572768"/>
          </a:xfrm>
          <a:prstGeom prst="roundRect">
            <a:avLst>
              <a:gd name="adj" fmla="val 4651"/>
            </a:avLst>
          </a:prstGeom>
          <a:solidFill>
            <a:srgbClr val="2E3A73"/>
          </a:solidFill>
          <a:ln/>
        </p:spPr>
      </p:sp>
      <p:sp>
        <p:nvSpPr>
          <p:cNvPr id="10" name="Text 8"/>
          <p:cNvSpPr/>
          <p:nvPr/>
        </p:nvSpPr>
        <p:spPr>
          <a:xfrm>
            <a:off x="457200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2</a:t>
            </a:r>
            <a:endParaRPr lang="en-US" sz="2300" dirty="0"/>
          </a:p>
        </p:txBody>
      </p:sp>
      <p:sp>
        <p:nvSpPr>
          <p:cNvPr id="11" name="Text 9"/>
          <p:cNvSpPr/>
          <p:nvPr/>
        </p:nvSpPr>
        <p:spPr>
          <a:xfrm>
            <a:off x="457200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 backwards hypothesis</a:t>
            </a:r>
            <a:endParaRPr lang="en-US" sz="1600" dirty="0"/>
          </a:p>
        </p:txBody>
      </p:sp>
      <p:sp>
        <p:nvSpPr>
          <p:cNvPr id="12" name="Text 10"/>
          <p:cNvSpPr/>
          <p:nvPr/>
        </p:nvSpPr>
        <p:spPr>
          <a:xfrm>
            <a:off x="457200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finer patches = an easier task</a:t>
            </a:r>
            <a:endParaRPr lang="en-US" sz="1400" dirty="0"/>
          </a:p>
        </p:txBody>
      </p:sp>
      <p:sp>
        <p:nvSpPr>
          <p:cNvPr id="13" name="Shape 11"/>
          <p:cNvSpPr/>
          <p:nvPr/>
        </p:nvSpPr>
        <p:spPr>
          <a:xfrm>
            <a:off x="7863840" y="4261104"/>
            <a:ext cx="3200400" cy="1572768"/>
          </a:xfrm>
          <a:prstGeom prst="roundRect">
            <a:avLst>
              <a:gd name="adj" fmla="val 4651"/>
            </a:avLst>
          </a:prstGeom>
          <a:solidFill>
            <a:srgbClr val="2E3A73"/>
          </a:solidFill>
          <a:ln/>
        </p:spPr>
      </p:sp>
      <p:sp>
        <p:nvSpPr>
          <p:cNvPr id="14" name="Text 12"/>
          <p:cNvSpPr/>
          <p:nvPr/>
        </p:nvSpPr>
        <p:spPr>
          <a:xfrm>
            <a:off x="804672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3</a:t>
            </a:r>
            <a:endParaRPr lang="en-US" sz="2300" dirty="0"/>
          </a:p>
        </p:txBody>
      </p:sp>
      <p:sp>
        <p:nvSpPr>
          <p:cNvPr id="15" name="Text 13"/>
          <p:cNvSpPr/>
          <p:nvPr/>
        </p:nvSpPr>
        <p:spPr>
          <a:xfrm>
            <a:off x="804672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An effect that never existed</a:t>
            </a:r>
            <a:endParaRPr lang="en-US" sz="1600" dirty="0"/>
          </a:p>
        </p:txBody>
      </p:sp>
      <p:sp>
        <p:nvSpPr>
          <p:cNvPr id="16" name="Text 14"/>
          <p:cNvSpPr/>
          <p:nvPr/>
        </p:nvSpPr>
        <p:spPr>
          <a:xfrm>
            <a:off x="804672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and it was our headline result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1 — a control that did not control anything</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We had an ablation we believed showed 'pretraining does not help'</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17</a:t>
            </a:r>
            <a:endParaRPr lang="en-US" sz="1200" dirty="0"/>
          </a:p>
        </p:txBody>
      </p:sp>
      <p:sp>
        <p:nvSpPr>
          <p:cNvPr id="5" name="Shape 3"/>
          <p:cNvSpPr/>
          <p:nvPr/>
        </p:nvSpPr>
        <p:spPr>
          <a:xfrm>
            <a:off x="502920" y="1508760"/>
            <a:ext cx="5440680" cy="2103120"/>
          </a:xfrm>
          <a:prstGeom prst="roundRect">
            <a:avLst>
              <a:gd name="adj" fmla="val 3478"/>
            </a:avLst>
          </a:prstGeom>
          <a:solidFill>
            <a:srgbClr val="FBEEF1"/>
          </a:solidFill>
          <a:ln/>
        </p:spPr>
      </p:sp>
      <p:sp>
        <p:nvSpPr>
          <p:cNvPr id="6" name="Text 4"/>
          <p:cNvSpPr/>
          <p:nvPr/>
        </p:nvSpPr>
        <p:spPr>
          <a:xfrm>
            <a:off x="777240" y="1664208"/>
            <a:ext cx="4937760" cy="329184"/>
          </a:xfrm>
          <a:prstGeom prst="rect">
            <a:avLst/>
          </a:prstGeom>
          <a:noFill/>
          <a:ln/>
        </p:spPr>
        <p:txBody>
          <a:bodyPr wrap="square" lIns="0" tIns="0" rIns="0" bIns="0" rtlCol="0" anchor="ctr"/>
          <a:lstStyle/>
          <a:p>
            <a:pPr indent="0" marL="0">
              <a:buNone/>
            </a:pPr>
            <a:r>
              <a:rPr lang="en-US" sz="1850" b="1" dirty="0">
                <a:solidFill>
                  <a:srgbClr val="C1435B"/>
                </a:solidFill>
                <a:latin typeface="Arial" pitchFamily="34" charset="0"/>
                <a:ea typeface="Arial" pitchFamily="34" charset="-122"/>
                <a:cs typeface="Arial" pitchFamily="34" charset="-120"/>
              </a:rPr>
              <a:t>What we thought it tested</a:t>
            </a:r>
            <a:endParaRPr lang="en-US" sz="1850" dirty="0"/>
          </a:p>
        </p:txBody>
      </p:sp>
      <p:sp>
        <p:nvSpPr>
          <p:cNvPr id="7" name="Text 5"/>
          <p:cNvSpPr/>
          <p:nvPr/>
        </p:nvSpPr>
        <p:spPr>
          <a:xfrm>
            <a:off x="777240" y="2048256"/>
            <a:ext cx="4937760" cy="141732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"Pretrained backbone vs random backbone." The numbers looked similar, so the reading was: pretraining is not buying us anything.</a:t>
            </a:r>
            <a:endParaRPr lang="en-US" sz="1600" dirty="0"/>
          </a:p>
        </p:txBody>
      </p:sp>
      <p:sp>
        <p:nvSpPr>
          <p:cNvPr id="8" name="Shape 6"/>
          <p:cNvSpPr/>
          <p:nvPr/>
        </p:nvSpPr>
        <p:spPr>
          <a:xfrm>
            <a:off x="6217920" y="1508760"/>
            <a:ext cx="5440680" cy="2103120"/>
          </a:xfrm>
          <a:prstGeom prst="roundRect">
            <a:avLst>
              <a:gd name="adj" fmla="val 3478"/>
            </a:avLst>
          </a:prstGeom>
          <a:solidFill>
            <a:srgbClr val="EBF5EE"/>
          </a:solidFill>
          <a:ln/>
        </p:spPr>
      </p:sp>
      <p:sp>
        <p:nvSpPr>
          <p:cNvPr id="9" name="Text 7"/>
          <p:cNvSpPr/>
          <p:nvPr/>
        </p:nvSpPr>
        <p:spPr>
          <a:xfrm>
            <a:off x="6492240" y="1664208"/>
            <a:ext cx="4937760" cy="329184"/>
          </a:xfrm>
          <a:prstGeom prst="rect">
            <a:avLst/>
          </a:prstGeom>
          <a:noFill/>
          <a:ln/>
        </p:spPr>
        <p:txBody>
          <a:bodyPr wrap="square" lIns="0" tIns="0" rIns="0" bIns="0" rtlCol="0" anchor="ctr"/>
          <a:lstStyle/>
          <a:p>
            <a:pPr indent="0" marL="0">
              <a:buNone/>
            </a:pPr>
            <a:r>
              <a:rPr lang="en-US" sz="1850" b="1" dirty="0">
                <a:solidFill>
                  <a:srgbClr val="1A7A3C"/>
                </a:solidFill>
                <a:latin typeface="Arial" pitchFamily="34" charset="0"/>
                <a:ea typeface="Arial" pitchFamily="34" charset="-122"/>
                <a:cs typeface="Arial" pitchFamily="34" charset="-120"/>
              </a:rPr>
              <a:t>What it actually tested</a:t>
            </a:r>
            <a:endParaRPr lang="en-US" sz="1850" dirty="0"/>
          </a:p>
        </p:txBody>
      </p:sp>
      <p:sp>
        <p:nvSpPr>
          <p:cNvPr id="10" name="Text 8"/>
          <p:cNvSpPr/>
          <p:nvPr/>
        </p:nvSpPr>
        <p:spPr>
          <a:xfrm>
            <a:off x="6492240" y="2048256"/>
            <a:ext cx="4937760" cy="141732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It re-initialised only the layers that were being UNFROZEN for fine-tuning, leaving the rest pretrained — and the head was underfit in both arms, which masked the difference.</a:t>
            </a:r>
            <a:endParaRPr lang="en-US" sz="1600" dirty="0"/>
          </a:p>
        </p:txBody>
      </p:sp>
      <p:sp>
        <p:nvSpPr>
          <p:cNvPr id="11" name="Shape 9"/>
          <p:cNvSpPr/>
          <p:nvPr/>
        </p:nvSpPr>
        <p:spPr>
          <a:xfrm>
            <a:off x="502920" y="3840480"/>
            <a:ext cx="11155680" cy="1234440"/>
          </a:xfrm>
          <a:prstGeom prst="roundRect">
            <a:avLst>
              <a:gd name="adj" fmla="val 5926"/>
            </a:avLst>
          </a:prstGeom>
          <a:solidFill>
            <a:srgbClr val="EEF3F7"/>
          </a:solidFill>
          <a:ln/>
        </p:spPr>
      </p:sp>
      <p:sp>
        <p:nvSpPr>
          <p:cNvPr id="12" name="Text 10"/>
          <p:cNvSpPr/>
          <p:nvPr/>
        </p:nvSpPr>
        <p:spPr>
          <a:xfrm>
            <a:off x="777240" y="3968496"/>
            <a:ext cx="182880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The fix</a:t>
            </a:r>
            <a:endParaRPr lang="en-US" sz="1800" dirty="0"/>
          </a:p>
        </p:txBody>
      </p:sp>
      <p:sp>
        <p:nvSpPr>
          <p:cNvPr id="13" name="Text 11"/>
          <p:cNvSpPr/>
          <p:nvPr/>
        </p:nvSpPr>
        <p:spPr>
          <a:xfrm>
            <a:off x="777240" y="4297680"/>
            <a:ext cx="10607040" cy="685800"/>
          </a:xfrm>
          <a:prstGeom prst="rect">
            <a:avLst/>
          </a:prstGeom>
          <a:noFill/>
          <a:ln/>
        </p:spPr>
        <p:txBody>
          <a:bodyPr wrap="square" lIns="0" tIns="0" rIns="0" bIns="0" rtlCol="0" anchor="ctr"/>
          <a:lstStyle/>
          <a:p>
            <a:pPr indent="0" marL="0">
              <a:lnSpc>
                <a:spcPts val="2000"/>
              </a:lnSpc>
              <a:buNone/>
            </a:pPr>
            <a:r>
              <a:rPr lang="en-US" sz="1650" dirty="0">
                <a:solidFill>
                  <a:srgbClr val="1A1A1A"/>
                </a:solidFill>
                <a:latin typeface="Arial" pitchFamily="34" charset="0"/>
                <a:ea typeface="Arial" pitchFamily="34" charset="-122"/>
                <a:cs typeface="Arial" pitchFamily="34" charset="-120"/>
              </a:rPr>
              <a:t>Build a genuine control: load NO pretrained weights anywhere (patch embedding and positional encoding included), and hold the classifier fixed at a converged LogReg in both arms. That is the experiment on the previous slide — and read correctly, masked pretraining HELPS by +0.117.</a:t>
            </a:r>
            <a:endParaRPr lang="en-US" sz="1650" dirty="0"/>
          </a:p>
        </p:txBody>
      </p:sp>
      <p:sp>
        <p:nvSpPr>
          <p:cNvPr id="14" name="Shape 12"/>
          <p:cNvSpPr/>
          <p:nvPr/>
        </p:nvSpPr>
        <p:spPr>
          <a:xfrm>
            <a:off x="502920" y="5212080"/>
            <a:ext cx="11155680" cy="1024128"/>
          </a:xfrm>
          <a:prstGeom prst="roundRect">
            <a:avLst>
              <a:gd name="adj" fmla="val 7143"/>
            </a:avLst>
          </a:prstGeom>
          <a:solidFill>
            <a:srgbClr val="EBF5EE"/>
          </a:solidFill>
          <a:ln/>
        </p:spPr>
      </p:sp>
      <p:sp>
        <p:nvSpPr>
          <p:cNvPr id="15" name="Text 13"/>
          <p:cNvSpPr/>
          <p:nvPr/>
        </p:nvSpPr>
        <p:spPr>
          <a:xfrm>
            <a:off x="777240" y="5321808"/>
            <a:ext cx="10607040" cy="292608"/>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Lesson</a:t>
            </a:r>
            <a:endParaRPr lang="en-US" sz="1700" dirty="0"/>
          </a:p>
        </p:txBody>
      </p:sp>
      <p:sp>
        <p:nvSpPr>
          <p:cNvPr id="16" name="Text 14"/>
          <p:cNvSpPr/>
          <p:nvPr/>
        </p:nvSpPr>
        <p:spPr>
          <a:xfrm>
            <a:off x="777240" y="5614416"/>
            <a:ext cx="10607040" cy="512064"/>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A control has to be checked as carefully as the thing it controls. We now verify explicitly that a random-init arm produces genuinely different embeddings before trusting it.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2 — a hypothesis that was exactly backwards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Our best explanation for the representation ceiling, tested properly and refuted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18</a:t>
            </a:r>
            <a:endParaRPr lang="en-US" sz="1200" dirty="0"/>
          </a:p>
        </p:txBody>
      </p:sp>
      <p:sp>
        <p:nvSpPr>
          <p:cNvPr id="5" name="Shape 3"/>
          <p:cNvSpPr/>
          <p:nvPr/>
        </p:nvSpPr>
        <p:spPr>
          <a:xfrm>
            <a:off x="502920" y="1481328"/>
            <a:ext cx="11155680" cy="1024128"/>
          </a:xfrm>
          <a:prstGeom prst="roundRect">
            <a:avLst>
              <a:gd name="adj" fmla="val 7143"/>
            </a:avLst>
          </a:prstGeom>
          <a:solidFill>
            <a:srgbClr val="EEF3F7"/>
          </a:solidFill>
          <a:ln/>
        </p:spPr>
      </p:sp>
      <p:sp>
        <p:nvSpPr>
          <p:cNvPr id="6" name="Text 4"/>
          <p:cNvSpPr/>
          <p:nvPr/>
        </p:nvSpPr>
        <p:spPr>
          <a:xfrm>
            <a:off x="777240" y="1591056"/>
            <a:ext cx="5120640" cy="310896"/>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The hypothesis (very reasonable)</a:t>
            </a:r>
            <a:endParaRPr lang="en-US" sz="1750" dirty="0"/>
          </a:p>
        </p:txBody>
      </p:sp>
      <p:sp>
        <p:nvSpPr>
          <p:cNvPr id="7" name="Text 5"/>
          <p:cNvSpPr/>
          <p:nvPr/>
        </p:nvSpPr>
        <p:spPr>
          <a:xfrm>
            <a:off x="777240" y="1920240"/>
            <a:ext cx="10607040" cy="512064"/>
          </a:xfrm>
          <a:prstGeom prst="rect">
            <a:avLst/>
          </a:prstGeom>
          <a:noFill/>
          <a:ln/>
        </p:spPr>
        <p:txBody>
          <a:bodyPr wrap="square" lIns="0" tIns="0" rIns="0" bIns="0" rtlCol="0" anchor="ctr"/>
          <a:lstStyle/>
          <a:p>
            <a:pPr indent="0" marL="0">
              <a:lnSpc>
                <a:spcPts val="2000"/>
              </a:lnSpc>
              <a:buNone/>
            </a:pPr>
            <a:r>
              <a:rPr lang="en-US" sz="1650" dirty="0">
                <a:solidFill>
                  <a:srgbClr val="1A1A1A"/>
                </a:solidFill>
                <a:latin typeface="Arial" pitchFamily="34" charset="0"/>
                <a:ea typeface="Arial" pitchFamily="34" charset="-122"/>
                <a:cs typeface="Arial" pitchFamily="34" charset="-120"/>
              </a:rPr>
              <a:t>The backbone turns 131,072 points into 128 tokens, so it cannot represent detail finer than 128 positions. Classical LogReg uses 1,024 bins — 8× finer. So: shrink the patch, gain resolution.</a:t>
            </a:r>
            <a:endParaRPr lang="en-US" sz="16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70048"/>
          <a:ext cx="11155680" cy="914400"/>
        </p:xfrm>
        <a:graphic>
          <a:graphicData uri="http://schemas.openxmlformats.org/drawingml/2006/table">
            <a:tbl>
              <a:tblPr/>
              <a:tblGrid>
                <a:gridCol w="3017520"/>
                <a:gridCol w="1280160"/>
                <a:gridCol w="1554480"/>
                <a:gridCol w="1554480"/>
                <a:gridCol w="1371600"/>
                <a:gridCol w="1371600"/>
                <a:gridCol w="1005840"/>
              </a:tblGrid>
              <a:tr h="384048">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Backbone</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MTBLS326</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BrC diab</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mean Δ</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1024 (128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0.806</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1.000</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0.859</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0.780</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0.618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baseline</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256 (512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0.598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0.907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0.832</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0.783</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0.581</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C1435B"/>
                          </a:solidFill>
                          <a:latin typeface="Arial" pitchFamily="34" charset="0"/>
                          <a:ea typeface="Arial" pitchFamily="34" charset="-122"/>
                          <a:cs typeface="Arial" pitchFamily="34" charset="-120"/>
                        </a:rPr>
                        <a:t>−0.072</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128 (1024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0.655</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0.911</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0.768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0.738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0.607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C1435B"/>
                          </a:solidFill>
                          <a:latin typeface="Arial" pitchFamily="34" charset="0"/>
                          <a:ea typeface="Arial" pitchFamily="34" charset="-122"/>
                          <a:cs typeface="Arial" pitchFamily="34" charset="-120"/>
                        </a:rPr>
                        <a:t>−0.077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bl>
          </a:graphicData>
        </a:graphic>
      </p:graphicFrame>
      <p:sp>
        <p:nvSpPr>
          <p:cNvPr id="9" name="Text 6"/>
          <p:cNvSpPr/>
          <p:nvPr/>
        </p:nvSpPr>
        <p:spPr>
          <a:xfrm>
            <a:off x="502920" y="4297680"/>
            <a:ext cx="11155680" cy="310896"/>
          </a:xfrm>
          <a:prstGeom prst="rect">
            <a:avLst/>
          </a:prstGeom>
          <a:noFill/>
          <a:ln/>
        </p:spPr>
        <p:txBody>
          <a:bodyPr wrap="square" lIns="0" tIns="0" rIns="0" bIns="0" rtlCol="0" anchor="ctr"/>
          <a:lstStyle/>
          <a:p>
            <a:pPr algn="ctr" indent="0" marL="0">
              <a:buNone/>
            </a:pPr>
            <a:r>
              <a:rPr lang="en-US" sz="1650" b="1" dirty="0">
                <a:solidFill>
                  <a:srgbClr val="C1435B"/>
                </a:solidFill>
                <a:latin typeface="Arial" pitchFamily="34" charset="0"/>
                <a:ea typeface="Arial" pitchFamily="34" charset="-122"/>
                <a:cs typeface="Arial" pitchFamily="34" charset="-120"/>
              </a:rPr>
              <a:t>Finer patches won 0 of 5 targets — both arms were worse.</a:t>
            </a:r>
            <a:endParaRPr lang="en-US" sz="1650" dirty="0"/>
          </a:p>
        </p:txBody>
      </p:sp>
      <p:sp>
        <p:nvSpPr>
          <p:cNvPr id="10" name="Shape 7"/>
          <p:cNvSpPr/>
          <p:nvPr/>
        </p:nvSpPr>
        <p:spPr>
          <a:xfrm>
            <a:off x="502920" y="4773168"/>
            <a:ext cx="11155680" cy="1444752"/>
          </a:xfrm>
          <a:prstGeom prst="roundRect">
            <a:avLst>
              <a:gd name="adj" fmla="val 5063"/>
            </a:avLst>
          </a:prstGeom>
          <a:solidFill>
            <a:srgbClr val="EBF5EE"/>
          </a:solidFill>
          <a:ln/>
        </p:spPr>
      </p:sp>
      <p:sp>
        <p:nvSpPr>
          <p:cNvPr id="11" name="Text 8"/>
          <p:cNvSpPr/>
          <p:nvPr/>
        </p:nvSpPr>
        <p:spPr>
          <a:xfrm>
            <a:off x="777240" y="4864608"/>
            <a:ext cx="7315200" cy="310896"/>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Why it failed — and this is the interesting part</a:t>
            </a:r>
            <a:endParaRPr lang="en-US" sz="1750" dirty="0"/>
          </a:p>
        </p:txBody>
      </p:sp>
      <p:sp>
        <p:nvSpPr>
          <p:cNvPr id="12" name="Text 9"/>
          <p:cNvSpPr/>
          <p:nvPr/>
        </p:nvSpPr>
        <p:spPr>
          <a:xfrm>
            <a:off x="777240" y="5193792"/>
            <a:ext cx="10607040" cy="95097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Validation reconstruction loss FELL as patches shrank: 9.3×10⁻⁵ → 5.6×10⁻⁵ → 4.4×10⁻⁵. A masked 128-point patch is largely interpolable from its neighbours, so shrinking the patch made the pretext task EASIER, not more informative — the model can solve it by local smoothing without learning any metabolite structure. Patch size and mask ratio jointly set task difficulty; we moved the wrong knob.</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3 — the big one. An effect that was never there.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How a single number became the largest reported result in the project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19</a:t>
            </a:r>
            <a:endParaRPr lang="en-US" sz="1200" dirty="0"/>
          </a:p>
        </p:txBody>
      </p:sp>
      <p:sp>
        <p:nvSpPr>
          <p:cNvPr id="5" name="Shape 3"/>
          <p:cNvSpPr/>
          <p:nvPr/>
        </p:nvSpPr>
        <p:spPr>
          <a:xfrm>
            <a:off x="502920" y="1444752"/>
            <a:ext cx="11155680" cy="841248"/>
          </a:xfrm>
          <a:prstGeom prst="roundRect">
            <a:avLst>
              <a:gd name="adj" fmla="val 8696"/>
            </a:avLst>
          </a:prstGeom>
          <a:solidFill>
            <a:srgbClr val="EEF3F7"/>
          </a:solidFill>
          <a:ln/>
        </p:spPr>
      </p:sp>
      <p:sp>
        <p:nvSpPr>
          <p:cNvPr id="6" name="Shape 4"/>
          <p:cNvSpPr/>
          <p:nvPr/>
        </p:nvSpPr>
        <p:spPr>
          <a:xfrm>
            <a:off x="713232" y="1609344"/>
            <a:ext cx="512064" cy="512064"/>
          </a:xfrm>
          <a:prstGeom prst="ellipse">
            <a:avLst/>
          </a:prstGeom>
          <a:solidFill>
            <a:srgbClr val="065A82"/>
          </a:solidFill>
          <a:ln/>
        </p:spPr>
      </p:sp>
      <p:sp>
        <p:nvSpPr>
          <p:cNvPr id="7" name="Text 5"/>
          <p:cNvSpPr/>
          <p:nvPr/>
        </p:nvSpPr>
        <p:spPr>
          <a:xfrm>
            <a:off x="713232" y="16093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389888" y="1499616"/>
            <a:ext cx="2468880" cy="329184"/>
          </a:xfrm>
          <a:prstGeom prst="rect">
            <a:avLst/>
          </a:prstGeom>
          <a:noFill/>
          <a:ln/>
        </p:spPr>
        <p:txBody>
          <a:bodyPr wrap="square" lIns="0" tIns="0" rIns="0" bIns="0" rtlCol="0" anchor="ctr"/>
          <a:lstStyle/>
          <a:p>
            <a:pPr indent="0" marL="0">
              <a:buNone/>
            </a:pPr>
            <a:r>
              <a:rPr lang="en-US" sz="1700" b="1" dirty="0">
                <a:solidFill>
                  <a:srgbClr val="065A82"/>
                </a:solidFill>
                <a:latin typeface="Arial" pitchFamily="34" charset="0"/>
                <a:ea typeface="Arial" pitchFamily="34" charset="-122"/>
                <a:cs typeface="Arial" pitchFamily="34" charset="-120"/>
              </a:rPr>
              <a:t>July</a:t>
            </a:r>
            <a:endParaRPr lang="en-US" sz="1700" dirty="0"/>
          </a:p>
        </p:txBody>
      </p:sp>
      <p:sp>
        <p:nvSpPr>
          <p:cNvPr id="9" name="Text 7"/>
          <p:cNvSpPr/>
          <p:nvPr/>
        </p:nvSpPr>
        <p:spPr>
          <a:xfrm>
            <a:off x="3886200" y="1499616"/>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A new experiment needed a v4-pretrained baseline. We trained one.</a:t>
            </a:r>
            <a:endParaRPr lang="en-US" sz="1500" dirty="0"/>
          </a:p>
        </p:txBody>
      </p:sp>
      <p:sp>
        <p:nvSpPr>
          <p:cNvPr id="10" name="Shape 8"/>
          <p:cNvSpPr/>
          <p:nvPr/>
        </p:nvSpPr>
        <p:spPr>
          <a:xfrm>
            <a:off x="502920" y="2505456"/>
            <a:ext cx="11155680" cy="841248"/>
          </a:xfrm>
          <a:prstGeom prst="roundRect">
            <a:avLst>
              <a:gd name="adj" fmla="val 8696"/>
            </a:avLst>
          </a:prstGeom>
          <a:solidFill>
            <a:srgbClr val="EEF3F7"/>
          </a:solidFill>
          <a:ln/>
        </p:spPr>
      </p:sp>
      <p:sp>
        <p:nvSpPr>
          <p:cNvPr id="11" name="Shape 9"/>
          <p:cNvSpPr/>
          <p:nvPr/>
        </p:nvSpPr>
        <p:spPr>
          <a:xfrm>
            <a:off x="713232" y="2670048"/>
            <a:ext cx="512064" cy="512064"/>
          </a:xfrm>
          <a:prstGeom prst="ellipse">
            <a:avLst/>
          </a:prstGeom>
          <a:solidFill>
            <a:srgbClr val="1C7293"/>
          </a:solidFill>
          <a:ln/>
        </p:spPr>
      </p:sp>
      <p:sp>
        <p:nvSpPr>
          <p:cNvPr id="12" name="Text 10"/>
          <p:cNvSpPr/>
          <p:nvPr/>
        </p:nvSpPr>
        <p:spPr>
          <a:xfrm>
            <a:off x="713232" y="267004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1389888" y="2560320"/>
            <a:ext cx="2468880" cy="329184"/>
          </a:xfrm>
          <a:prstGeom prst="rect">
            <a:avLst/>
          </a:prstGeom>
          <a:noFill/>
          <a:ln/>
        </p:spPr>
        <p:txBody>
          <a:bodyPr wrap="square" lIns="0" tIns="0" rIns="0" bIns="0" rtlCol="0" anchor="ctr"/>
          <a:lstStyle/>
          <a:p>
            <a:pPr indent="0" marL="0">
              <a:buNone/>
            </a:pPr>
            <a:r>
              <a:rPr lang="en-US" sz="1700" b="1" dirty="0">
                <a:solidFill>
                  <a:srgbClr val="1C7293"/>
                </a:solidFill>
                <a:latin typeface="Arial" pitchFamily="34" charset="0"/>
                <a:ea typeface="Arial" pitchFamily="34" charset="-122"/>
                <a:cs typeface="Arial" pitchFamily="34" charset="-120"/>
              </a:rPr>
              <a:t>The observation</a:t>
            </a:r>
            <a:endParaRPr lang="en-US" sz="1700" dirty="0"/>
          </a:p>
        </p:txBody>
      </p:sp>
      <p:sp>
        <p:nvSpPr>
          <p:cNvPr id="14" name="Text 12"/>
          <p:cNvSpPr/>
          <p:nvPr/>
        </p:nvSpPr>
        <p:spPr>
          <a:xfrm>
            <a:off x="3886200" y="2560320"/>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It scored 0.820 held-out. The v3 checkpoint every earlier number used scored 0.888. Same architecture, same hyperparameters, config verified byte-identical.</a:t>
            </a:r>
            <a:endParaRPr lang="en-US" sz="1500" dirty="0"/>
          </a:p>
        </p:txBody>
      </p:sp>
      <p:sp>
        <p:nvSpPr>
          <p:cNvPr id="15" name="Shape 13"/>
          <p:cNvSpPr/>
          <p:nvPr/>
        </p:nvSpPr>
        <p:spPr>
          <a:xfrm>
            <a:off x="502920" y="3566160"/>
            <a:ext cx="11155680" cy="841248"/>
          </a:xfrm>
          <a:prstGeom prst="roundRect">
            <a:avLst>
              <a:gd name="adj" fmla="val 8696"/>
            </a:avLst>
          </a:prstGeom>
          <a:solidFill>
            <a:srgbClr val="FBEEF1"/>
          </a:solidFill>
          <a:ln/>
        </p:spPr>
      </p:sp>
      <p:sp>
        <p:nvSpPr>
          <p:cNvPr id="16" name="Shape 14"/>
          <p:cNvSpPr/>
          <p:nvPr/>
        </p:nvSpPr>
        <p:spPr>
          <a:xfrm>
            <a:off x="713232" y="3730752"/>
            <a:ext cx="512064" cy="512064"/>
          </a:xfrm>
          <a:prstGeom prst="ellipse">
            <a:avLst/>
          </a:prstGeom>
          <a:solidFill>
            <a:srgbClr val="C1435B"/>
          </a:solidFill>
          <a:ln/>
        </p:spPr>
      </p:sp>
      <p:sp>
        <p:nvSpPr>
          <p:cNvPr id="17" name="Text 15"/>
          <p:cNvSpPr/>
          <p:nvPr/>
        </p:nvSpPr>
        <p:spPr>
          <a:xfrm>
            <a:off x="713232" y="373075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p:nvPr/>
        </p:nvSpPr>
        <p:spPr>
          <a:xfrm>
            <a:off x="1389888" y="3621024"/>
            <a:ext cx="2468880" cy="329184"/>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The conclusion we drew</a:t>
            </a:r>
            <a:endParaRPr lang="en-US" sz="1700" dirty="0"/>
          </a:p>
        </p:txBody>
      </p:sp>
      <p:sp>
        <p:nvSpPr>
          <p:cNvPr id="19" name="Text 17"/>
          <p:cNvSpPr/>
          <p:nvPr/>
        </p:nvSpPr>
        <p:spPr>
          <a:xfrm>
            <a:off x="3886200" y="3621024"/>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pretraining corpus version is worth +0.069 — larger than every other effect we have measured." We even recommended reverting to v3.</a:t>
            </a:r>
            <a:endParaRPr lang="en-US" sz="1500" dirty="0"/>
          </a:p>
        </p:txBody>
      </p:sp>
      <p:sp>
        <p:nvSpPr>
          <p:cNvPr id="20" name="Shape 18"/>
          <p:cNvSpPr/>
          <p:nvPr/>
        </p:nvSpPr>
        <p:spPr>
          <a:xfrm>
            <a:off x="502920" y="4626864"/>
            <a:ext cx="11155680" cy="841248"/>
          </a:xfrm>
          <a:prstGeom prst="roundRect">
            <a:avLst>
              <a:gd name="adj" fmla="val 8696"/>
            </a:avLst>
          </a:prstGeom>
          <a:solidFill>
            <a:srgbClr val="EEF3F7"/>
          </a:solidFill>
          <a:ln/>
        </p:spPr>
      </p:sp>
      <p:sp>
        <p:nvSpPr>
          <p:cNvPr id="21" name="Shape 19"/>
          <p:cNvSpPr/>
          <p:nvPr/>
        </p:nvSpPr>
        <p:spPr>
          <a:xfrm>
            <a:off x="713232" y="4791456"/>
            <a:ext cx="512064" cy="512064"/>
          </a:xfrm>
          <a:prstGeom prst="ellipse">
            <a:avLst/>
          </a:prstGeom>
          <a:solidFill>
            <a:srgbClr val="B8860B"/>
          </a:solidFill>
          <a:ln/>
        </p:spPr>
      </p:sp>
      <p:sp>
        <p:nvSpPr>
          <p:cNvPr id="22" name="Text 20"/>
          <p:cNvSpPr/>
          <p:nvPr/>
        </p:nvSpPr>
        <p:spPr>
          <a:xfrm>
            <a:off x="713232" y="479145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3" name="Text 21"/>
          <p:cNvSpPr/>
          <p:nvPr/>
        </p:nvSpPr>
        <p:spPr>
          <a:xfrm>
            <a:off x="1389888" y="4681728"/>
            <a:ext cx="2468880" cy="329184"/>
          </a:xfrm>
          <a:prstGeom prst="rect">
            <a:avLst/>
          </a:prstGeom>
          <a:noFill/>
          <a:ln/>
        </p:spPr>
        <p:txBody>
          <a:bodyPr wrap="square" lIns="0" tIns="0" rIns="0" bIns="0" rtlCol="0" anchor="ctr"/>
          <a:lstStyle/>
          <a:p>
            <a:pPr indent="0" marL="0">
              <a:buNone/>
            </a:pPr>
            <a:r>
              <a:rPr lang="en-US" sz="1700" b="1" dirty="0">
                <a:solidFill>
                  <a:srgbClr val="B8860B"/>
                </a:solidFill>
                <a:latin typeface="Arial" pitchFamily="34" charset="0"/>
                <a:ea typeface="Arial" pitchFamily="34" charset="-122"/>
                <a:cs typeface="Arial" pitchFamily="34" charset="-120"/>
              </a:rPr>
              <a:t>What we did next</a:t>
            </a:r>
            <a:endParaRPr lang="en-US" sz="1700" dirty="0"/>
          </a:p>
        </p:txBody>
      </p:sp>
      <p:sp>
        <p:nvSpPr>
          <p:cNvPr id="24" name="Text 22"/>
          <p:cNvSpPr/>
          <p:nvPr/>
        </p:nvSpPr>
        <p:spPr>
          <a:xfrm>
            <a:off x="3886200" y="4681728"/>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Two more experiments (#8, #13) hunting the MECHANISM: was it the 164 differing rows? Was it corpus size? Both came back inconclusive.</a:t>
            </a:r>
            <a:endParaRPr lang="en-US" sz="1500" dirty="0"/>
          </a:p>
        </p:txBody>
      </p:sp>
      <p:sp>
        <p:nvSpPr>
          <p:cNvPr id="25" name="Shape 23"/>
          <p:cNvSpPr/>
          <p:nvPr/>
        </p:nvSpPr>
        <p:spPr>
          <a:xfrm>
            <a:off x="502920" y="5705856"/>
            <a:ext cx="11155680" cy="658368"/>
          </a:xfrm>
          <a:prstGeom prst="roundRect">
            <a:avLst>
              <a:gd name="adj" fmla="val 11111"/>
            </a:avLst>
          </a:prstGeom>
          <a:solidFill>
            <a:srgbClr val="21295C"/>
          </a:solidFill>
          <a:ln/>
        </p:spPr>
      </p:sp>
      <p:sp>
        <p:nvSpPr>
          <p:cNvPr id="26" name="Text 24"/>
          <p:cNvSpPr/>
          <p:nvPr/>
        </p:nvSpPr>
        <p:spPr>
          <a:xfrm>
            <a:off x="777240" y="5788152"/>
            <a:ext cx="10607040" cy="512064"/>
          </a:xfrm>
          <a:prstGeom prst="rect">
            <a:avLst/>
          </a:prstGeom>
          <a:noFill/>
          <a:ln/>
        </p:spPr>
        <p:txBody>
          <a:bodyPr wrap="square" lIns="0" tIns="0" rIns="0" bIns="0" rtlCol="0" anchor="ctr"/>
          <a:lstStyle/>
          <a:p>
            <a:pPr indent="0" marL="0">
              <a:buNone/>
            </a:pPr>
            <a:r>
              <a:rPr lang="en-US" sz="1650" b="1" dirty="0">
                <a:solidFill>
                  <a:srgbClr val="FFFFFF"/>
                </a:solidFill>
                <a:latin typeface="Arial" pitchFamily="34" charset="0"/>
                <a:ea typeface="Arial" pitchFamily="34" charset="-122"/>
                <a:cs typeface="Arial" pitchFamily="34" charset="-120"/>
              </a:rPr>
              <a:t>Nobody asked the obvious question: how much does the SAME configuration vary between two training runs?</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Experiment #15 — so we finally measured the noise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Ten pretraining runs, five per corpus, identical config differing only by random seed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20</a:t>
            </a:r>
            <a:endParaRPr lang="en-US" sz="1200" dirty="0"/>
          </a:p>
        </p:txBody>
      </p:sp>
      <p:pic>
        <p:nvPicPr>
          <p:cNvPr id="5" name="Image 0" descr="/home/nmrbox/0012/shasharma/Desktop/NMR_Metabolomics/docs/gm_figures/gm04_seed_study.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FBEEF1"/>
          </a:solidFill>
          <a:ln/>
        </p:spPr>
      </p:sp>
      <p:sp>
        <p:nvSpPr>
          <p:cNvPr id="7" name="Text 4"/>
          <p:cNvSpPr/>
          <p:nvPr/>
        </p:nvSpPr>
        <p:spPr>
          <a:xfrm>
            <a:off x="777240" y="5742432"/>
            <a:ext cx="10607040" cy="603504"/>
          </a:xfrm>
          <a:prstGeom prst="rect">
            <a:avLst/>
          </a:prstGeom>
          <a:noFill/>
          <a:ln/>
        </p:spPr>
        <p:txBody>
          <a:bodyPr wrap="square" lIns="0" tIns="0" rIns="0" bIns="0" rtlCol="0" anchor="ctr"/>
          <a:lstStyle/>
          <a:p>
            <a:pPr indent="0" marL="0">
              <a:lnSpc>
                <a:spcPts val="1700"/>
              </a:lnSpc>
              <a:buNone/>
            </a:pPr>
            <a:r>
              <a:rPr lang="en-US" sz="1550" dirty="0">
                <a:solidFill>
                  <a:srgbClr val="1A1A1A"/>
                </a:solidFill>
                <a:latin typeface="Arial" pitchFamily="34" charset="0"/>
                <a:ea typeface="Arial" pitchFamily="34" charset="-122"/>
                <a:cs typeface="Arial" pitchFamily="34" charset="-120"/>
              </a:rPr>
              <a:t>The 0.888 reference was rank 1 of 5 and sits +1.6 sd above its own distribution. The gap does not shrink — it vanishes and marginally reverses. §5f retracted; experiments #8 and #13 were hunting the mechanism of a non-effect.</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worse news — the noise floor was 2× what we assumed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 single-run claim in the project, re-scored against the measured spread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21</a:t>
            </a:r>
            <a:endParaRPr lang="en-US" sz="1200" dirty="0"/>
          </a:p>
        </p:txBody>
      </p:sp>
      <p:pic>
        <p:nvPicPr>
          <p:cNvPr id="5" name="Image 0" descr="/home/nmrbox/0012/shasharma/Desktop/NMR_Metabolomics/docs/gm_figures/gm05_recalibration.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532120" cy="731520"/>
          </a:xfrm>
          <a:prstGeom prst="roundRect">
            <a:avLst>
              <a:gd name="adj" fmla="val 10000"/>
            </a:avLst>
          </a:prstGeom>
          <a:solidFill>
            <a:srgbClr val="FBEEF1"/>
          </a:solidFill>
          <a:ln/>
        </p:spPr>
      </p:sp>
      <p:sp>
        <p:nvSpPr>
          <p:cNvPr id="7" name="Text 4"/>
          <p:cNvSpPr/>
          <p:nvPr/>
        </p:nvSpPr>
        <p:spPr>
          <a:xfrm>
            <a:off x="731520" y="5724144"/>
            <a:ext cx="507492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Measured sd = 0.045 on the held-out mean; per target up to 0.076 (Barth). We had been using 0.020 — which came from three runs whose errors happened to cancel.</a:t>
            </a:r>
            <a:endParaRPr lang="en-US" sz="1450" dirty="0"/>
          </a:p>
        </p:txBody>
      </p:sp>
      <p:sp>
        <p:nvSpPr>
          <p:cNvPr id="8" name="Shape 5"/>
          <p:cNvSpPr/>
          <p:nvPr/>
        </p:nvSpPr>
        <p:spPr>
          <a:xfrm>
            <a:off x="6309360" y="5669280"/>
            <a:ext cx="5349240" cy="731520"/>
          </a:xfrm>
          <a:prstGeom prst="roundRect">
            <a:avLst>
              <a:gd name="adj" fmla="val 10000"/>
            </a:avLst>
          </a:prstGeom>
          <a:solidFill>
            <a:srgbClr val="EBF5EE"/>
          </a:solidFill>
          <a:ln/>
        </p:spPr>
      </p:sp>
      <p:sp>
        <p:nvSpPr>
          <p:cNvPr id="9" name="Text 6"/>
          <p:cNvSpPr/>
          <p:nvPr/>
        </p:nvSpPr>
        <p:spPr>
          <a:xfrm>
            <a:off x="6537960" y="5724144"/>
            <a:ext cx="489204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New standing rule: no single-run difference below 0.09 is an effect. Either ≥5 replicates (~23 GPU-h) or a paired comparison — budgeted up front.</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Applying that noise floor to our one win</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Barth was the single target where SSL beat classical ML — so it had to be re-read the same way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22</a:t>
            </a:r>
            <a:endParaRPr lang="en-US" sz="1200" dirty="0"/>
          </a:p>
        </p:txBody>
      </p:sp>
      <p:pic>
        <p:nvPicPr>
          <p:cNvPr id="5" name="Image 0" descr="/home/nmrbox/0012/shasharma/Desktop/NMR_Metabolomics/docs/gm_figures/gm09_barth_seeds.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11155680" cy="749808"/>
          </a:xfrm>
          <a:prstGeom prst="roundRect">
            <a:avLst>
              <a:gd name="adj" fmla="val 9756"/>
            </a:avLst>
          </a:prstGeom>
          <a:solidFill>
            <a:srgbClr val="FBEEF1"/>
          </a:solidFill>
          <a:ln/>
        </p:spPr>
      </p:sp>
      <p:sp>
        <p:nvSpPr>
          <p:cNvPr id="7" name="Text 4"/>
          <p:cNvSpPr/>
          <p:nvPr/>
        </p:nvSpPr>
        <p:spPr>
          <a:xfrm>
            <a:off x="777240" y="5724144"/>
            <a:ext cx="10607040" cy="676656"/>
          </a:xfrm>
          <a:prstGeom prst="rect">
            <a:avLst/>
          </a:prstGeom>
          <a:noFill/>
          <a:ln/>
        </p:spPr>
        <p:txBody>
          <a:bodyPr wrap="square" lIns="0" tIns="0" rIns="0" bIns="0" rtlCol="0" anchor="ctr"/>
          <a:lstStyle/>
          <a:p>
            <a:pPr indent="0" marL="0">
              <a:lnSpc>
                <a:spcPts val="1800"/>
              </a:lnSpc>
              <a:buNone/>
            </a:pPr>
            <a:r>
              <a:rPr lang="en-US" sz="1500" b="1" dirty="0">
                <a:solidFill>
                  <a:srgbClr val="C1435B"/>
                </a:solidFill>
                <a:latin typeface="Arial" pitchFamily="34" charset="0"/>
                <a:ea typeface="Arial" pitchFamily="34" charset="-122"/>
                <a:cs typeface="Arial" pitchFamily="34" charset="-120"/>
              </a:rPr>
              <a:t>The 0.806 was the highest of five seeds, 1.5 sd above its own group mean. </a:t>
            </a:r>
            <a:pPr indent="0" marL="0">
              <a:lnSpc>
                <a:spcPts val="1800"/>
              </a:lnSpc>
              <a:buNone/>
            </a:pPr>
            <a:r>
              <a:rPr lang="en-US" sz="1500" dirty="0">
                <a:solidFill>
                  <a:srgbClr val="1A1A1A"/>
                </a:solidFill>
                <a:latin typeface="Arial" pitchFamily="34" charset="0"/>
                <a:ea typeface="Arial" pitchFamily="34" charset="-122"/>
                <a:cs typeface="Arial" pitchFamily="34" charset="-120"/>
              </a:rPr>
              <a:t>Across all 20 readings (2 corpora × 2 poolings × 5 seeds) SSL beats classical on Barth in 5. Best group is +0.021 ± 0.023 — inside the noise floor. The scorecard goes to 0 wins.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 fourth, more mundane failure — and the guardrails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Three wrong numbers in this project came from the same cause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23</a:t>
            </a:r>
            <a:endParaRPr lang="en-US" sz="1200" dirty="0"/>
          </a:p>
        </p:txBody>
      </p:sp>
      <p:sp>
        <p:nvSpPr>
          <p:cNvPr id="5" name="Shape 3"/>
          <p:cNvSpPr/>
          <p:nvPr/>
        </p:nvSpPr>
        <p:spPr>
          <a:xfrm>
            <a:off x="502920" y="1481328"/>
            <a:ext cx="5440680" cy="1920240"/>
          </a:xfrm>
          <a:prstGeom prst="roundRect">
            <a:avLst>
              <a:gd name="adj" fmla="val 3810"/>
            </a:avLst>
          </a:prstGeom>
          <a:solidFill>
            <a:srgbClr val="FBEEF1"/>
          </a:solidFill>
          <a:ln/>
        </p:spPr>
      </p:sp>
      <p:sp>
        <p:nvSpPr>
          <p:cNvPr id="6" name="Text 4"/>
          <p:cNvSpPr/>
          <p:nvPr/>
        </p:nvSpPr>
        <p:spPr>
          <a:xfrm>
            <a:off x="777240" y="1627632"/>
            <a:ext cx="4937760" cy="329184"/>
          </a:xfrm>
          <a:prstGeom prst="rect">
            <a:avLst/>
          </a:prstGeom>
          <a:noFill/>
          <a:ln/>
        </p:spPr>
        <p:txBody>
          <a:bodyPr wrap="square" lIns="0" tIns="0" rIns="0" bIns="0" rtlCol="0" anchor="ctr"/>
          <a:lstStyle/>
          <a:p>
            <a:pPr indent="0" marL="0">
              <a:buNone/>
            </a:pPr>
            <a:r>
              <a:rPr lang="en-US" sz="1850" b="1" dirty="0">
                <a:solidFill>
                  <a:srgbClr val="C1435B"/>
                </a:solidFill>
                <a:latin typeface="Arial" pitchFamily="34" charset="0"/>
                <a:ea typeface="Arial" pitchFamily="34" charset="-122"/>
                <a:cs typeface="Arial" pitchFamily="34" charset="-120"/>
              </a:rPr>
              <a:t>Scoring unfinished checkpoints</a:t>
            </a:r>
            <a:endParaRPr lang="en-US" sz="1850" dirty="0"/>
          </a:p>
        </p:txBody>
      </p:sp>
      <p:sp>
        <p:nvSpPr>
          <p:cNvPr id="7" name="Text 5"/>
          <p:cNvSpPr/>
          <p:nvPr/>
        </p:nvSpPr>
        <p:spPr>
          <a:xfrm>
            <a:off x="777240" y="1956816"/>
            <a:ext cx="4937760" cy="137160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Training writes a "best so far" checkpoint continuously. Evaluate one mid-run and you get a real-looking number for a model that was still training. It happened three times — including once when I claimed --seed was broken on GPU, because I compared a mid-training checkpoint against a finished one.</a:t>
            </a:r>
            <a:endParaRPr lang="en-US" sz="1500" dirty="0"/>
          </a:p>
        </p:txBody>
      </p:sp>
      <p:sp>
        <p:nvSpPr>
          <p:cNvPr id="8" name="Shape 6"/>
          <p:cNvSpPr/>
          <p:nvPr/>
        </p:nvSpPr>
        <p:spPr>
          <a:xfrm>
            <a:off x="6217920" y="1481328"/>
            <a:ext cx="5440680" cy="1152144"/>
          </a:xfrm>
          <a:prstGeom prst="roundRect">
            <a:avLst>
              <a:gd name="adj" fmla="val 6349"/>
            </a:avLst>
          </a:prstGeom>
          <a:solidFill>
            <a:srgbClr val="EBF5EE"/>
          </a:solidFill>
          <a:ln/>
        </p:spPr>
      </p:sp>
      <p:sp>
        <p:nvSpPr>
          <p:cNvPr id="9" name="Text 7"/>
          <p:cNvSpPr/>
          <p:nvPr/>
        </p:nvSpPr>
        <p:spPr>
          <a:xfrm>
            <a:off x="6473952" y="1591056"/>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Provenance stamp</a:t>
            </a:r>
            <a:endParaRPr lang="en-US" sz="1700" dirty="0"/>
          </a:p>
        </p:txBody>
      </p:sp>
      <p:sp>
        <p:nvSpPr>
          <p:cNvPr id="10" name="Text 8"/>
          <p:cNvSpPr/>
          <p:nvPr/>
        </p:nvSpPr>
        <p:spPr>
          <a:xfrm>
            <a:off x="6473952" y="1920240"/>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Checkpoints are written with finished: false and only flipped to true after the training loop exits cleanly.</a:t>
            </a:r>
            <a:endParaRPr lang="en-US" sz="1500" dirty="0"/>
          </a:p>
        </p:txBody>
      </p:sp>
      <p:sp>
        <p:nvSpPr>
          <p:cNvPr id="11" name="Shape 9"/>
          <p:cNvSpPr/>
          <p:nvPr/>
        </p:nvSpPr>
        <p:spPr>
          <a:xfrm>
            <a:off x="6217920" y="2779776"/>
            <a:ext cx="5440680" cy="1152144"/>
          </a:xfrm>
          <a:prstGeom prst="roundRect">
            <a:avLst>
              <a:gd name="adj" fmla="val 6349"/>
            </a:avLst>
          </a:prstGeom>
          <a:solidFill>
            <a:srgbClr val="EBF5EE"/>
          </a:solidFill>
          <a:ln/>
        </p:spPr>
      </p:sp>
      <p:sp>
        <p:nvSpPr>
          <p:cNvPr id="12" name="Text 10"/>
          <p:cNvSpPr/>
          <p:nvPr/>
        </p:nvSpPr>
        <p:spPr>
          <a:xfrm>
            <a:off x="6473952" y="2889504"/>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Evaluator refuses</a:t>
            </a:r>
            <a:endParaRPr lang="en-US" sz="1700" dirty="0"/>
          </a:p>
        </p:txBody>
      </p:sp>
      <p:sp>
        <p:nvSpPr>
          <p:cNvPr id="13" name="Text 11"/>
          <p:cNvSpPr/>
          <p:nvPr/>
        </p:nvSpPr>
        <p:spPr>
          <a:xfrm>
            <a:off x="6473952" y="3218688"/>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probe evaluator hard-errors on an unfinished checkpoint and warns on legacy ones with no flag.</a:t>
            </a:r>
            <a:endParaRPr lang="en-US" sz="1500" dirty="0"/>
          </a:p>
        </p:txBody>
      </p:sp>
      <p:sp>
        <p:nvSpPr>
          <p:cNvPr id="14" name="Shape 12"/>
          <p:cNvSpPr/>
          <p:nvPr/>
        </p:nvSpPr>
        <p:spPr>
          <a:xfrm>
            <a:off x="6217920" y="4078224"/>
            <a:ext cx="5440680" cy="1152144"/>
          </a:xfrm>
          <a:prstGeom prst="roundRect">
            <a:avLst>
              <a:gd name="adj" fmla="val 6349"/>
            </a:avLst>
          </a:prstGeom>
          <a:solidFill>
            <a:srgbClr val="EBF5EE"/>
          </a:solidFill>
          <a:ln/>
        </p:spPr>
      </p:sp>
      <p:sp>
        <p:nvSpPr>
          <p:cNvPr id="15" name="Text 13"/>
          <p:cNvSpPr/>
          <p:nvPr/>
        </p:nvSpPr>
        <p:spPr>
          <a:xfrm>
            <a:off x="6473952" y="4187952"/>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Loud failure on missing data</a:t>
            </a:r>
            <a:endParaRPr lang="en-US" sz="1700" dirty="0"/>
          </a:p>
        </p:txBody>
      </p:sp>
      <p:sp>
        <p:nvSpPr>
          <p:cNvPr id="16" name="Text 14"/>
          <p:cNvSpPr/>
          <p:nvPr/>
        </p:nvSpPr>
        <p:spPr>
          <a:xfrm>
            <a:off x="6473952" y="4517136"/>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Analysis scripts now refuse a results directory missing an expected arm, instead of silently dropping it.</a:t>
            </a:r>
            <a:endParaRPr lang="en-US" sz="1500" dirty="0"/>
          </a:p>
        </p:txBody>
      </p:sp>
      <p:sp>
        <p:nvSpPr>
          <p:cNvPr id="17" name="Shape 15"/>
          <p:cNvSpPr/>
          <p:nvPr/>
        </p:nvSpPr>
        <p:spPr>
          <a:xfrm>
            <a:off x="502920" y="3584448"/>
            <a:ext cx="5440680" cy="1700784"/>
          </a:xfrm>
          <a:prstGeom prst="roundRect">
            <a:avLst>
              <a:gd name="adj" fmla="val 4301"/>
            </a:avLst>
          </a:prstGeom>
          <a:solidFill>
            <a:srgbClr val="EEF3F7"/>
          </a:solidFill>
          <a:ln/>
        </p:spPr>
      </p:sp>
      <p:sp>
        <p:nvSpPr>
          <p:cNvPr id="18" name="Text 16"/>
          <p:cNvSpPr/>
          <p:nvPr/>
        </p:nvSpPr>
        <p:spPr>
          <a:xfrm>
            <a:off x="777240" y="3712464"/>
            <a:ext cx="4937760" cy="310896"/>
          </a:xfrm>
          <a:prstGeom prst="rect">
            <a:avLst/>
          </a:prstGeom>
          <a:noFill/>
          <a:ln/>
        </p:spPr>
        <p:txBody>
          <a:bodyPr wrap="square" lIns="0" tIns="0" rIns="0" bIns="0" rtlCol="0" anchor="ctr"/>
          <a:lstStyle/>
          <a:p>
            <a:pPr indent="0" marL="0">
              <a:buNone/>
            </a:pPr>
            <a:r>
              <a:rPr lang="en-US" sz="1700" b="1" dirty="0">
                <a:solidFill>
                  <a:srgbClr val="065A82"/>
                </a:solidFill>
                <a:latin typeface="Arial" pitchFamily="34" charset="0"/>
                <a:ea typeface="Arial" pitchFamily="34" charset="-122"/>
                <a:cs typeface="Arial" pitchFamily="34" charset="-120"/>
              </a:rPr>
              <a:t>Also worth knowing</a:t>
            </a:r>
            <a:endParaRPr lang="en-US" sz="1700" dirty="0"/>
          </a:p>
        </p:txBody>
      </p:sp>
      <p:sp>
        <p:nvSpPr>
          <p:cNvPr id="19" name="Text 17"/>
          <p:cNvSpPr/>
          <p:nvPr/>
        </p:nvSpPr>
        <p:spPr>
          <a:xfrm>
            <a:off x="777240" y="4041648"/>
            <a:ext cx="4937760" cy="1170432"/>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--seed DOES make training reproducible — two same-seed runs are byte-identical, max|ΔW| = 0. That earlier claim is retracted. Reproducibility was never the problem; run-to-run variance across DIFFERENT seeds was.</a:t>
            </a:r>
            <a:endParaRPr lang="en-US" sz="1550" dirty="0"/>
          </a:p>
        </p:txBody>
      </p:sp>
      <p:sp>
        <p:nvSpPr>
          <p:cNvPr id="20" name="Text 18"/>
          <p:cNvSpPr/>
          <p:nvPr/>
        </p:nvSpPr>
        <p:spPr>
          <a:xfrm>
            <a:off x="502920" y="5486400"/>
            <a:ext cx="11155680" cy="640080"/>
          </a:xfrm>
          <a:prstGeom prst="rect">
            <a:avLst/>
          </a:prstGeom>
          <a:noFill/>
          <a:ln/>
        </p:spPr>
        <p:txBody>
          <a:bodyPr wrap="square" lIns="0" tIns="0" rIns="0" bIns="0" rtlCol="0" anchor="ctr"/>
          <a:lstStyle/>
          <a:p>
            <a:pPr algn="ctr" indent="0" marL="0">
              <a:lnSpc>
                <a:spcPts val="2100"/>
              </a:lnSpc>
              <a:buNone/>
            </a:pPr>
            <a:r>
              <a:rPr lang="en-US" sz="1700" b="1" dirty="0">
                <a:solidFill>
                  <a:srgbClr val="21295C"/>
                </a:solidFill>
                <a:latin typeface="Arial" pitchFamily="34" charset="0"/>
                <a:ea typeface="Arial" pitchFamily="34" charset="-122"/>
                <a:cs typeface="Arial" pitchFamily="34" charset="-120"/>
              </a:rPr>
              <a:t>Every retraction in this project traces to one of two habits: comparing separately-trained networks, or trusting a checkpoint we had not verified was finished.</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2C4A"/>
        </a:solidFill>
      </p:bgPr>
    </p:bg>
    <p:spTree>
      <p:nvGrpSpPr>
        <p:cNvPr id="1" name=""/>
        <p:cNvGrpSpPr/>
        <p:nvPr/>
      </p:nvGrpSpPr>
      <p:grpSpPr>
        <a:xfrm>
          <a:off x="0" y="0"/>
          <a:ext cx="0" cy="0"/>
          <a:chOff x="0" y="0"/>
          <a:chExt cx="0" cy="0"/>
        </a:xfrm>
      </p:grpSpPr>
      <p:sp>
        <p:nvSpPr>
          <p:cNvPr id="2" name="Text 0"/>
          <p:cNvSpPr/>
          <p:nvPr/>
        </p:nvSpPr>
        <p:spPr>
          <a:xfrm>
            <a:off x="914400" y="1691640"/>
            <a:ext cx="10332720" cy="457200"/>
          </a:xfrm>
          <a:prstGeom prst="rect">
            <a:avLst/>
          </a:prstGeom>
          <a:noFill/>
          <a:ln/>
        </p:spPr>
        <p:txBody>
          <a:bodyPr wrap="square" lIns="0" tIns="0" rIns="0" bIns="0" rtlCol="0" anchor="ctr"/>
          <a:lstStyle/>
          <a:p>
            <a:pPr indent="0" marL="0">
              <a:buNone/>
            </a:pPr>
            <a:r>
              <a:rPr lang="en-US" sz="2200" dirty="0">
                <a:solidFill>
                  <a:srgbClr val="7FA8C4"/>
                </a:solidFill>
                <a:latin typeface="Arial" pitchFamily="34" charset="0"/>
                <a:ea typeface="Arial" pitchFamily="34" charset="-122"/>
                <a:cs typeface="Arial" pitchFamily="34" charset="-120"/>
              </a:rPr>
              <a:t>Part 3</a:t>
            </a:r>
            <a:endParaRPr lang="en-US" sz="2200" dirty="0"/>
          </a:p>
        </p:txBody>
      </p:sp>
      <p:sp>
        <p:nvSpPr>
          <p:cNvPr id="3" name="Text 1"/>
          <p:cNvSpPr/>
          <p:nvPr/>
        </p:nvSpPr>
        <p:spPr>
          <a:xfrm>
            <a:off x="914400" y="2194560"/>
            <a:ext cx="10332720" cy="86868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Testing the premise directly</a:t>
            </a:r>
            <a:endParaRPr lang="en-US" sz="4200" dirty="0"/>
          </a:p>
        </p:txBody>
      </p:sp>
      <p:sp>
        <p:nvSpPr>
          <p:cNvPr id="4" name="Text 2"/>
          <p:cNvSpPr/>
          <p:nvPr/>
        </p:nvSpPr>
        <p:spPr>
          <a:xfrm>
            <a:off x="914400" y="3127248"/>
            <a:ext cx="10332720" cy="502920"/>
          </a:xfrm>
          <a:prstGeom prst="rect">
            <a:avLst/>
          </a:prstGeom>
          <a:noFill/>
          <a:ln/>
        </p:spPr>
        <p:txBody>
          <a:bodyPr wrap="square" lIns="0" tIns="0" rIns="0" bIns="0" rtlCol="0" anchor="ctr"/>
          <a:lstStyle/>
          <a:p>
            <a:pPr indent="0" marL="0">
              <a:buNone/>
            </a:pPr>
            <a:r>
              <a:rPr lang="en-US" sz="2200" i="1" dirty="0">
                <a:solidFill>
                  <a:srgbClr val="CADCFC"/>
                </a:solidFill>
                <a:latin typeface="Arial" pitchFamily="34" charset="0"/>
                <a:ea typeface="Arial" pitchFamily="34" charset="-122"/>
                <a:cs typeface="Arial" pitchFamily="34" charset="-120"/>
              </a:rPr>
              <a:t>If pretraining helps anywhere, it must help when labels are scarce</a:t>
            </a:r>
            <a:endParaRPr lang="en-US" sz="2200" dirty="0"/>
          </a:p>
        </p:txBody>
      </p:sp>
      <p:sp>
        <p:nvSpPr>
          <p:cNvPr id="5" name="Shape 3"/>
          <p:cNvSpPr/>
          <p:nvPr/>
        </p:nvSpPr>
        <p:spPr>
          <a:xfrm>
            <a:off x="914400" y="3977640"/>
            <a:ext cx="10332720" cy="1783080"/>
          </a:xfrm>
          <a:prstGeom prst="roundRect">
            <a:avLst>
              <a:gd name="adj" fmla="val 4103"/>
            </a:avLst>
          </a:prstGeom>
          <a:solidFill>
            <a:srgbClr val="1B3A5C"/>
          </a:solidFill>
          <a:ln/>
        </p:spPr>
      </p:sp>
      <p:sp>
        <p:nvSpPr>
          <p:cNvPr id="6" name="Text 4"/>
          <p:cNvSpPr/>
          <p:nvPr/>
        </p:nvSpPr>
        <p:spPr>
          <a:xfrm>
            <a:off x="1234440" y="4133088"/>
            <a:ext cx="9692640" cy="347472"/>
          </a:xfrm>
          <a:prstGeom prst="rect">
            <a:avLst/>
          </a:prstGeom>
          <a:noFill/>
          <a:ln/>
        </p:spPr>
        <p:txBody>
          <a:bodyPr wrap="square" lIns="0" tIns="0" rIns="0" bIns="0" rtlCol="0" anchor="ctr"/>
          <a:lstStyle/>
          <a:p>
            <a:pPr indent="0" marL="0">
              <a:buNone/>
            </a:pPr>
            <a:r>
              <a:rPr lang="en-US" sz="1900" b="1" dirty="0">
                <a:solidFill>
                  <a:srgbClr val="6FD3C7"/>
                </a:solidFill>
                <a:latin typeface="Arial" pitchFamily="34" charset="0"/>
                <a:ea typeface="Arial" pitchFamily="34" charset="-122"/>
                <a:cs typeface="Arial" pitchFamily="34" charset="-120"/>
              </a:rPr>
              <a:t>The argument for doing this</a:t>
            </a:r>
            <a:endParaRPr lang="en-US" sz="1900" dirty="0"/>
          </a:p>
        </p:txBody>
      </p:sp>
      <p:sp>
        <p:nvSpPr>
          <p:cNvPr id="7" name="Text 5"/>
          <p:cNvSpPr/>
          <p:nvPr/>
        </p:nvSpPr>
        <p:spPr>
          <a:xfrm>
            <a:off x="1234440" y="4526280"/>
            <a:ext cx="9692640" cy="1097280"/>
          </a:xfrm>
          <a:prstGeom prst="rect">
            <a:avLst/>
          </a:prstGeom>
          <a:noFill/>
          <a:ln/>
        </p:spPr>
        <p:txBody>
          <a:bodyPr wrap="square" lIns="0" tIns="0" rIns="0" bIns="0" rtlCol="0" anchor="ctr"/>
          <a:lstStyle/>
          <a:p>
            <a:pPr indent="0" marL="0">
              <a:lnSpc>
                <a:spcPts val="2200"/>
              </a:lnSpc>
              <a:buNone/>
            </a:pPr>
            <a:r>
              <a:rPr lang="en-US" sz="1700" dirty="0">
                <a:solidFill>
                  <a:srgbClr val="E4EEF7"/>
                </a:solidFill>
                <a:latin typeface="Arial" pitchFamily="34" charset="0"/>
                <a:ea typeface="Arial" pitchFamily="34" charset="-122"/>
                <a:cs typeface="Arial" pitchFamily="34" charset="-120"/>
              </a:rPr>
              <a:t>Everything so far used the FULL dataset. At n=37–113 that is already close to the ceiling of what is learnable — the worst possible regime to look for a transfer advantage. Transfer is supposed to pay off with few labels. So: sweep the label budget from 2 per class upwards, and find where the SSL curve is above the classical one.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Experiment #6 — few-shot benchmark, all 5 targets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 model sees the IDENTICAL support/query draws — 10 episodes per label budget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25</a:t>
            </a:r>
            <a:endParaRPr lang="en-US" sz="1200" dirty="0"/>
          </a:p>
        </p:txBody>
      </p:sp>
      <p:pic>
        <p:nvPicPr>
          <p:cNvPr id="5" name="Image 0" descr="/home/nmrbox/0012/shasharma/Desktop/NMR_Metabolomics/docs/gm_figures/gm06_fewshot_curves.png">    </p:cNvPr>
          <p:cNvPicPr>
            <a:picLocks noChangeAspect="1"/>
          </p:cNvPicPr>
          <p:nvPr/>
        </p:nvPicPr>
        <p:blipFill>
          <a:blip r:embed="rId1"/>
          <a:stretch>
            <a:fillRect/>
          </a:stretch>
        </p:blipFill>
        <p:spPr>
          <a:xfrm>
            <a:off x="1051459" y="1371600"/>
            <a:ext cx="10058601" cy="4224528"/>
          </a:xfrm>
          <a:prstGeom prst="rect">
            <a:avLst/>
          </a:prstGeom>
        </p:spPr>
      </p:pic>
      <p:sp>
        <p:nvSpPr>
          <p:cNvPr id="6" name="Shape 3"/>
          <p:cNvSpPr/>
          <p:nvPr/>
        </p:nvSpPr>
        <p:spPr>
          <a:xfrm>
            <a:off x="502920" y="5696712"/>
            <a:ext cx="11155680" cy="704088"/>
          </a:xfrm>
          <a:prstGeom prst="roundRect">
            <a:avLst>
              <a:gd name="adj" fmla="val 10390"/>
            </a:avLst>
          </a:prstGeom>
          <a:solidFill>
            <a:srgbClr val="FBEEF1"/>
          </a:solidFill>
          <a:ln/>
        </p:spPr>
      </p:sp>
      <p:sp>
        <p:nvSpPr>
          <p:cNvPr id="7" name="Text 4"/>
          <p:cNvSpPr/>
          <p:nvPr/>
        </p:nvSpPr>
        <p:spPr>
          <a:xfrm>
            <a:off x="777240" y="5760720"/>
            <a:ext cx="10607040" cy="58521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Masked SSL sits at or below classical in every panel, at every label budget. The premise was that SSL wins on the LEFT of these plots — there is no regime where the pretrained backbone wins.</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same data, analysed as a PAIRED comparison</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Shared episodes mean the episode-draw variance cancels — far more power than comparing two error bars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26</a:t>
            </a:r>
            <a:endParaRPr lang="en-US" sz="1200" dirty="0"/>
          </a:p>
        </p:txBody>
      </p:sp>
      <p:pic>
        <p:nvPicPr>
          <p:cNvPr id="5" name="Image 0" descr="/home/nmrbox/0012/shasharma/Desktop/NMR_Metabolomics/docs/gm_figures/gm07_fewshot_paired.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532120" cy="731520"/>
          </a:xfrm>
          <a:prstGeom prst="roundRect">
            <a:avLst>
              <a:gd name="adj" fmla="val 10000"/>
            </a:avLst>
          </a:prstGeom>
          <a:solidFill>
            <a:srgbClr val="FBEEF1"/>
          </a:solidFill>
          <a:ln/>
        </p:spPr>
      </p:sp>
      <p:sp>
        <p:nvSpPr>
          <p:cNvPr id="7" name="Text 4"/>
          <p:cNvSpPr/>
          <p:nvPr/>
        </p:nvSpPr>
        <p:spPr>
          <a:xfrm>
            <a:off x="731520" y="5724144"/>
            <a:ext cx="507492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Pooled across all five targets at 2 labels/class: +0.0012 ± 0.0162, p = 0.74. Dead even. What looked like a low-shot edge is just both methods sitting near chance.</a:t>
            </a:r>
            <a:endParaRPr lang="en-US" sz="1450" dirty="0"/>
          </a:p>
        </p:txBody>
      </p:sp>
      <p:sp>
        <p:nvSpPr>
          <p:cNvPr id="8" name="Shape 5"/>
          <p:cNvSpPr/>
          <p:nvPr/>
        </p:nvSpPr>
        <p:spPr>
          <a:xfrm>
            <a:off x="6309360" y="5669280"/>
            <a:ext cx="5349240" cy="731520"/>
          </a:xfrm>
          <a:prstGeom prst="roundRect">
            <a:avLst>
              <a:gd name="adj" fmla="val 10000"/>
            </a:avLst>
          </a:prstGeom>
          <a:solidFill>
            <a:srgbClr val="EEF3F7"/>
          </a:solidFill>
          <a:ln/>
        </p:spPr>
      </p:sp>
      <p:sp>
        <p:nvSpPr>
          <p:cNvPr id="9" name="Text 6"/>
          <p:cNvSpPr/>
          <p:nvPr/>
        </p:nvSpPr>
        <p:spPr>
          <a:xfrm>
            <a:off x="6537960" y="5724144"/>
            <a:ext cx="4892040" cy="621792"/>
          </a:xfrm>
          <a:prstGeom prst="rect">
            <a:avLst/>
          </a:prstGeom>
          <a:noFill/>
          <a:ln/>
        </p:spPr>
        <p:txBody>
          <a:bodyPr wrap="square" lIns="0" tIns="0" rIns="0" bIns="0" rtlCol="0" anchor="ctr"/>
          <a:lstStyle/>
          <a:p>
            <a:pPr indent="0" marL="0">
              <a:lnSpc>
                <a:spcPts val="1600"/>
              </a:lnSpc>
              <a:buNone/>
            </a:pPr>
            <a:r>
              <a:rPr lang="en-US" sz="1450" dirty="0">
                <a:solidFill>
                  <a:srgbClr val="1A1A1A"/>
                </a:solidFill>
                <a:latin typeface="Arial" pitchFamily="34" charset="0"/>
                <a:ea typeface="Arial" pitchFamily="34" charset="-122"/>
                <a:cs typeface="Arial" pitchFamily="34" charset="-120"/>
              </a:rPr>
              <a:t>And the deficit WIDENS with more labels (negative trend on 4 of 5) — the opposite of what transfer learning predicts.</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Before believing a negative result, we tried to break it</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obvious objection, and what happened when we tested it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27</a:t>
            </a:r>
            <a:endParaRPr lang="en-US" sz="1200" dirty="0"/>
          </a:p>
        </p:txBody>
      </p:sp>
      <p:sp>
        <p:nvSpPr>
          <p:cNvPr id="5" name="Shape 3"/>
          <p:cNvSpPr/>
          <p:nvPr/>
        </p:nvSpPr>
        <p:spPr>
          <a:xfrm>
            <a:off x="502920" y="1536192"/>
            <a:ext cx="5440680" cy="2194560"/>
          </a:xfrm>
          <a:prstGeom prst="roundRect">
            <a:avLst>
              <a:gd name="adj" fmla="val 3333"/>
            </a:avLst>
          </a:prstGeom>
          <a:solidFill>
            <a:srgbClr val="EEF3F7"/>
          </a:solidFill>
          <a:ln/>
        </p:spPr>
      </p:sp>
      <p:sp>
        <p:nvSpPr>
          <p:cNvPr id="6" name="Text 4"/>
          <p:cNvSpPr/>
          <p:nvPr/>
        </p:nvSpPr>
        <p:spPr>
          <a:xfrm>
            <a:off x="777240" y="1682496"/>
            <a:ext cx="4937760" cy="329184"/>
          </a:xfrm>
          <a:prstGeom prst="rect">
            <a:avLst/>
          </a:prstGeom>
          <a:noFill/>
          <a:ln/>
        </p:spPr>
        <p:txBody>
          <a:bodyPr wrap="square" lIns="0" tIns="0" rIns="0" bIns="0" rtlCol="0" anchor="ctr"/>
          <a:lstStyle/>
          <a:p>
            <a:pPr indent="0" marL="0">
              <a:buNone/>
            </a:pPr>
            <a:r>
              <a:rPr lang="en-US" sz="1850" b="1" dirty="0">
                <a:solidFill>
                  <a:srgbClr val="065A82"/>
                </a:solidFill>
                <a:latin typeface="Arial" pitchFamily="34" charset="0"/>
                <a:ea typeface="Arial" pitchFamily="34" charset="-122"/>
                <a:cs typeface="Arial" pitchFamily="34" charset="-120"/>
              </a:rPr>
              <a:t>The objection</a:t>
            </a:r>
            <a:endParaRPr lang="en-US" sz="1850" dirty="0"/>
          </a:p>
        </p:txBody>
      </p:sp>
      <p:sp>
        <p:nvSpPr>
          <p:cNvPr id="7" name="Text 5"/>
          <p:cNvSpPr/>
          <p:nvPr/>
        </p:nvSpPr>
        <p:spPr>
          <a:xfrm>
            <a:off x="777240" y="2066544"/>
            <a:ext cx="4937760" cy="155448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Our pooling default (regional, G=16) gives 2,048 features. At 2 labels per class that is 2,048 features for 4 samples. Maybe we handicapped SSL precisely where we claim it has no advantage — a lower-dimensional pooling might win.</a:t>
            </a:r>
            <a:endParaRPr lang="en-US" sz="1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217920" y="1536192"/>
          <a:ext cx="5440680" cy="914400"/>
        </p:xfrm>
        <a:graphic>
          <a:graphicData uri="http://schemas.openxmlformats.org/drawingml/2006/table">
            <a:tbl>
              <a:tblPr/>
              <a:tblGrid>
                <a:gridCol w="1508760"/>
                <a:gridCol w="777240"/>
                <a:gridCol w="1051560"/>
                <a:gridCol w="1051560"/>
                <a:gridCol w="1051560"/>
              </a:tblGrid>
              <a:tr h="288036">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Target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labels</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/class</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mean-pool</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(128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regional G=4</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(512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regional G=16</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(2048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0.609</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0.627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0.656</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0.564</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0.603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0.617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0.543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0.590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0.639</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0.597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0.644</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0.700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0.338</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0.390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0.416</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0.338</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0.387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0.433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bl>
          </a:graphicData>
        </a:graphic>
      </p:graphicFrame>
      <p:sp>
        <p:nvSpPr>
          <p:cNvPr id="9" name="Shape 6"/>
          <p:cNvSpPr/>
          <p:nvPr/>
        </p:nvSpPr>
        <p:spPr>
          <a:xfrm>
            <a:off x="502920" y="4169664"/>
            <a:ext cx="11155680" cy="1060704"/>
          </a:xfrm>
          <a:prstGeom prst="roundRect">
            <a:avLst>
              <a:gd name="adj" fmla="val 6897"/>
            </a:avLst>
          </a:prstGeom>
          <a:solidFill>
            <a:srgbClr val="EBF5EE"/>
          </a:solidFill>
          <a:ln/>
        </p:spPr>
      </p:sp>
      <p:sp>
        <p:nvSpPr>
          <p:cNvPr id="10" name="Text 7"/>
          <p:cNvSpPr/>
          <p:nvPr/>
        </p:nvSpPr>
        <p:spPr>
          <a:xfrm>
            <a:off x="777240" y="4261104"/>
            <a:ext cx="10607040" cy="310896"/>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The check resolves in favour of the conclusion — G=16 wins 6 of 6</a:t>
            </a:r>
            <a:endParaRPr lang="en-US" sz="1750" dirty="0"/>
          </a:p>
        </p:txBody>
      </p:sp>
      <p:sp>
        <p:nvSpPr>
          <p:cNvPr id="11" name="Text 8"/>
          <p:cNvSpPr/>
          <p:nvPr/>
        </p:nvSpPr>
        <p:spPr>
          <a:xfrm>
            <a:off x="777240" y="4590288"/>
            <a:ext cx="10607040" cy="58521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Lower-dimensional poolings are WORSE at every low-support point tested. Even letting SSL pick its best pooling post-hoc per point — which inflates SSL — the pooled result is −0.033 ± 0.014, p = 0.006. Still negative.</a:t>
            </a:r>
            <a:endParaRPr lang="en-US" sz="1550" dirty="0"/>
          </a:p>
        </p:txBody>
      </p:sp>
      <p:sp>
        <p:nvSpPr>
          <p:cNvPr id="12" name="Shape 9"/>
          <p:cNvSpPr/>
          <p:nvPr/>
        </p:nvSpPr>
        <p:spPr>
          <a:xfrm>
            <a:off x="502920" y="5340096"/>
            <a:ext cx="11155680" cy="859536"/>
          </a:xfrm>
          <a:prstGeom prst="roundRect">
            <a:avLst>
              <a:gd name="adj" fmla="val 8511"/>
            </a:avLst>
          </a:prstGeom>
          <a:solidFill>
            <a:srgbClr val="EEF3F7"/>
          </a:solidFill>
          <a:ln/>
        </p:spPr>
      </p:sp>
      <p:sp>
        <p:nvSpPr>
          <p:cNvPr id="13" name="Text 10"/>
          <p:cNvSpPr/>
          <p:nvPr/>
        </p:nvSpPr>
        <p:spPr>
          <a:xfrm>
            <a:off x="777240" y="5413248"/>
            <a:ext cx="10607040" cy="713232"/>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Also validated: the top of every few-shot curve lands just below that target's known full-data value (Barth 0.782 vs 0.705, cancer 0.900 vs 0.937, MTBLS326 0.957 vs 1.000). The harness measures what it should.</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the project stands today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Everything that survived, and everything that did not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28</a:t>
            </a:r>
            <a:endParaRPr lang="en-US" sz="1200" dirty="0"/>
          </a:p>
        </p:txBody>
      </p:sp>
      <p:sp>
        <p:nvSpPr>
          <p:cNvPr id="5" name="Text 3"/>
          <p:cNvSpPr/>
          <p:nvPr/>
        </p:nvSpPr>
        <p:spPr>
          <a:xfrm>
            <a:off x="502920" y="1481328"/>
            <a:ext cx="5440680" cy="365760"/>
          </a:xfrm>
          <a:prstGeom prst="rect">
            <a:avLst/>
          </a:prstGeom>
          <a:noFill/>
          <a:ln/>
        </p:spPr>
        <p:txBody>
          <a:bodyPr wrap="square" lIns="0" tIns="0" rIns="0" bIns="0" rtlCol="0" anchor="ctr"/>
          <a:lstStyle/>
          <a:p>
            <a:pPr indent="0" marL="0">
              <a:buNone/>
            </a:pPr>
            <a:r>
              <a:rPr lang="en-US" sz="2000" b="1" dirty="0">
                <a:solidFill>
                  <a:srgbClr val="1A7A3C"/>
                </a:solidFill>
                <a:latin typeface="Arial" pitchFamily="34" charset="0"/>
                <a:ea typeface="Arial" pitchFamily="34" charset="-122"/>
                <a:cs typeface="Arial" pitchFamily="34" charset="-120"/>
              </a:rPr>
              <a:t>STILL STANDING</a:t>
            </a:r>
            <a:endParaRPr lang="en-US" sz="2000" dirty="0"/>
          </a:p>
        </p:txBody>
      </p:sp>
      <p:sp>
        <p:nvSpPr>
          <p:cNvPr id="6" name="Text 4"/>
          <p:cNvSpPr/>
          <p:nvPr/>
        </p:nvSpPr>
        <p:spPr>
          <a:xfrm>
            <a:off x="502920" y="1828800"/>
            <a:ext cx="5440680" cy="274320"/>
          </a:xfrm>
          <a:prstGeom prst="rect">
            <a:avLst/>
          </a:prstGeom>
          <a:noFill/>
          <a:ln/>
        </p:spPr>
        <p:txBody>
          <a:bodyPr wrap="square" lIns="0" tIns="0" rIns="0" bIns="0" rtlCol="0" anchor="ctr"/>
          <a:lstStyle/>
          <a:p>
            <a:pPr indent="0" marL="0">
              <a:buNone/>
            </a:pPr>
            <a:r>
              <a:rPr lang="en-US" sz="1500" i="1" dirty="0">
                <a:solidFill>
                  <a:srgbClr val="5A6068"/>
                </a:solidFill>
                <a:latin typeface="Arial" pitchFamily="34" charset="0"/>
                <a:ea typeface="Arial" pitchFamily="34" charset="-122"/>
                <a:cs typeface="Arial" pitchFamily="34" charset="-120"/>
              </a:rPr>
              <a:t>paired comparisons, plus the one 2 sd result</a:t>
            </a:r>
            <a:endParaRPr lang="en-US" sz="1500" dirty="0"/>
          </a:p>
        </p:txBody>
      </p:sp>
      <p:sp>
        <p:nvSpPr>
          <p:cNvPr id="7" name="Shape 5"/>
          <p:cNvSpPr/>
          <p:nvPr/>
        </p:nvSpPr>
        <p:spPr>
          <a:xfrm>
            <a:off x="502920" y="2194560"/>
            <a:ext cx="5440680" cy="749808"/>
          </a:xfrm>
          <a:prstGeom prst="roundRect">
            <a:avLst>
              <a:gd name="adj" fmla="val 9756"/>
            </a:avLst>
          </a:prstGeom>
          <a:solidFill>
            <a:srgbClr val="EBF5EE"/>
          </a:solidFill>
          <a:ln/>
        </p:spPr>
      </p:sp>
      <p:sp>
        <p:nvSpPr>
          <p:cNvPr id="8" name="Text 6"/>
          <p:cNvSpPr/>
          <p:nvPr/>
        </p:nvSpPr>
        <p:spPr>
          <a:xfrm>
            <a:off x="731520" y="2267712"/>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Masked pretraining &gt; random init</a:t>
            </a:r>
            <a:endParaRPr lang="en-US" sz="1550" dirty="0"/>
          </a:p>
        </p:txBody>
      </p:sp>
      <p:sp>
        <p:nvSpPr>
          <p:cNvPr id="9" name="Text 7"/>
          <p:cNvSpPr/>
          <p:nvPr/>
        </p:nvSpPr>
        <p:spPr>
          <a:xfrm>
            <a:off x="4297680" y="2267712"/>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+0.117</a:t>
            </a:r>
            <a:endParaRPr lang="en-US" sz="1550" dirty="0"/>
          </a:p>
        </p:txBody>
      </p:sp>
      <p:sp>
        <p:nvSpPr>
          <p:cNvPr id="10" name="Text 8"/>
          <p:cNvSpPr/>
          <p:nvPr/>
        </p:nvSpPr>
        <p:spPr>
          <a:xfrm>
            <a:off x="731520" y="2596896"/>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2.6 sd, 5/5 targets</a:t>
            </a:r>
            <a:endParaRPr lang="en-US" sz="1350" dirty="0"/>
          </a:p>
        </p:txBody>
      </p:sp>
      <p:sp>
        <p:nvSpPr>
          <p:cNvPr id="11" name="Shape 9"/>
          <p:cNvSpPr/>
          <p:nvPr/>
        </p:nvSpPr>
        <p:spPr>
          <a:xfrm>
            <a:off x="502920" y="3054096"/>
            <a:ext cx="5440680" cy="749808"/>
          </a:xfrm>
          <a:prstGeom prst="roundRect">
            <a:avLst>
              <a:gd name="adj" fmla="val 9756"/>
            </a:avLst>
          </a:prstGeom>
          <a:solidFill>
            <a:srgbClr val="EBF5EE"/>
          </a:solidFill>
          <a:ln/>
        </p:spPr>
      </p:sp>
      <p:sp>
        <p:nvSpPr>
          <p:cNvPr id="12" name="Text 10"/>
          <p:cNvSpPr/>
          <p:nvPr/>
        </p:nvSpPr>
        <p:spPr>
          <a:xfrm>
            <a:off x="731520" y="3127248"/>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LogReg probe &gt; trained DNN head</a:t>
            </a:r>
            <a:endParaRPr lang="en-US" sz="1550" dirty="0"/>
          </a:p>
        </p:txBody>
      </p:sp>
      <p:sp>
        <p:nvSpPr>
          <p:cNvPr id="13" name="Text 11"/>
          <p:cNvSpPr/>
          <p:nvPr/>
        </p:nvSpPr>
        <p:spPr>
          <a:xfrm>
            <a:off x="4297680" y="3127248"/>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+0.120</a:t>
            </a:r>
            <a:endParaRPr lang="en-US" sz="1550" dirty="0"/>
          </a:p>
        </p:txBody>
      </p:sp>
      <p:sp>
        <p:nvSpPr>
          <p:cNvPr id="14" name="Text 12"/>
          <p:cNvSpPr/>
          <p:nvPr/>
        </p:nvSpPr>
        <p:spPr>
          <a:xfrm>
            <a:off x="731520" y="3456432"/>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 5/5</a:t>
            </a:r>
            <a:endParaRPr lang="en-US" sz="1350" dirty="0"/>
          </a:p>
        </p:txBody>
      </p:sp>
      <p:sp>
        <p:nvSpPr>
          <p:cNvPr id="15" name="Shape 13"/>
          <p:cNvSpPr/>
          <p:nvPr/>
        </p:nvSpPr>
        <p:spPr>
          <a:xfrm>
            <a:off x="502920" y="3913632"/>
            <a:ext cx="5440680" cy="749808"/>
          </a:xfrm>
          <a:prstGeom prst="roundRect">
            <a:avLst>
              <a:gd name="adj" fmla="val 9756"/>
            </a:avLst>
          </a:prstGeom>
          <a:solidFill>
            <a:srgbClr val="EBF5EE"/>
          </a:solidFill>
          <a:ln/>
        </p:spPr>
      </p:sp>
      <p:sp>
        <p:nvSpPr>
          <p:cNvPr id="16" name="Text 14"/>
          <p:cNvSpPr/>
          <p:nvPr/>
        </p:nvSpPr>
        <p:spPr>
          <a:xfrm>
            <a:off x="731520" y="3986784"/>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Position-preserving pooling</a:t>
            </a:r>
            <a:endParaRPr lang="en-US" sz="1550" dirty="0"/>
          </a:p>
        </p:txBody>
      </p:sp>
      <p:sp>
        <p:nvSpPr>
          <p:cNvPr id="17" name="Text 15"/>
          <p:cNvSpPr/>
          <p:nvPr/>
        </p:nvSpPr>
        <p:spPr>
          <a:xfrm>
            <a:off x="4297680" y="3986784"/>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+0.03…+0.13</a:t>
            </a:r>
            <a:endParaRPr lang="en-US" sz="1550" dirty="0"/>
          </a:p>
        </p:txBody>
      </p:sp>
      <p:sp>
        <p:nvSpPr>
          <p:cNvPr id="18" name="Text 16"/>
          <p:cNvSpPr/>
          <p:nvPr/>
        </p:nvSpPr>
        <p:spPr>
          <a:xfrm>
            <a:off x="731520" y="4315968"/>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 5/5</a:t>
            </a:r>
            <a:endParaRPr lang="en-US" sz="1350" dirty="0"/>
          </a:p>
        </p:txBody>
      </p:sp>
      <p:sp>
        <p:nvSpPr>
          <p:cNvPr id="19" name="Shape 17"/>
          <p:cNvSpPr/>
          <p:nvPr/>
        </p:nvSpPr>
        <p:spPr>
          <a:xfrm>
            <a:off x="502920" y="4773168"/>
            <a:ext cx="5440680" cy="749808"/>
          </a:xfrm>
          <a:prstGeom prst="roundRect">
            <a:avLst>
              <a:gd name="adj" fmla="val 9756"/>
            </a:avLst>
          </a:prstGeom>
          <a:solidFill>
            <a:srgbClr val="EBF5EE"/>
          </a:solidFill>
          <a:ln/>
        </p:spPr>
      </p:sp>
      <p:sp>
        <p:nvSpPr>
          <p:cNvPr id="20" name="Text 18"/>
          <p:cNvSpPr/>
          <p:nvPr/>
        </p:nvSpPr>
        <p:spPr>
          <a:xfrm>
            <a:off x="731520" y="4846320"/>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Same pooling on jigsaw / joint</a:t>
            </a:r>
            <a:endParaRPr lang="en-US" sz="1550" dirty="0"/>
          </a:p>
        </p:txBody>
      </p:sp>
      <p:sp>
        <p:nvSpPr>
          <p:cNvPr id="21" name="Text 19"/>
          <p:cNvSpPr/>
          <p:nvPr/>
        </p:nvSpPr>
        <p:spPr>
          <a:xfrm>
            <a:off x="4297680" y="4846320"/>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+0.079 / +0.049</a:t>
            </a:r>
            <a:endParaRPr lang="en-US" sz="1550" dirty="0"/>
          </a:p>
        </p:txBody>
      </p:sp>
      <p:sp>
        <p:nvSpPr>
          <p:cNvPr id="22" name="Text 20"/>
          <p:cNvSpPr/>
          <p:nvPr/>
        </p:nvSpPr>
        <p:spPr>
          <a:xfrm>
            <a:off x="731520" y="5175504"/>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a:t>
            </a:r>
            <a:endParaRPr lang="en-US" sz="1350" dirty="0"/>
          </a:p>
        </p:txBody>
      </p:sp>
      <p:sp>
        <p:nvSpPr>
          <p:cNvPr id="23" name="Text 21"/>
          <p:cNvSpPr/>
          <p:nvPr/>
        </p:nvSpPr>
        <p:spPr>
          <a:xfrm>
            <a:off x="6217920" y="1481328"/>
            <a:ext cx="5440680" cy="365760"/>
          </a:xfrm>
          <a:prstGeom prst="rect">
            <a:avLst/>
          </a:prstGeom>
          <a:noFill/>
          <a:ln/>
        </p:spPr>
        <p:txBody>
          <a:bodyPr wrap="square" lIns="0" tIns="0" rIns="0" bIns="0" rtlCol="0" anchor="ctr"/>
          <a:lstStyle/>
          <a:p>
            <a:pPr indent="0" marL="0">
              <a:buNone/>
            </a:pPr>
            <a:r>
              <a:rPr lang="en-US" sz="2000" b="1" dirty="0">
                <a:solidFill>
                  <a:srgbClr val="C1435B"/>
                </a:solidFill>
                <a:latin typeface="Arial" pitchFamily="34" charset="0"/>
                <a:ea typeface="Arial" pitchFamily="34" charset="-122"/>
                <a:cs typeface="Arial" pitchFamily="34" charset="-120"/>
              </a:rPr>
              <a:t>RETRACTED or WITHIN NOISE</a:t>
            </a:r>
            <a:endParaRPr lang="en-US" sz="2000" dirty="0"/>
          </a:p>
        </p:txBody>
      </p:sp>
      <p:sp>
        <p:nvSpPr>
          <p:cNvPr id="24" name="Text 22"/>
          <p:cNvSpPr/>
          <p:nvPr/>
        </p:nvSpPr>
        <p:spPr>
          <a:xfrm>
            <a:off x="6217920" y="1828800"/>
            <a:ext cx="5440680" cy="274320"/>
          </a:xfrm>
          <a:prstGeom prst="rect">
            <a:avLst/>
          </a:prstGeom>
          <a:noFill/>
          <a:ln/>
        </p:spPr>
        <p:txBody>
          <a:bodyPr wrap="square" lIns="0" tIns="0" rIns="0" bIns="0" rtlCol="0" anchor="ctr"/>
          <a:lstStyle/>
          <a:p>
            <a:pPr indent="0" marL="0">
              <a:buNone/>
            </a:pPr>
            <a:r>
              <a:rPr lang="en-US" sz="1500" i="1" dirty="0">
                <a:solidFill>
                  <a:srgbClr val="5A6068"/>
                </a:solidFill>
                <a:latin typeface="Arial" pitchFamily="34" charset="0"/>
                <a:ea typeface="Arial" pitchFamily="34" charset="-122"/>
                <a:cs typeface="Arial" pitchFamily="34" charset="-120"/>
              </a:rPr>
              <a:t>everything that rested on a single training run</a:t>
            </a:r>
            <a:endParaRPr lang="en-US" sz="1500" dirty="0"/>
          </a:p>
        </p:txBody>
      </p:sp>
      <p:sp>
        <p:nvSpPr>
          <p:cNvPr id="25" name="Shape 23"/>
          <p:cNvSpPr/>
          <p:nvPr/>
        </p:nvSpPr>
        <p:spPr>
          <a:xfrm>
            <a:off x="6217920" y="2194560"/>
            <a:ext cx="5440680" cy="438912"/>
          </a:xfrm>
          <a:prstGeom prst="roundRect">
            <a:avLst>
              <a:gd name="adj" fmla="val 16667"/>
            </a:avLst>
          </a:prstGeom>
          <a:solidFill>
            <a:srgbClr val="FBEEF1"/>
          </a:solidFill>
          <a:ln/>
        </p:spPr>
      </p:sp>
      <p:sp>
        <p:nvSpPr>
          <p:cNvPr id="26" name="Text 24"/>
          <p:cNvSpPr/>
          <p:nvPr/>
        </p:nvSpPr>
        <p:spPr>
          <a:xfrm>
            <a:off x="6446520" y="2203704"/>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v3 corpus better than v4</a:t>
            </a:r>
            <a:endParaRPr lang="en-US" sz="1350" dirty="0"/>
          </a:p>
        </p:txBody>
      </p:sp>
      <p:sp>
        <p:nvSpPr>
          <p:cNvPr id="27" name="Text 25"/>
          <p:cNvSpPr/>
          <p:nvPr/>
        </p:nvSpPr>
        <p:spPr>
          <a:xfrm>
            <a:off x="10104120" y="2203704"/>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+0.069</a:t>
            </a:r>
            <a:endParaRPr lang="en-US" sz="1350" dirty="0"/>
          </a:p>
        </p:txBody>
      </p:sp>
      <p:sp>
        <p:nvSpPr>
          <p:cNvPr id="28" name="Text 26"/>
          <p:cNvSpPr/>
          <p:nvPr/>
        </p:nvSpPr>
        <p:spPr>
          <a:xfrm>
            <a:off x="6446520" y="2423160"/>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n=5 → −0.014 (0.6 se)</a:t>
            </a:r>
            <a:endParaRPr lang="en-US" sz="1200" dirty="0"/>
          </a:p>
        </p:txBody>
      </p:sp>
      <p:sp>
        <p:nvSpPr>
          <p:cNvPr id="29" name="Shape 27"/>
          <p:cNvSpPr/>
          <p:nvPr/>
        </p:nvSpPr>
        <p:spPr>
          <a:xfrm>
            <a:off x="6217920" y="2692908"/>
            <a:ext cx="5440680" cy="438912"/>
          </a:xfrm>
          <a:prstGeom prst="roundRect">
            <a:avLst>
              <a:gd name="adj" fmla="val 16667"/>
            </a:avLst>
          </a:prstGeom>
          <a:solidFill>
            <a:srgbClr val="FBEEF1"/>
          </a:solidFill>
          <a:ln/>
        </p:spPr>
      </p:sp>
      <p:sp>
        <p:nvSpPr>
          <p:cNvPr id="30" name="Text 28"/>
          <p:cNvSpPr/>
          <p:nvPr/>
        </p:nvSpPr>
        <p:spPr>
          <a:xfrm>
            <a:off x="6446520" y="2702052"/>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"Backbone scaling exhausted"</a:t>
            </a:r>
            <a:endParaRPr lang="en-US" sz="1350" dirty="0"/>
          </a:p>
        </p:txBody>
      </p:sp>
      <p:sp>
        <p:nvSpPr>
          <p:cNvPr id="31" name="Text 29"/>
          <p:cNvSpPr/>
          <p:nvPr/>
        </p:nvSpPr>
        <p:spPr>
          <a:xfrm>
            <a:off x="10104120" y="2702052"/>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±0.02</a:t>
            </a:r>
            <a:endParaRPr lang="en-US" sz="1350" dirty="0"/>
          </a:p>
        </p:txBody>
      </p:sp>
      <p:sp>
        <p:nvSpPr>
          <p:cNvPr id="32" name="Text 30"/>
          <p:cNvSpPr/>
          <p:nvPr/>
        </p:nvSpPr>
        <p:spPr>
          <a:xfrm>
            <a:off x="6446520" y="2921508"/>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within noise</a:t>
            </a:r>
            <a:endParaRPr lang="en-US" sz="1200" dirty="0"/>
          </a:p>
        </p:txBody>
      </p:sp>
      <p:sp>
        <p:nvSpPr>
          <p:cNvPr id="33" name="Shape 31"/>
          <p:cNvSpPr/>
          <p:nvPr/>
        </p:nvSpPr>
        <p:spPr>
          <a:xfrm>
            <a:off x="6217920" y="3191256"/>
            <a:ext cx="5440680" cy="438912"/>
          </a:xfrm>
          <a:prstGeom prst="roundRect">
            <a:avLst>
              <a:gd name="adj" fmla="val 16667"/>
            </a:avLst>
          </a:prstGeom>
          <a:solidFill>
            <a:srgbClr val="FBEEF1"/>
          </a:solidFill>
          <a:ln/>
        </p:spPr>
      </p:sp>
      <p:sp>
        <p:nvSpPr>
          <p:cNvPr id="34" name="Text 32"/>
          <p:cNvSpPr/>
          <p:nvPr/>
        </p:nvSpPr>
        <p:spPr>
          <a:xfrm>
            <a:off x="6446520" y="3200400"/>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Patch size 128 / 256 hurt</a:t>
            </a:r>
            <a:endParaRPr lang="en-US" sz="1350" dirty="0"/>
          </a:p>
        </p:txBody>
      </p:sp>
      <p:sp>
        <p:nvSpPr>
          <p:cNvPr id="35" name="Text 33"/>
          <p:cNvSpPr/>
          <p:nvPr/>
        </p:nvSpPr>
        <p:spPr>
          <a:xfrm>
            <a:off x="10104120" y="3200400"/>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−0.04</a:t>
            </a:r>
            <a:endParaRPr lang="en-US" sz="1350" dirty="0"/>
          </a:p>
        </p:txBody>
      </p:sp>
      <p:sp>
        <p:nvSpPr>
          <p:cNvPr id="36" name="Text 34"/>
          <p:cNvSpPr/>
          <p:nvPr/>
        </p:nvSpPr>
        <p:spPr>
          <a:xfrm>
            <a:off x="6446520" y="3419856"/>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within noise</a:t>
            </a:r>
            <a:endParaRPr lang="en-US" sz="1200" dirty="0"/>
          </a:p>
        </p:txBody>
      </p:sp>
      <p:sp>
        <p:nvSpPr>
          <p:cNvPr id="37" name="Shape 35"/>
          <p:cNvSpPr/>
          <p:nvPr/>
        </p:nvSpPr>
        <p:spPr>
          <a:xfrm>
            <a:off x="6217920" y="3689604"/>
            <a:ext cx="5440680" cy="438912"/>
          </a:xfrm>
          <a:prstGeom prst="roundRect">
            <a:avLst>
              <a:gd name="adj" fmla="val 16667"/>
            </a:avLst>
          </a:prstGeom>
          <a:solidFill>
            <a:srgbClr val="FBEEF1"/>
          </a:solidFill>
          <a:ln/>
        </p:spPr>
      </p:sp>
      <p:sp>
        <p:nvSpPr>
          <p:cNvPr id="38" name="Text 36"/>
          <p:cNvSpPr/>
          <p:nvPr/>
        </p:nvSpPr>
        <p:spPr>
          <a:xfrm>
            <a:off x="6446520" y="3698748"/>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Block masking / peak weighting</a:t>
            </a:r>
            <a:endParaRPr lang="en-US" sz="1350" dirty="0"/>
          </a:p>
        </p:txBody>
      </p:sp>
      <p:sp>
        <p:nvSpPr>
          <p:cNvPr id="39" name="Text 37"/>
          <p:cNvSpPr/>
          <p:nvPr/>
        </p:nvSpPr>
        <p:spPr>
          <a:xfrm>
            <a:off x="10104120" y="3698748"/>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−0.03 / +0.01</a:t>
            </a:r>
            <a:endParaRPr lang="en-US" sz="1350" dirty="0"/>
          </a:p>
        </p:txBody>
      </p:sp>
      <p:sp>
        <p:nvSpPr>
          <p:cNvPr id="40" name="Text 38"/>
          <p:cNvSpPr/>
          <p:nvPr/>
        </p:nvSpPr>
        <p:spPr>
          <a:xfrm>
            <a:off x="6446520" y="3918204"/>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within noise</a:t>
            </a:r>
            <a:endParaRPr lang="en-US" sz="1200" dirty="0"/>
          </a:p>
        </p:txBody>
      </p:sp>
      <p:sp>
        <p:nvSpPr>
          <p:cNvPr id="41" name="Shape 39"/>
          <p:cNvSpPr/>
          <p:nvPr/>
        </p:nvSpPr>
        <p:spPr>
          <a:xfrm>
            <a:off x="6217920" y="4187952"/>
            <a:ext cx="5440680" cy="438912"/>
          </a:xfrm>
          <a:prstGeom prst="roundRect">
            <a:avLst>
              <a:gd name="adj" fmla="val 16667"/>
            </a:avLst>
          </a:prstGeom>
          <a:solidFill>
            <a:srgbClr val="FBEEF1"/>
          </a:solidFill>
          <a:ln/>
        </p:spPr>
      </p:sp>
      <p:sp>
        <p:nvSpPr>
          <p:cNvPr id="42" name="Text 40"/>
          <p:cNvSpPr/>
          <p:nvPr/>
        </p:nvSpPr>
        <p:spPr>
          <a:xfrm>
            <a:off x="6446520" y="4197096"/>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"SSL wins in few-shot"</a:t>
            </a:r>
            <a:endParaRPr lang="en-US" sz="1350" dirty="0"/>
          </a:p>
        </p:txBody>
      </p:sp>
      <p:sp>
        <p:nvSpPr>
          <p:cNvPr id="43" name="Text 41"/>
          <p:cNvSpPr/>
          <p:nvPr/>
        </p:nvSpPr>
        <p:spPr>
          <a:xfrm>
            <a:off x="10104120" y="4197096"/>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+0.001</a:t>
            </a:r>
            <a:endParaRPr lang="en-US" sz="1350" dirty="0"/>
          </a:p>
        </p:txBody>
      </p:sp>
      <p:sp>
        <p:nvSpPr>
          <p:cNvPr id="44" name="Text 42"/>
          <p:cNvSpPr/>
          <p:nvPr/>
        </p:nvSpPr>
        <p:spPr>
          <a:xfrm>
            <a:off x="6446520" y="4416552"/>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p = 0.74 — refuted</a:t>
            </a:r>
            <a:endParaRPr lang="en-US" sz="1200" dirty="0"/>
          </a:p>
        </p:txBody>
      </p:sp>
      <p:sp>
        <p:nvSpPr>
          <p:cNvPr id="45" name="Shape 43"/>
          <p:cNvSpPr/>
          <p:nvPr/>
        </p:nvSpPr>
        <p:spPr>
          <a:xfrm>
            <a:off x="6217920" y="4686300"/>
            <a:ext cx="5440680" cy="438912"/>
          </a:xfrm>
          <a:prstGeom prst="roundRect">
            <a:avLst>
              <a:gd name="adj" fmla="val 16667"/>
            </a:avLst>
          </a:prstGeom>
          <a:solidFill>
            <a:srgbClr val="FBEEF1"/>
          </a:solidFill>
          <a:ln/>
        </p:spPr>
      </p:sp>
      <p:sp>
        <p:nvSpPr>
          <p:cNvPr id="46" name="Text 44"/>
          <p:cNvSpPr/>
          <p:nvPr/>
        </p:nvSpPr>
        <p:spPr>
          <a:xfrm>
            <a:off x="6446520" y="4695444"/>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"SSL beats classical on Barth"</a:t>
            </a:r>
            <a:endParaRPr lang="en-US" sz="1350" dirty="0"/>
          </a:p>
        </p:txBody>
      </p:sp>
      <p:sp>
        <p:nvSpPr>
          <p:cNvPr id="47" name="Text 45"/>
          <p:cNvSpPr/>
          <p:nvPr/>
        </p:nvSpPr>
        <p:spPr>
          <a:xfrm>
            <a:off x="10104120" y="4695444"/>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+0.101</a:t>
            </a:r>
            <a:endParaRPr lang="en-US" sz="1350" dirty="0"/>
          </a:p>
        </p:txBody>
      </p:sp>
      <p:sp>
        <p:nvSpPr>
          <p:cNvPr id="48" name="Text 46"/>
          <p:cNvSpPr/>
          <p:nvPr/>
        </p:nvSpPr>
        <p:spPr>
          <a:xfrm>
            <a:off x="6446520" y="4914900"/>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n=5 → +0.021 (0.9 se)</a:t>
            </a:r>
            <a:endParaRPr lang="en-US" sz="1200" dirty="0"/>
          </a:p>
        </p:txBody>
      </p:sp>
      <p:sp>
        <p:nvSpPr>
          <p:cNvPr id="49" name="Shape 47"/>
          <p:cNvSpPr/>
          <p:nvPr/>
        </p:nvSpPr>
        <p:spPr>
          <a:xfrm>
            <a:off x="6217920" y="5184648"/>
            <a:ext cx="5440680" cy="438912"/>
          </a:xfrm>
          <a:prstGeom prst="roundRect">
            <a:avLst>
              <a:gd name="adj" fmla="val 16667"/>
            </a:avLst>
          </a:prstGeom>
          <a:solidFill>
            <a:srgbClr val="FBEEF1"/>
          </a:solidFill>
          <a:ln/>
        </p:spPr>
      </p:sp>
      <p:sp>
        <p:nvSpPr>
          <p:cNvPr id="50" name="Text 48"/>
          <p:cNvSpPr/>
          <p:nvPr/>
        </p:nvSpPr>
        <p:spPr>
          <a:xfrm>
            <a:off x="6446520" y="5193792"/>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"Reconstruction proves it learned"</a:t>
            </a:r>
            <a:endParaRPr lang="en-US" sz="1350" dirty="0"/>
          </a:p>
        </p:txBody>
      </p:sp>
      <p:sp>
        <p:nvSpPr>
          <p:cNvPr id="51" name="Text 49"/>
          <p:cNvSpPr/>
          <p:nvPr/>
        </p:nvSpPr>
        <p:spPr>
          <a:xfrm>
            <a:off x="10104120" y="5193792"/>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r = 0.92</a:t>
            </a:r>
            <a:endParaRPr lang="en-US" sz="1350" dirty="0"/>
          </a:p>
        </p:txBody>
      </p:sp>
      <p:sp>
        <p:nvSpPr>
          <p:cNvPr id="52" name="Text 50"/>
          <p:cNvSpPr/>
          <p:nvPr/>
        </p:nvSpPr>
        <p:spPr>
          <a:xfrm>
            <a:off x="6446520" y="5413248"/>
            <a:ext cx="5029200" cy="219456"/>
          </a:xfrm>
          <a:prstGeom prst="rect">
            <a:avLst/>
          </a:prstGeom>
          <a:noFill/>
          <a:ln/>
        </p:spPr>
        <p:txBody>
          <a:bodyPr wrap="square" lIns="0" tIns="0" rIns="0" bIns="0" rtlCol="0" anchor="ctr"/>
          <a:lstStyle/>
          <a:p>
            <a:pPr indent="0" marL="0">
              <a:buNone/>
            </a:pPr>
            <a:r>
              <a:rPr lang="en-US" sz="1200" dirty="0">
                <a:solidFill>
                  <a:srgbClr val="5A6068"/>
                </a:solidFill>
                <a:latin typeface="Arial" pitchFamily="34" charset="0"/>
                <a:ea typeface="Arial" pitchFamily="34" charset="-122"/>
                <a:cs typeface="Arial" pitchFamily="34" charset="-120"/>
              </a:rPr>
              <a:t>copy-a-neighbour: 0.90</a:t>
            </a:r>
            <a:endParaRPr lang="en-US" sz="1200" dirty="0"/>
          </a:p>
        </p:txBody>
      </p:sp>
      <p:sp>
        <p:nvSpPr>
          <p:cNvPr id="53" name="Shape 51"/>
          <p:cNvSpPr/>
          <p:nvPr/>
        </p:nvSpPr>
        <p:spPr>
          <a:xfrm>
            <a:off x="502920" y="5760720"/>
            <a:ext cx="11155680" cy="658368"/>
          </a:xfrm>
          <a:prstGeom prst="roundRect">
            <a:avLst>
              <a:gd name="adj" fmla="val 11111"/>
            </a:avLst>
          </a:prstGeom>
          <a:solidFill>
            <a:srgbClr val="21295C"/>
          </a:solidFill>
          <a:ln/>
        </p:spPr>
      </p:sp>
      <p:sp>
        <p:nvSpPr>
          <p:cNvPr id="54" name="Text 52"/>
          <p:cNvSpPr/>
          <p:nvPr/>
        </p:nvSpPr>
        <p:spPr>
          <a:xfrm>
            <a:off x="777240" y="5760720"/>
            <a:ext cx="1060704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pattern: every surviving result is PAIRED — one fixed checkpoint, one thing varied. Every retracted result compared two separately-trained networks.</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What I think this means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Reading the whole picture honestly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29</a:t>
            </a:r>
            <a:endParaRPr lang="en-US" sz="1200" dirty="0"/>
          </a:p>
        </p:txBody>
      </p:sp>
      <p:sp>
        <p:nvSpPr>
          <p:cNvPr id="5" name="Shape 3"/>
          <p:cNvSpPr/>
          <p:nvPr/>
        </p:nvSpPr>
        <p:spPr>
          <a:xfrm>
            <a:off x="502920" y="1417320"/>
            <a:ext cx="11155680" cy="1298448"/>
          </a:xfrm>
          <a:prstGeom prst="roundRect">
            <a:avLst>
              <a:gd name="adj" fmla="val 5634"/>
            </a:avLst>
          </a:prstGeom>
          <a:solidFill>
            <a:srgbClr val="EEF3F7"/>
          </a:solidFill>
          <a:ln/>
        </p:spPr>
      </p:sp>
      <p:sp>
        <p:nvSpPr>
          <p:cNvPr id="6" name="Text 4"/>
          <p:cNvSpPr/>
          <p:nvPr/>
        </p:nvSpPr>
        <p:spPr>
          <a:xfrm>
            <a:off x="777240" y="1517904"/>
            <a:ext cx="10607040" cy="310896"/>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The findings are coherent, not contradictory</a:t>
            </a:r>
            <a:endParaRPr lang="en-US" sz="1800" dirty="0"/>
          </a:p>
        </p:txBody>
      </p:sp>
      <p:sp>
        <p:nvSpPr>
          <p:cNvPr id="7" name="Text 5"/>
          <p:cNvSpPr/>
          <p:nvPr/>
        </p:nvSpPr>
        <p:spPr>
          <a:xfrm>
            <a:off x="777240" y="1847088"/>
            <a:ext cx="10607040" cy="84124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Masked pretraining DOES learn something real (+0.117 over random init). But it learns less discriminative signal than 1,024-bin integrated areas already carry — and reconstruction quality anti-correlates with transfer. Meanwhile every axis we pushed on the backbone (patch size, capacity, objective, corpus version) came back flat.</a:t>
            </a:r>
            <a:endParaRPr lang="en-US" sz="1550" dirty="0"/>
          </a:p>
        </p:txBody>
      </p:sp>
      <p:sp>
        <p:nvSpPr>
          <p:cNvPr id="8" name="Shape 6"/>
          <p:cNvSpPr/>
          <p:nvPr/>
        </p:nvSpPr>
        <p:spPr>
          <a:xfrm>
            <a:off x="502920" y="2834640"/>
            <a:ext cx="5440680" cy="1883664"/>
          </a:xfrm>
          <a:prstGeom prst="roundRect">
            <a:avLst>
              <a:gd name="adj" fmla="val 3883"/>
            </a:avLst>
          </a:prstGeom>
          <a:solidFill>
            <a:srgbClr val="FBEEF1"/>
          </a:solidFill>
          <a:ln/>
        </p:spPr>
      </p:sp>
      <p:sp>
        <p:nvSpPr>
          <p:cNvPr id="9" name="Text 7"/>
          <p:cNvSpPr/>
          <p:nvPr/>
        </p:nvSpPr>
        <p:spPr>
          <a:xfrm>
            <a:off x="777240" y="2944368"/>
            <a:ext cx="4937760" cy="530352"/>
          </a:xfrm>
          <a:prstGeom prst="rect">
            <a:avLst/>
          </a:prstGeom>
          <a:noFill/>
          <a:ln/>
        </p:spPr>
        <p:txBody>
          <a:bodyPr wrap="square" lIns="0" tIns="0" rIns="0" bIns="0" rtlCol="0" anchor="t"/>
          <a:lstStyle/>
          <a:p>
            <a:pPr indent="0" marL="0">
              <a:lnSpc>
                <a:spcPts val="2000"/>
              </a:lnSpc>
              <a:buNone/>
            </a:pPr>
            <a:r>
              <a:rPr lang="en-US" sz="1700" b="1" dirty="0">
                <a:solidFill>
                  <a:srgbClr val="C1435B"/>
                </a:solidFill>
                <a:latin typeface="Arial" pitchFamily="34" charset="0"/>
                <a:ea typeface="Arial" pitchFamily="34" charset="-122"/>
                <a:cs typeface="Arial" pitchFamily="34" charset="-120"/>
              </a:rPr>
              <a:t>The most likely cause we have NOT tested</a:t>
            </a:r>
            <a:endParaRPr lang="en-US" sz="1700" dirty="0"/>
          </a:p>
        </p:txBody>
      </p:sp>
      <p:sp>
        <p:nvSpPr>
          <p:cNvPr id="10" name="Text 8"/>
          <p:cNvSpPr/>
          <p:nvPr/>
        </p:nvSpPr>
        <p:spPr>
          <a:xfrm>
            <a:off x="777240" y="3511296"/>
            <a:ext cx="4937760" cy="1133856"/>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corpus is 9,670 spectra. That is very small for a foundation model — orders of magnitude below where masked pretraining usually starts paying off. Experiment #13 only probed corpus size DOWNWARD, which cannot detect an under-training regime.</a:t>
            </a:r>
            <a:endParaRPr lang="en-US" sz="1500" dirty="0"/>
          </a:p>
        </p:txBody>
      </p:sp>
      <p:sp>
        <p:nvSpPr>
          <p:cNvPr id="11" name="Shape 9"/>
          <p:cNvSpPr/>
          <p:nvPr/>
        </p:nvSpPr>
        <p:spPr>
          <a:xfrm>
            <a:off x="6217920" y="2834640"/>
            <a:ext cx="5440680" cy="1883664"/>
          </a:xfrm>
          <a:prstGeom prst="roundRect">
            <a:avLst>
              <a:gd name="adj" fmla="val 3883"/>
            </a:avLst>
          </a:prstGeom>
          <a:solidFill>
            <a:srgbClr val="EBF5EE"/>
          </a:solidFill>
          <a:ln/>
        </p:spPr>
      </p:sp>
      <p:sp>
        <p:nvSpPr>
          <p:cNvPr id="12" name="Text 10"/>
          <p:cNvSpPr/>
          <p:nvPr/>
        </p:nvSpPr>
        <p:spPr>
          <a:xfrm>
            <a:off x="6492240" y="2944368"/>
            <a:ext cx="4937760" cy="329184"/>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The contribution, reframed</a:t>
            </a:r>
            <a:endParaRPr lang="en-US" sz="1700" dirty="0"/>
          </a:p>
        </p:txBody>
      </p:sp>
      <p:sp>
        <p:nvSpPr>
          <p:cNvPr id="13" name="Text 11"/>
          <p:cNvSpPr/>
          <p:nvPr/>
        </p:nvSpPr>
        <p:spPr>
          <a:xfrm>
            <a:off x="6492240" y="3328416"/>
            <a:ext cx="4937760" cy="1316736"/>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This is now a rigorous negative result on 1D NMR SSL: five targets, paired tests, a measured noise floor, replicated. The methodology — the 0.045 floor, the paired protocol, the guardrails — is arguably a stronger contribution than a backbone that didn't beat logistic regression.</a:t>
            </a:r>
            <a:endParaRPr lang="en-US" sz="1500" dirty="0"/>
          </a:p>
        </p:txBody>
      </p:sp>
      <p:sp>
        <p:nvSpPr>
          <p:cNvPr id="14" name="Shape 12"/>
          <p:cNvSpPr/>
          <p:nvPr/>
        </p:nvSpPr>
        <p:spPr>
          <a:xfrm>
            <a:off x="502920" y="4864608"/>
            <a:ext cx="11155680" cy="1335024"/>
          </a:xfrm>
          <a:prstGeom prst="roundRect">
            <a:avLst>
              <a:gd name="adj" fmla="val 5479"/>
            </a:avLst>
          </a:prstGeom>
          <a:solidFill>
            <a:srgbClr val="EEF3F7"/>
          </a:solidFill>
          <a:ln/>
        </p:spPr>
      </p:sp>
      <p:sp>
        <p:nvSpPr>
          <p:cNvPr id="15" name="Text 13"/>
          <p:cNvSpPr/>
          <p:nvPr/>
        </p:nvSpPr>
        <p:spPr>
          <a:xfrm>
            <a:off x="777240" y="4974336"/>
            <a:ext cx="10607040" cy="310896"/>
          </a:xfrm>
          <a:prstGeom prst="rect">
            <a:avLst/>
          </a:prstGeom>
          <a:noFill/>
          <a:ln/>
        </p:spPr>
        <p:txBody>
          <a:bodyPr wrap="square" lIns="0" tIns="0" rIns="0" bIns="0" rtlCol="0" anchor="ctr"/>
          <a:lstStyle/>
          <a:p>
            <a:pPr indent="0" marL="0">
              <a:buNone/>
            </a:pPr>
            <a:r>
              <a:rPr lang="en-US" sz="1700" b="1" dirty="0">
                <a:solidFill>
                  <a:srgbClr val="21295C"/>
                </a:solidFill>
                <a:latin typeface="Arial" pitchFamily="34" charset="0"/>
                <a:ea typeface="Arial" pitchFamily="34" charset="-122"/>
                <a:cs typeface="Arial" pitchFamily="34" charset="-120"/>
              </a:rPr>
              <a:t>What I would NOT recommend</a:t>
            </a:r>
            <a:endParaRPr lang="en-US" sz="1700" dirty="0"/>
          </a:p>
        </p:txBody>
      </p:sp>
      <p:sp>
        <p:nvSpPr>
          <p:cNvPr id="16" name="Text 14"/>
          <p:cNvSpPr/>
          <p:nvPr/>
        </p:nvSpPr>
        <p:spPr>
          <a:xfrm>
            <a:off x="777240" y="5303520"/>
            <a:ext cx="10607040" cy="84124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More architecture variants. We have tried four patch sizes, two capacities, three objectives and two corpora; with the noise floor now known, none of those experiments could have detected an effect smaller than 0.09 anyway. Any further single-run backbone tweak is not worth the GPU time.</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Proposed next steps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Ranked by what would actually change the answer</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30</a:t>
            </a:r>
            <a:endParaRPr lang="en-US" sz="1200" dirty="0"/>
          </a:p>
        </p:txBody>
      </p:sp>
      <p:sp>
        <p:nvSpPr>
          <p:cNvPr id="5" name="Shape 3"/>
          <p:cNvSpPr/>
          <p:nvPr/>
        </p:nvSpPr>
        <p:spPr>
          <a:xfrm>
            <a:off x="502920" y="1417320"/>
            <a:ext cx="11155680" cy="1005840"/>
          </a:xfrm>
          <a:prstGeom prst="roundRect">
            <a:avLst>
              <a:gd name="adj" fmla="val 7273"/>
            </a:avLst>
          </a:prstGeom>
          <a:solidFill>
            <a:srgbClr val="EBF5EE"/>
          </a:solidFill>
          <a:ln/>
        </p:spPr>
      </p:sp>
      <p:sp>
        <p:nvSpPr>
          <p:cNvPr id="6" name="Shape 4"/>
          <p:cNvSpPr/>
          <p:nvPr/>
        </p:nvSpPr>
        <p:spPr>
          <a:xfrm>
            <a:off x="713232" y="1691640"/>
            <a:ext cx="512064" cy="512064"/>
          </a:xfrm>
          <a:prstGeom prst="ellipse">
            <a:avLst/>
          </a:prstGeom>
          <a:solidFill>
            <a:srgbClr val="1A7A3C"/>
          </a:solidFill>
          <a:ln/>
        </p:spPr>
      </p:sp>
      <p:sp>
        <p:nvSpPr>
          <p:cNvPr id="7" name="Text 5"/>
          <p:cNvSpPr/>
          <p:nvPr/>
        </p:nvSpPr>
        <p:spPr>
          <a:xfrm>
            <a:off x="713232" y="169164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389888" y="1490472"/>
            <a:ext cx="10012680" cy="329184"/>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Cross-cohort transfer — the strongest untested case</a:t>
            </a:r>
            <a:endParaRPr lang="en-US" sz="1750" dirty="0"/>
          </a:p>
        </p:txBody>
      </p:sp>
      <p:sp>
        <p:nvSpPr>
          <p:cNvPr id="9" name="Text 7"/>
          <p:cNvSpPr/>
          <p:nvPr/>
        </p:nvSpPr>
        <p:spPr>
          <a:xfrm>
            <a:off x="1389888" y="1783080"/>
            <a:ext cx="10012680" cy="603504"/>
          </a:xfrm>
          <a:prstGeom prst="rect">
            <a:avLst/>
          </a:prstGeom>
          <a:noFill/>
          <a:ln/>
        </p:spPr>
        <p:txBody>
          <a:bodyPr wrap="square" lIns="0" tIns="0" rIns="0" bIns="0" rtlCol="0" anchor="t"/>
          <a:lstStyle/>
          <a:p>
            <a:pPr indent="0" marL="0">
              <a:lnSpc>
                <a:spcPts val="1700"/>
              </a:lnSpc>
              <a:buNone/>
            </a:pPr>
            <a:r>
              <a:rPr lang="en-US" sz="1400" dirty="0">
                <a:solidFill>
                  <a:srgbClr val="1A1A1A"/>
                </a:solidFill>
                <a:latin typeface="Arial" pitchFamily="34" charset="0"/>
                <a:ea typeface="Arial" pitchFamily="34" charset="-122"/>
                <a:cs typeface="Arial" pitchFamily="34" charset="-120"/>
              </a:rPr>
              <a:t>Every evaluation so far is WITHIN a cohort. A foundation model's real selling point is generalising across instruments, sites and batches — exactly where absolute binned intensities should break down and a learned representation might not. Train the probe on one cohort, test on another. Cheap; we have 4 cohorts. If SSL wins anywhere, it is here.</a:t>
            </a:r>
            <a:endParaRPr lang="en-US" sz="1400" dirty="0"/>
          </a:p>
        </p:txBody>
      </p:sp>
      <p:sp>
        <p:nvSpPr>
          <p:cNvPr id="10" name="Shape 8"/>
          <p:cNvSpPr/>
          <p:nvPr/>
        </p:nvSpPr>
        <p:spPr>
          <a:xfrm>
            <a:off x="502920" y="2633472"/>
            <a:ext cx="11155680" cy="1005840"/>
          </a:xfrm>
          <a:prstGeom prst="roundRect">
            <a:avLst>
              <a:gd name="adj" fmla="val 7273"/>
            </a:avLst>
          </a:prstGeom>
          <a:solidFill>
            <a:srgbClr val="EEF3F7"/>
          </a:solidFill>
          <a:ln/>
        </p:spPr>
      </p:sp>
      <p:sp>
        <p:nvSpPr>
          <p:cNvPr id="11" name="Shape 9"/>
          <p:cNvSpPr/>
          <p:nvPr/>
        </p:nvSpPr>
        <p:spPr>
          <a:xfrm>
            <a:off x="713232" y="2907792"/>
            <a:ext cx="512064" cy="512064"/>
          </a:xfrm>
          <a:prstGeom prst="ellipse">
            <a:avLst/>
          </a:prstGeom>
          <a:solidFill>
            <a:srgbClr val="065A82"/>
          </a:solidFill>
          <a:ln/>
        </p:spPr>
      </p:sp>
      <p:sp>
        <p:nvSpPr>
          <p:cNvPr id="12" name="Text 10"/>
          <p:cNvSpPr/>
          <p:nvPr/>
        </p:nvSpPr>
        <p:spPr>
          <a:xfrm>
            <a:off x="713232" y="290779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1389888" y="2706624"/>
            <a:ext cx="10012680" cy="329184"/>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Corpus scaling curve — upward this time</a:t>
            </a:r>
            <a:endParaRPr lang="en-US" sz="1750" dirty="0"/>
          </a:p>
        </p:txBody>
      </p:sp>
      <p:sp>
        <p:nvSpPr>
          <p:cNvPr id="14" name="Text 12"/>
          <p:cNvSpPr/>
          <p:nvPr/>
        </p:nvSpPr>
        <p:spPr>
          <a:xfrm>
            <a:off x="1389888" y="2999232"/>
            <a:ext cx="10012680" cy="603504"/>
          </a:xfrm>
          <a:prstGeom prst="rect">
            <a:avLst/>
          </a:prstGeom>
          <a:noFill/>
          <a:ln/>
        </p:spPr>
        <p:txBody>
          <a:bodyPr wrap="square" lIns="0" tIns="0" rIns="0" bIns="0" rtlCol="0" anchor="t"/>
          <a:lstStyle/>
          <a:p>
            <a:pPr indent="0" marL="0">
              <a:lnSpc>
                <a:spcPts val="1700"/>
              </a:lnSpc>
              <a:buNone/>
            </a:pPr>
            <a:r>
              <a:rPr lang="en-US" sz="1400" dirty="0">
                <a:solidFill>
                  <a:srgbClr val="1A1A1A"/>
                </a:solidFill>
                <a:latin typeface="Arial" pitchFamily="34" charset="0"/>
                <a:ea typeface="Arial" pitchFamily="34" charset="-122"/>
                <a:cs typeface="Arial" pitchFamily="34" charset="-120"/>
              </a:rPr>
              <a:t>Pretrain at 25 / 50 / 100% of available spectra and see whether downstream utility is still climbing at 9,670. Flat ⇒ the objective is the problem. Rising ⇒ the answer is "needs 10–100× more data". Either is publishable and actionable. Needs ≥5 seeds per point (~23 GPU-h each).</a:t>
            </a:r>
            <a:endParaRPr lang="en-US" sz="1400" dirty="0"/>
          </a:p>
        </p:txBody>
      </p:sp>
      <p:sp>
        <p:nvSpPr>
          <p:cNvPr id="15" name="Shape 13"/>
          <p:cNvSpPr/>
          <p:nvPr/>
        </p:nvSpPr>
        <p:spPr>
          <a:xfrm>
            <a:off x="502920" y="3849624"/>
            <a:ext cx="11155680" cy="1005840"/>
          </a:xfrm>
          <a:prstGeom prst="roundRect">
            <a:avLst>
              <a:gd name="adj" fmla="val 7273"/>
            </a:avLst>
          </a:prstGeom>
          <a:solidFill>
            <a:srgbClr val="EEF3F7"/>
          </a:solidFill>
          <a:ln/>
        </p:spPr>
      </p:sp>
      <p:sp>
        <p:nvSpPr>
          <p:cNvPr id="16" name="Shape 14"/>
          <p:cNvSpPr/>
          <p:nvPr/>
        </p:nvSpPr>
        <p:spPr>
          <a:xfrm>
            <a:off x="713232" y="4123944"/>
            <a:ext cx="512064" cy="512064"/>
          </a:xfrm>
          <a:prstGeom prst="ellipse">
            <a:avLst/>
          </a:prstGeom>
          <a:solidFill>
            <a:srgbClr val="B8860B"/>
          </a:solidFill>
          <a:ln/>
        </p:spPr>
      </p:sp>
      <p:sp>
        <p:nvSpPr>
          <p:cNvPr id="17" name="Text 15"/>
          <p:cNvSpPr/>
          <p:nvPr/>
        </p:nvSpPr>
        <p:spPr>
          <a:xfrm>
            <a:off x="713232" y="41239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p:nvPr/>
        </p:nvSpPr>
        <p:spPr>
          <a:xfrm>
            <a:off x="1389888" y="3922776"/>
            <a:ext cx="10012680" cy="329184"/>
          </a:xfrm>
          <a:prstGeom prst="rect">
            <a:avLst/>
          </a:prstGeom>
          <a:noFill/>
          <a:ln/>
        </p:spPr>
        <p:txBody>
          <a:bodyPr wrap="square" lIns="0" tIns="0" rIns="0" bIns="0" rtlCol="0" anchor="ctr"/>
          <a:lstStyle/>
          <a:p>
            <a:pPr indent="0" marL="0">
              <a:buNone/>
            </a:pPr>
            <a:r>
              <a:rPr lang="en-US" sz="1750" b="1" dirty="0">
                <a:solidFill>
                  <a:srgbClr val="B8860B"/>
                </a:solidFill>
                <a:latin typeface="Arial" pitchFamily="34" charset="0"/>
                <a:ea typeface="Arial" pitchFamily="34" charset="-122"/>
                <a:cs typeface="Arial" pitchFamily="34" charset="-120"/>
              </a:rPr>
              <a:t>MTBLS326 batch-confound audit</a:t>
            </a:r>
            <a:endParaRPr lang="en-US" sz="1750" dirty="0"/>
          </a:p>
        </p:txBody>
      </p:sp>
      <p:sp>
        <p:nvSpPr>
          <p:cNvPr id="19" name="Text 17"/>
          <p:cNvSpPr/>
          <p:nvPr/>
        </p:nvSpPr>
        <p:spPr>
          <a:xfrm>
            <a:off x="1389888" y="4215384"/>
            <a:ext cx="10012680" cy="603504"/>
          </a:xfrm>
          <a:prstGeom prst="rect">
            <a:avLst/>
          </a:prstGeom>
          <a:noFill/>
          <a:ln/>
        </p:spPr>
        <p:txBody>
          <a:bodyPr wrap="square" lIns="0" tIns="0" rIns="0" bIns="0" rtlCol="0" anchor="t"/>
          <a:lstStyle/>
          <a:p>
            <a:pPr indent="0" marL="0">
              <a:lnSpc>
                <a:spcPts val="1700"/>
              </a:lnSpc>
              <a:buNone/>
            </a:pPr>
            <a:r>
              <a:rPr lang="en-US" sz="1400" dirty="0">
                <a:solidFill>
                  <a:srgbClr val="1A1A1A"/>
                </a:solidFill>
                <a:latin typeface="Arial" pitchFamily="34" charset="0"/>
                <a:ea typeface="Arial" pitchFamily="34" charset="-122"/>
                <a:cs typeface="Arial" pitchFamily="34" charset="-120"/>
              </a:rPr>
              <a:t>Still outstanding, cheap, and MTBLS326 is one of only two targets where SSL is competitive. Its perfect 1.000 on n=42 is unverified as biology rather than run-order artifact.</a:t>
            </a:r>
            <a:endParaRPr lang="en-US" sz="1400" dirty="0"/>
          </a:p>
        </p:txBody>
      </p:sp>
      <p:sp>
        <p:nvSpPr>
          <p:cNvPr id="20" name="Shape 18"/>
          <p:cNvSpPr/>
          <p:nvPr/>
        </p:nvSpPr>
        <p:spPr>
          <a:xfrm>
            <a:off x="502920" y="5065776"/>
            <a:ext cx="11155680" cy="1005840"/>
          </a:xfrm>
          <a:prstGeom prst="roundRect">
            <a:avLst>
              <a:gd name="adj" fmla="val 7273"/>
            </a:avLst>
          </a:prstGeom>
          <a:solidFill>
            <a:srgbClr val="EEF3F7"/>
          </a:solidFill>
          <a:ln/>
        </p:spPr>
      </p:sp>
      <p:sp>
        <p:nvSpPr>
          <p:cNvPr id="21" name="Shape 19"/>
          <p:cNvSpPr/>
          <p:nvPr/>
        </p:nvSpPr>
        <p:spPr>
          <a:xfrm>
            <a:off x="713232" y="5340096"/>
            <a:ext cx="512064" cy="512064"/>
          </a:xfrm>
          <a:prstGeom prst="ellipse">
            <a:avLst/>
          </a:prstGeom>
          <a:solidFill>
            <a:srgbClr val="1C7293"/>
          </a:solidFill>
          <a:ln/>
        </p:spPr>
      </p:sp>
      <p:sp>
        <p:nvSpPr>
          <p:cNvPr id="22" name="Text 20"/>
          <p:cNvSpPr/>
          <p:nvPr/>
        </p:nvSpPr>
        <p:spPr>
          <a:xfrm>
            <a:off x="713232" y="534009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3" name="Text 21"/>
          <p:cNvSpPr/>
          <p:nvPr/>
        </p:nvSpPr>
        <p:spPr>
          <a:xfrm>
            <a:off x="1389888" y="5138928"/>
            <a:ext cx="10012680" cy="329184"/>
          </a:xfrm>
          <a:prstGeom prst="rect">
            <a:avLst/>
          </a:prstGeom>
          <a:noFill/>
          <a:ln/>
        </p:spPr>
        <p:txBody>
          <a:bodyPr wrap="square" lIns="0" tIns="0" rIns="0" bIns="0" rtlCol="0" anchor="ctr"/>
          <a:lstStyle/>
          <a:p>
            <a:pPr indent="0" marL="0">
              <a:buNone/>
            </a:pPr>
            <a:r>
              <a:rPr lang="en-US" sz="1750" b="1" dirty="0">
                <a:solidFill>
                  <a:srgbClr val="1C7293"/>
                </a:solidFill>
                <a:latin typeface="Arial" pitchFamily="34" charset="0"/>
                <a:ea typeface="Arial" pitchFamily="34" charset="-122"/>
                <a:cs typeface="Arial" pitchFamily="34" charset="-120"/>
              </a:rPr>
              <a:t>Finish jigsaw / joint few-shot arms</a:t>
            </a:r>
            <a:endParaRPr lang="en-US" sz="1750" dirty="0"/>
          </a:p>
        </p:txBody>
      </p:sp>
      <p:sp>
        <p:nvSpPr>
          <p:cNvPr id="24" name="Text 22"/>
          <p:cNvSpPr/>
          <p:nvPr/>
        </p:nvSpPr>
        <p:spPr>
          <a:xfrm>
            <a:off x="1389888" y="5431536"/>
            <a:ext cx="10012680" cy="603504"/>
          </a:xfrm>
          <a:prstGeom prst="rect">
            <a:avLst/>
          </a:prstGeom>
          <a:noFill/>
          <a:ln/>
        </p:spPr>
        <p:txBody>
          <a:bodyPr wrap="square" lIns="0" tIns="0" rIns="0" bIns="0" rtlCol="0" anchor="t"/>
          <a:lstStyle/>
          <a:p>
            <a:pPr indent="0" marL="0">
              <a:lnSpc>
                <a:spcPts val="1700"/>
              </a:lnSpc>
              <a:buNone/>
            </a:pPr>
            <a:r>
              <a:rPr lang="en-US" sz="1400" dirty="0">
                <a:solidFill>
                  <a:srgbClr val="1A1A1A"/>
                </a:solidFill>
                <a:latin typeface="Arial" pitchFamily="34" charset="0"/>
                <a:ea typeface="Arial" pitchFamily="34" charset="-122"/>
                <a:cs typeface="Arial" pitchFamily="34" charset="-120"/>
              </a:rPr>
              <a:t>Running now. The random-init control already predicts they will be worse than masking, so this is completeness rather than discovery.</a:t>
            </a:r>
            <a:endParaRPr lang="en-US" sz="1400" dirty="0"/>
          </a:p>
        </p:txBody>
      </p:sp>
      <p:sp>
        <p:nvSpPr>
          <p:cNvPr id="25" name="Shape 23"/>
          <p:cNvSpPr/>
          <p:nvPr/>
        </p:nvSpPr>
        <p:spPr>
          <a:xfrm>
            <a:off x="502920" y="6236208"/>
            <a:ext cx="11155680" cy="914"/>
          </a:xfrm>
          <a:prstGeom prst="roundRect">
            <a:avLst>
              <a:gd name="adj" fmla="val 8003501"/>
            </a:avLst>
          </a:prstGeom>
          <a:solidFill>
            <a:srgbClr val="FFFFFF"/>
          </a:solidFill>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914400" y="1371600"/>
            <a:ext cx="10332720" cy="86868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Discussion</a:t>
            </a:r>
            <a:endParaRPr lang="en-US" sz="4200" dirty="0"/>
          </a:p>
        </p:txBody>
      </p:sp>
      <p:sp>
        <p:nvSpPr>
          <p:cNvPr id="3" name="Text 1"/>
          <p:cNvSpPr/>
          <p:nvPr/>
        </p:nvSpPr>
        <p:spPr>
          <a:xfrm>
            <a:off x="914400" y="2286000"/>
            <a:ext cx="10332720" cy="457200"/>
          </a:xfrm>
          <a:prstGeom prst="rect">
            <a:avLst/>
          </a:prstGeom>
          <a:noFill/>
          <a:ln/>
        </p:spPr>
        <p:txBody>
          <a:bodyPr wrap="square" lIns="0" tIns="0" rIns="0" bIns="0" rtlCol="0" anchor="ctr"/>
          <a:lstStyle/>
          <a:p>
            <a:pPr indent="0" marL="0">
              <a:buNone/>
            </a:pPr>
            <a:r>
              <a:rPr lang="en-US" sz="2100" i="1" dirty="0">
                <a:solidFill>
                  <a:srgbClr val="CADCFC"/>
                </a:solidFill>
                <a:latin typeface="Arial" pitchFamily="34" charset="0"/>
                <a:ea typeface="Arial" pitchFamily="34" charset="-122"/>
                <a:cs typeface="Arial" pitchFamily="34" charset="-120"/>
              </a:rPr>
              <a:t>Three things I would like the group's view on</a:t>
            </a:r>
            <a:endParaRPr lang="en-US" sz="2100" dirty="0"/>
          </a:p>
        </p:txBody>
      </p:sp>
      <p:sp>
        <p:nvSpPr>
          <p:cNvPr id="4" name="Shape 2"/>
          <p:cNvSpPr/>
          <p:nvPr/>
        </p:nvSpPr>
        <p:spPr>
          <a:xfrm>
            <a:off x="914400" y="2871216"/>
            <a:ext cx="10332720" cy="1005840"/>
          </a:xfrm>
          <a:prstGeom prst="roundRect">
            <a:avLst>
              <a:gd name="adj" fmla="val 7273"/>
            </a:avLst>
          </a:prstGeom>
          <a:solidFill>
            <a:srgbClr val="2E3A73"/>
          </a:solidFill>
          <a:ln/>
        </p:spPr>
      </p:sp>
      <p:sp>
        <p:nvSpPr>
          <p:cNvPr id="5" name="Shape 3"/>
          <p:cNvSpPr/>
          <p:nvPr/>
        </p:nvSpPr>
        <p:spPr>
          <a:xfrm>
            <a:off x="1143000" y="3127248"/>
            <a:ext cx="502920" cy="502920"/>
          </a:xfrm>
          <a:prstGeom prst="ellipse">
            <a:avLst/>
          </a:prstGeom>
          <a:solidFill>
            <a:srgbClr val="6FD3C7"/>
          </a:solidFill>
          <a:ln/>
        </p:spPr>
      </p:sp>
      <p:sp>
        <p:nvSpPr>
          <p:cNvPr id="6" name="Text 4"/>
          <p:cNvSpPr/>
          <p:nvPr/>
        </p:nvSpPr>
        <p:spPr>
          <a:xfrm>
            <a:off x="1143000" y="31272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810512" y="296265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Is cross-cohort transfer the right last test?</a:t>
            </a:r>
            <a:endParaRPr lang="en-US" sz="1750" dirty="0"/>
          </a:p>
        </p:txBody>
      </p:sp>
      <p:sp>
        <p:nvSpPr>
          <p:cNvPr id="8" name="Text 6"/>
          <p:cNvSpPr/>
          <p:nvPr/>
        </p:nvSpPr>
        <p:spPr>
          <a:xfrm>
            <a:off x="1810512" y="328269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It is the one setting where a learned representation should beat absolute binned intensities. If it fails there too, I would call the backbone approach closed for this data scale.</a:t>
            </a:r>
            <a:endParaRPr lang="en-US" sz="1450" dirty="0"/>
          </a:p>
        </p:txBody>
      </p:sp>
      <p:sp>
        <p:nvSpPr>
          <p:cNvPr id="9" name="Shape 7"/>
          <p:cNvSpPr/>
          <p:nvPr/>
        </p:nvSpPr>
        <p:spPr>
          <a:xfrm>
            <a:off x="914400" y="3968496"/>
            <a:ext cx="10332720" cy="1005840"/>
          </a:xfrm>
          <a:prstGeom prst="roundRect">
            <a:avLst>
              <a:gd name="adj" fmla="val 7273"/>
            </a:avLst>
          </a:prstGeom>
          <a:solidFill>
            <a:srgbClr val="2E3A73"/>
          </a:solidFill>
          <a:ln/>
        </p:spPr>
      </p:sp>
      <p:sp>
        <p:nvSpPr>
          <p:cNvPr id="10" name="Shape 8"/>
          <p:cNvSpPr/>
          <p:nvPr/>
        </p:nvSpPr>
        <p:spPr>
          <a:xfrm>
            <a:off x="1143000" y="4224528"/>
            <a:ext cx="502920" cy="502920"/>
          </a:xfrm>
          <a:prstGeom prst="ellipse">
            <a:avLst/>
          </a:prstGeom>
          <a:solidFill>
            <a:srgbClr val="6FD3C7"/>
          </a:solidFill>
          <a:ln/>
        </p:spPr>
      </p:sp>
      <p:sp>
        <p:nvSpPr>
          <p:cNvPr id="11" name="Text 9"/>
          <p:cNvSpPr/>
          <p:nvPr/>
        </p:nvSpPr>
        <p:spPr>
          <a:xfrm>
            <a:off x="1143000" y="422452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p:nvPr/>
        </p:nvSpPr>
        <p:spPr>
          <a:xfrm>
            <a:off x="1810512" y="405993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How much more pretraining data can we realistically get?</a:t>
            </a:r>
            <a:endParaRPr lang="en-US" sz="1750" dirty="0"/>
          </a:p>
        </p:txBody>
      </p:sp>
      <p:sp>
        <p:nvSpPr>
          <p:cNvPr id="13" name="Text 11"/>
          <p:cNvSpPr/>
          <p:nvPr/>
        </p:nvSpPr>
        <p:spPr>
          <a:xfrm>
            <a:off x="1810512" y="437997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If we cannot get to ~100k spectra, the scaling experiment tells us the ceiling but not how to beat it. Are there cohorts or repositories we are not using?</a:t>
            </a:r>
            <a:endParaRPr lang="en-US" sz="1450" dirty="0"/>
          </a:p>
        </p:txBody>
      </p:sp>
      <p:sp>
        <p:nvSpPr>
          <p:cNvPr id="14" name="Shape 12"/>
          <p:cNvSpPr/>
          <p:nvPr/>
        </p:nvSpPr>
        <p:spPr>
          <a:xfrm>
            <a:off x="914400" y="5065776"/>
            <a:ext cx="10332720" cy="1005840"/>
          </a:xfrm>
          <a:prstGeom prst="roundRect">
            <a:avLst>
              <a:gd name="adj" fmla="val 7273"/>
            </a:avLst>
          </a:prstGeom>
          <a:solidFill>
            <a:srgbClr val="2E3A73"/>
          </a:solidFill>
          <a:ln/>
        </p:spPr>
      </p:sp>
      <p:sp>
        <p:nvSpPr>
          <p:cNvPr id="15" name="Shape 13"/>
          <p:cNvSpPr/>
          <p:nvPr/>
        </p:nvSpPr>
        <p:spPr>
          <a:xfrm>
            <a:off x="1143000" y="5321808"/>
            <a:ext cx="502920" cy="502920"/>
          </a:xfrm>
          <a:prstGeom prst="ellipse">
            <a:avLst/>
          </a:prstGeom>
          <a:solidFill>
            <a:srgbClr val="6FD3C7"/>
          </a:solidFill>
          <a:ln/>
        </p:spPr>
      </p:sp>
      <p:sp>
        <p:nvSpPr>
          <p:cNvPr id="16" name="Text 14"/>
          <p:cNvSpPr/>
          <p:nvPr/>
        </p:nvSpPr>
        <p:spPr>
          <a:xfrm>
            <a:off x="1143000" y="53218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1810512" y="515721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Is a rigorous negative result publishable from this group?</a:t>
            </a:r>
            <a:endParaRPr lang="en-US" sz="1750" dirty="0"/>
          </a:p>
        </p:txBody>
      </p:sp>
      <p:sp>
        <p:nvSpPr>
          <p:cNvPr id="18" name="Text 16"/>
          <p:cNvSpPr/>
          <p:nvPr/>
        </p:nvSpPr>
        <p:spPr>
          <a:xfrm>
            <a:off x="1810512" y="547725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Five targets, paired protocol, measured noise floor, three self-retractions. I think it is useful to the field — but I would like your read before I write it that way.</a:t>
            </a:r>
            <a:endParaRPr lang="en-US" sz="1450" dirty="0"/>
          </a:p>
        </p:txBody>
      </p:sp>
      <p:sp>
        <p:nvSpPr>
          <p:cNvPr id="19" name="Text 17"/>
          <p:cNvSpPr/>
          <p:nvPr/>
        </p:nvSpPr>
        <p:spPr>
          <a:xfrm>
            <a:off x="914400" y="6126480"/>
            <a:ext cx="10332720" cy="292608"/>
          </a:xfrm>
          <a:prstGeom prst="rect">
            <a:avLst/>
          </a:prstGeom>
          <a:noFill/>
          <a:ln/>
        </p:spPr>
        <p:txBody>
          <a:bodyPr wrap="square" lIns="0" tIns="0" rIns="0" bIns="0" rtlCol="0" anchor="ctr"/>
          <a:lstStyle/>
          <a:p>
            <a:pPr indent="0" marL="0">
              <a:buNone/>
            </a:pPr>
            <a:r>
              <a:rPr lang="en-US" sz="1500" i="1" dirty="0">
                <a:solidFill>
                  <a:srgbClr val="7FA8C4"/>
                </a:solidFill>
                <a:latin typeface="Arial" pitchFamily="34" charset="0"/>
                <a:ea typeface="Arial" pitchFamily="34" charset="-122"/>
                <a:cs typeface="Arial" pitchFamily="34" charset="-120"/>
              </a:rPr>
              <a:t>Thank you — and thanks to Gayatree for the Tirupati TBI samples that started this off.</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Foundation Model for NMR Metabolomics — Group Meeting Aug 2026</dc:title>
  <dc:subject>PptxGenJS Presentation</dc:subject>
  <dc:creator>Shankararama Sharma</dc:creator>
  <cp:lastModifiedBy>Shankararama Sharma</cp:lastModifiedBy>
  <cp:revision>1</cp:revision>
  <dcterms:created xsi:type="dcterms:W3CDTF">2026-08-22T10:38:39Z</dcterms:created>
  <dcterms:modified xsi:type="dcterms:W3CDTF">2026-08-22T10:38:39Z</dcterms:modified>
</cp:coreProperties>
</file>