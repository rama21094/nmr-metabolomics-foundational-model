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throughout is balanced accuracy, so an uneven split between patient groups does not flatter the score. 'Standard ML' is the best of eight classical models (regularised logistic regression, SVMs, random forest, boosting, PLS-DA, LDA) on binned spectra.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Every whiteboard question now has an answer</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Four questions, each tested with real experiments rather than argued</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1</a:t>
            </a:r>
          </a:p>
        </p:txBody>
      </p:sp>
      <p:graphicFrame>
        <p:nvGraphicFramePr>
          <p:cNvPr id="5" name="Table 4"/>
          <p:cNvGraphicFramePr>
            <a:graphicFrameLocks noGrp="1"/>
          </p:cNvGraphicFramePr>
          <p:nvPr/>
        </p:nvGraphicFramePr>
        <p:xfrm>
          <a:off x="502920" y="1508760"/>
          <a:ext cx="11155680" cy="3291839"/>
        </p:xfrm>
        <a:graphic>
          <a:graphicData uri="http://schemas.openxmlformats.org/drawingml/2006/table">
            <a:tbl>
              <a:tblPr firstRow="1" bandRow="1">
                <a:tableStyleId>{5C22544A-7EE6-4342-B048-85BDC9FD1C3A}</a:tableStyleId>
              </a:tblPr>
              <a:tblGrid>
                <a:gridCol w="4206240"/>
                <a:gridCol w="4846320"/>
                <a:gridCol w="2103120"/>
              </a:tblGrid>
              <a:tr h="658367">
                <a:tc>
                  <a:txBody>
                    <a:bodyPr/>
                    <a:lstStyle/>
                    <a:p>
                      <a:pPr algn="l"/>
                      <a:r>
                        <a:rPr sz="1300" b="1">
                          <a:solidFill>
                            <a:srgbClr val="1E2761"/>
                          </a:solidFill>
                          <a:latin typeface="Arial"/>
                        </a:rPr>
                        <a:t>Question</a:t>
                      </a:r>
                    </a:p>
                  </a:txBody>
                  <a:tcPr anchor="ctr">
                    <a:solidFill>
                      <a:srgbClr val="F4F2EA"/>
                    </a:solidFill>
                  </a:tcPr>
                </a:tc>
                <a:tc>
                  <a:txBody>
                    <a:bodyPr/>
                    <a:lstStyle/>
                    <a:p>
                      <a:pPr algn="ctr"/>
                      <a:r>
                        <a:rPr sz="1300" b="1">
                          <a:solidFill>
                            <a:srgbClr val="1E2761"/>
                          </a:solidFill>
                          <a:latin typeface="Arial"/>
                        </a:rPr>
                        <a:t>What we found</a:t>
                      </a:r>
                    </a:p>
                  </a:txBody>
                  <a:tcPr anchor="ctr">
                    <a:solidFill>
                      <a:srgbClr val="F4F2EA"/>
                    </a:solidFill>
                  </a:tcPr>
                </a:tc>
                <a:tc>
                  <a:txBody>
                    <a:bodyPr/>
                    <a:lstStyle/>
                    <a:p>
                      <a:pPr algn="ctr"/>
                      <a:r>
                        <a:rPr sz="1300" b="1">
                          <a:solidFill>
                            <a:srgbClr val="1E2761"/>
                          </a:solidFill>
                          <a:latin typeface="Arial"/>
                        </a:rPr>
                        <a:t>Answer</a:t>
                      </a:r>
                    </a:p>
                  </a:txBody>
                  <a:tcPr anchor="ctr">
                    <a:solidFill>
                      <a:srgbClr val="F4F2EA"/>
                    </a:solidFill>
                  </a:tcPr>
                </a:tc>
              </a:tr>
              <a:tr h="658367">
                <a:tc>
                  <a:txBody>
                    <a:bodyPr/>
                    <a:lstStyle/>
                    <a:p>
                      <a:pPr algn="l"/>
                      <a:r>
                        <a:rPr sz="1300" b="0">
                          <a:solidFill>
                            <a:srgbClr val="3C3C48"/>
                          </a:solidFill>
                          <a:latin typeface="Arial"/>
                        </a:rPr>
                        <a:t>1. Can a pretrained model beat standard ML on our patient cohorts?</a:t>
                      </a:r>
                    </a:p>
                  </a:txBody>
                  <a:tcPr anchor="ctr">
                    <a:solidFill>
                      <a:srgbClr val="FFFFFF"/>
                    </a:solidFill>
                  </a:tcPr>
                </a:tc>
                <a:tc>
                  <a:txBody>
                    <a:bodyPr/>
                    <a:lstStyle/>
                    <a:p>
                      <a:pPr algn="ctr"/>
                      <a:r>
                        <a:rPr sz="1300" b="0">
                          <a:solidFill>
                            <a:srgbClr val="3C3C48"/>
                          </a:solidFill>
                          <a:latin typeface="Arial"/>
                        </a:rPr>
                        <a:t>Standard ML wins in all 24 comparisons, even after fine-tuning</a:t>
                      </a:r>
                    </a:p>
                  </a:txBody>
                  <a:tcPr anchor="ctr">
                    <a:solidFill>
                      <a:srgbClr val="FFFFFF"/>
                    </a:solidFill>
                  </a:tcPr>
                </a:tc>
                <a:tc>
                  <a:txBody>
                    <a:bodyPr/>
                    <a:lstStyle/>
                    <a:p>
                      <a:pPr algn="ctr"/>
                      <a:r>
                        <a:rPr sz="1300" b="0">
                          <a:solidFill>
                            <a:srgbClr val="C0272D"/>
                          </a:solidFill>
                          <a:latin typeface="Arial"/>
                        </a:rPr>
                        <a:t>No</a:t>
                      </a:r>
                    </a:p>
                  </a:txBody>
                  <a:tcPr anchor="ctr">
                    <a:solidFill>
                      <a:srgbClr val="FFFFFF"/>
                    </a:solidFill>
                  </a:tcPr>
                </a:tc>
              </a:tr>
              <a:tr h="658367">
                <a:tc>
                  <a:txBody>
                    <a:bodyPr/>
                    <a:lstStyle/>
                    <a:p>
                      <a:pPr algn="l"/>
                      <a:r>
                        <a:rPr sz="1300" b="0">
                          <a:solidFill>
                            <a:srgbClr val="3C3C48"/>
                          </a:solidFill>
                          <a:latin typeface="Arial"/>
                        </a:rPr>
                        <a:t>2. Is the amount of data holding us back?</a:t>
                      </a:r>
                    </a:p>
                  </a:txBody>
                  <a:tcPr anchor="ctr">
                    <a:solidFill>
                      <a:srgbClr val="FFFFFF"/>
                    </a:solidFill>
                  </a:tcPr>
                </a:tc>
                <a:tc>
                  <a:txBody>
                    <a:bodyPr/>
                    <a:lstStyle/>
                    <a:p>
                      <a:pPr algn="ctr"/>
                      <a:r>
                        <a:rPr sz="1300" b="0">
                          <a:solidFill>
                            <a:srgbClr val="3C3C48"/>
                          </a:solidFill>
                          <a:latin typeface="Arial"/>
                        </a:rPr>
                        <a:t>More spectra stop helping at ~2,000. More studies keep helping</a:t>
                      </a:r>
                    </a:p>
                  </a:txBody>
                  <a:tcPr anchor="ctr">
                    <a:solidFill>
                      <a:srgbClr val="FFFFFF"/>
                    </a:solidFill>
                  </a:tcPr>
                </a:tc>
                <a:tc>
                  <a:txBody>
                    <a:bodyPr/>
                    <a:lstStyle/>
                    <a:p>
                      <a:pPr algn="ctr"/>
                      <a:r>
                        <a:rPr sz="1300" b="0">
                          <a:solidFill>
                            <a:srgbClr val="C0272D"/>
                          </a:solidFill>
                          <a:latin typeface="Arial"/>
                        </a:rPr>
                        <a:t>Not the amount - the variety</a:t>
                      </a:r>
                    </a:p>
                  </a:txBody>
                  <a:tcPr anchor="ctr">
                    <a:solidFill>
                      <a:srgbClr val="FFFFFF"/>
                    </a:solidFill>
                  </a:tcPr>
                </a:tc>
              </a:tr>
              <a:tr h="658367">
                <a:tc>
                  <a:txBody>
                    <a:bodyPr/>
                    <a:lstStyle/>
                    <a:p>
                      <a:pPr algn="l"/>
                      <a:r>
                        <a:rPr sz="1300" b="0">
                          <a:solidFill>
                            <a:srgbClr val="3C3C48"/>
                          </a:solidFill>
                          <a:latin typeface="Arial"/>
                        </a:rPr>
                        <a:t>3. Can synthetic spectra fill the gap?</a:t>
                      </a:r>
                    </a:p>
                  </a:txBody>
                  <a:tcPr anchor="ctr">
                    <a:solidFill>
                      <a:srgbClr val="FFFFFF"/>
                    </a:solidFill>
                  </a:tcPr>
                </a:tc>
                <a:tc>
                  <a:txBody>
                    <a:bodyPr/>
                    <a:lstStyle/>
                    <a:p>
                      <a:pPr algn="ctr"/>
                      <a:r>
                        <a:rPr sz="1300" b="0">
                          <a:solidFill>
                            <a:srgbClr val="3C3C48"/>
                          </a:solidFill>
                          <a:latin typeface="Arial"/>
                        </a:rPr>
                        <a:t>Neither method produces spectra realistic enough to train on</a:t>
                      </a:r>
                    </a:p>
                  </a:txBody>
                  <a:tcPr anchor="ctr">
                    <a:solidFill>
                      <a:srgbClr val="FFFFFF"/>
                    </a:solidFill>
                  </a:tcPr>
                </a:tc>
                <a:tc>
                  <a:txBody>
                    <a:bodyPr/>
                    <a:lstStyle/>
                    <a:p>
                      <a:pPr algn="ctr"/>
                      <a:r>
                        <a:rPr sz="1300" b="0">
                          <a:solidFill>
                            <a:srgbClr val="C0272D"/>
                          </a:solidFill>
                          <a:latin typeface="Arial"/>
                        </a:rPr>
                        <a:t>Not yet</a:t>
                      </a:r>
                    </a:p>
                  </a:txBody>
                  <a:tcPr anchor="ctr">
                    <a:solidFill>
                      <a:srgbClr val="FFFFFF"/>
                    </a:solidFill>
                  </a:tcPr>
                </a:tc>
              </a:tr>
              <a:tr h="658371">
                <a:tc>
                  <a:txBody>
                    <a:bodyPr/>
                    <a:lstStyle/>
                    <a:p>
                      <a:pPr algn="l"/>
                      <a:r>
                        <a:rPr sz="1300" b="0">
                          <a:solidFill>
                            <a:srgbClr val="3C3C48"/>
                          </a:solidFill>
                          <a:latin typeface="Arial"/>
                        </a:rPr>
                        <a:t>4. Would a bigger model help?</a:t>
                      </a:r>
                    </a:p>
                  </a:txBody>
                  <a:tcPr anchor="ctr">
                    <a:solidFill>
                      <a:srgbClr val="FFFFFF"/>
                    </a:solidFill>
                  </a:tcPr>
                </a:tc>
                <a:tc>
                  <a:txBody>
                    <a:bodyPr/>
                    <a:lstStyle/>
                    <a:p>
                      <a:pPr algn="ctr"/>
                      <a:r>
                        <a:rPr sz="1300" b="0">
                          <a:solidFill>
                            <a:srgbClr val="3C3C48"/>
                          </a:solidFill>
                          <a:latin typeface="Arial"/>
                        </a:rPr>
                        <a:t>Slightly, then it levels off - still behind standard ML</a:t>
                      </a:r>
                    </a:p>
                  </a:txBody>
                  <a:tcPr anchor="ctr">
                    <a:solidFill>
                      <a:srgbClr val="FFFFFF"/>
                    </a:solidFill>
                  </a:tcPr>
                </a:tc>
                <a:tc>
                  <a:txBody>
                    <a:bodyPr/>
                    <a:lstStyle/>
                    <a:p>
                      <a:pPr algn="ctr"/>
                      <a:r>
                        <a:rPr sz="1300" b="0">
                          <a:solidFill>
                            <a:srgbClr val="C0272D"/>
                          </a:solidFill>
                          <a:latin typeface="Arial"/>
                        </a:rPr>
                        <a:t>Not enough</a:t>
                      </a:r>
                    </a:p>
                  </a:txBody>
                  <a:tcPr anchor="ctr">
                    <a:solidFill>
                      <a:srgbClr val="FFFFFF"/>
                    </a:solidFill>
                  </a:tcPr>
                </a:tc>
              </a:tr>
            </a:tbl>
          </a:graphicData>
        </a:graphic>
      </p:graphicFrame>
      <p:sp>
        <p:nvSpPr>
          <p:cNvPr id="6" name="Rounded Rectangle 5"/>
          <p:cNvSpPr/>
          <p:nvPr/>
        </p:nvSpPr>
        <p:spPr>
          <a:xfrm>
            <a:off x="502920" y="5074920"/>
            <a:ext cx="11155680" cy="105156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5202936"/>
            <a:ext cx="10643615" cy="868680"/>
          </a:xfrm>
          <a:prstGeom prst="rect">
            <a:avLst/>
          </a:prstGeom>
          <a:noFill/>
        </p:spPr>
        <p:txBody>
          <a:bodyPr wrap="square" lIns="0" rIns="0" tIns="0" bIns="0">
            <a:spAutoFit/>
          </a:bodyPr>
          <a:lstStyle/>
          <a:p>
            <a:pPr algn="l"/>
            <a:r>
              <a:rPr sz="1400" b="1" i="0">
                <a:solidFill>
                  <a:srgbClr val="1E2761"/>
                </a:solidFill>
                <a:latin typeface="Arial"/>
              </a:rPr>
              <a:t>Bottom line:  </a:t>
            </a:r>
            <a:r>
              <a:rPr sz="1400" b="0" i="0">
                <a:solidFill>
                  <a:srgbClr val="3C3C48"/>
                </a:solidFill>
                <a:latin typeface="Arial"/>
              </a:rPr>
              <a:t>with the public data available today, standard ML is the better tool for these small clinical cohorts. What would change that is data from many more independent studies - not more spectra from the studies we already have.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1. Standard ML beats the pretrained model on every cohort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Six patient comparisons, from 5 labelled patients per group up to all of them</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2</a:t>
            </a:r>
          </a:p>
        </p:txBody>
      </p:sp>
      <p:pic>
        <p:nvPicPr>
          <p:cNvPr id="5" name="Picture 4" descr="fig7_G1_per_cohort_slim.png"/>
          <p:cNvPicPr>
            <a:picLocks noChangeAspect="1"/>
          </p:cNvPicPr>
          <p:nvPr/>
        </p:nvPicPr>
        <p:blipFill>
          <a:blip r:embed="rId2"/>
          <a:stretch>
            <a:fillRect/>
          </a:stretch>
        </p:blipFill>
        <p:spPr>
          <a:xfrm>
            <a:off x="502920" y="1371600"/>
            <a:ext cx="7498079" cy="2783378"/>
          </a:xfrm>
          <a:prstGeom prst="rect">
            <a:avLst/>
          </a:prstGeom>
        </p:spPr>
      </p:pic>
      <p:sp>
        <p:nvSpPr>
          <p:cNvPr id="6" name="TextBox 5"/>
          <p:cNvSpPr txBox="1"/>
          <p:nvPr/>
        </p:nvSpPr>
        <p:spPr>
          <a:xfrm>
            <a:off x="502920" y="4224528"/>
            <a:ext cx="7498079" cy="274320"/>
          </a:xfrm>
          <a:prstGeom prst="rect">
            <a:avLst/>
          </a:prstGeom>
          <a:noFill/>
        </p:spPr>
        <p:txBody>
          <a:bodyPr wrap="square" lIns="0" rIns="0" tIns="0" bIns="0">
            <a:spAutoFit/>
          </a:bodyPr>
          <a:lstStyle/>
          <a:p>
            <a:pPr algn="l"/>
            <a:r>
              <a:rPr sz="1050" b="0" i="1">
                <a:solidFill>
                  <a:srgbClr val="5A5A6E"/>
                </a:solidFill>
                <a:latin typeface="Arial"/>
              </a:rPr>
              <a:t>Red = standard ML.  Blues = our pretrained model, three ways of pretraining it.  Error bars: spread across 5 runs.</a:t>
            </a:r>
          </a:p>
        </p:txBody>
      </p:sp>
      <p:sp>
        <p:nvSpPr>
          <p:cNvPr id="7" name="TextBox 6"/>
          <p:cNvSpPr txBox="1"/>
          <p:nvPr/>
        </p:nvSpPr>
        <p:spPr>
          <a:xfrm>
            <a:off x="8275320" y="1417320"/>
            <a:ext cx="3383280" cy="320040"/>
          </a:xfrm>
          <a:prstGeom prst="rect">
            <a:avLst/>
          </a:prstGeom>
          <a:noFill/>
        </p:spPr>
        <p:txBody>
          <a:bodyPr wrap="square" lIns="0" rIns="0" tIns="0" bIns="0">
            <a:spAutoFit/>
          </a:bodyPr>
          <a:lstStyle/>
          <a:p>
            <a:pPr algn="l"/>
            <a:r>
              <a:rPr sz="1400" b="1" i="0">
                <a:solidFill>
                  <a:srgbClr val="1E2761"/>
                </a:solidFill>
                <a:latin typeface="Arial"/>
              </a:rPr>
              <a:t>Does retraining the model help?</a:t>
            </a:r>
          </a:p>
        </p:txBody>
      </p:sp>
      <p:graphicFrame>
        <p:nvGraphicFramePr>
          <p:cNvPr id="8" name="Table 7"/>
          <p:cNvGraphicFramePr>
            <a:graphicFrameLocks noGrp="1"/>
          </p:cNvGraphicFramePr>
          <p:nvPr/>
        </p:nvGraphicFramePr>
        <p:xfrm>
          <a:off x="8275320" y="1810512"/>
          <a:ext cx="3383280" cy="1536192"/>
        </p:xfrm>
        <a:graphic>
          <a:graphicData uri="http://schemas.openxmlformats.org/drawingml/2006/table">
            <a:tbl>
              <a:tblPr firstRow="1" bandRow="1">
                <a:tableStyleId>{5C22544A-7EE6-4342-B048-85BDC9FD1C3A}</a:tableStyleId>
              </a:tblPr>
              <a:tblGrid>
                <a:gridCol w="2148840"/>
                <a:gridCol w="1234440"/>
              </a:tblGrid>
              <a:tr h="384048">
                <a:tc>
                  <a:txBody>
                    <a:bodyPr/>
                    <a:lstStyle/>
                    <a:p>
                      <a:pPr algn="l"/>
                      <a:r>
                        <a:rPr sz="1200" b="1">
                          <a:solidFill>
                            <a:srgbClr val="1E2761"/>
                          </a:solidFill>
                          <a:latin typeface="Arial"/>
                        </a:rPr>
                        <a:t>How much we retrain</a:t>
                      </a:r>
                    </a:p>
                  </a:txBody>
                  <a:tcPr anchor="ctr">
                    <a:solidFill>
                      <a:srgbClr val="F4F2EA"/>
                    </a:solidFill>
                  </a:tcPr>
                </a:tc>
                <a:tc>
                  <a:txBody>
                    <a:bodyPr/>
                    <a:lstStyle/>
                    <a:p>
                      <a:pPr algn="ctr"/>
                      <a:r>
                        <a:rPr sz="1200" b="1">
                          <a:solidFill>
                            <a:srgbClr val="1E2761"/>
                          </a:solidFill>
                          <a:latin typeface="Arial"/>
                        </a:rPr>
                        <a:t>vs frozen</a:t>
                      </a:r>
                    </a:p>
                  </a:txBody>
                  <a:tcPr anchor="ctr">
                    <a:solidFill>
                      <a:srgbClr val="F4F2EA"/>
                    </a:solidFill>
                  </a:tcPr>
                </a:tc>
              </a:tr>
              <a:tr h="384048">
                <a:tc>
                  <a:txBody>
                    <a:bodyPr/>
                    <a:lstStyle/>
                    <a:p>
                      <a:pPr algn="l"/>
                      <a:r>
                        <a:rPr sz="1200" b="0">
                          <a:solidFill>
                            <a:srgbClr val="3C3C48"/>
                          </a:solidFill>
                          <a:latin typeface="Arial"/>
                        </a:rPr>
                        <a:t>Nothing (frozen)</a:t>
                      </a:r>
                    </a:p>
                  </a:txBody>
                  <a:tcPr anchor="ctr">
                    <a:solidFill>
                      <a:srgbClr val="FFFFFF"/>
                    </a:solidFill>
                  </a:tcPr>
                </a:tc>
                <a:tc>
                  <a:txBody>
                    <a:bodyPr/>
                    <a:lstStyle/>
                    <a:p>
                      <a:pPr algn="ctr"/>
                      <a:r>
                        <a:rPr sz="1200" b="0">
                          <a:solidFill>
                            <a:srgbClr val="3C3C48"/>
                          </a:solidFill>
                          <a:latin typeface="Arial"/>
                        </a:rPr>
                        <a:t>-</a:t>
                      </a:r>
                    </a:p>
                  </a:txBody>
                  <a:tcPr anchor="ctr">
                    <a:solidFill>
                      <a:srgbClr val="FFFFFF"/>
                    </a:solidFill>
                  </a:tcPr>
                </a:tc>
              </a:tr>
              <a:tr h="384048">
                <a:tc>
                  <a:txBody>
                    <a:bodyPr/>
                    <a:lstStyle/>
                    <a:p>
                      <a:pPr algn="l"/>
                      <a:r>
                        <a:rPr sz="1200" b="0">
                          <a:solidFill>
                            <a:srgbClr val="3C3C48"/>
                          </a:solidFill>
                          <a:latin typeface="Arial"/>
                        </a:rPr>
                        <a:t>Last layer only</a:t>
                      </a:r>
                    </a:p>
                  </a:txBody>
                  <a:tcPr anchor="ctr">
                    <a:solidFill>
                      <a:srgbClr val="FFFFFF"/>
                    </a:solidFill>
                  </a:tcPr>
                </a:tc>
                <a:tc>
                  <a:txBody>
                    <a:bodyPr/>
                    <a:lstStyle/>
                    <a:p>
                      <a:pPr algn="ctr"/>
                      <a:r>
                        <a:rPr sz="1200" b="0">
                          <a:solidFill>
                            <a:srgbClr val="3C3C48"/>
                          </a:solidFill>
                          <a:latin typeface="Arial"/>
                        </a:rPr>
                        <a:t>-0.009</a:t>
                      </a:r>
                    </a:p>
                  </a:txBody>
                  <a:tcPr anchor="ctr">
                    <a:solidFill>
                      <a:srgbClr val="FFFFFF"/>
                    </a:solidFill>
                  </a:tcPr>
                </a:tc>
              </a:tr>
              <a:tr h="384048">
                <a:tc>
                  <a:txBody>
                    <a:bodyPr/>
                    <a:lstStyle/>
                    <a:p>
                      <a:pPr algn="l"/>
                      <a:r>
                        <a:rPr sz="1200" b="0">
                          <a:solidFill>
                            <a:srgbClr val="3C3C48"/>
                          </a:solidFill>
                          <a:latin typeface="Arial"/>
                        </a:rPr>
                        <a:t>Whole model</a:t>
                      </a:r>
                    </a:p>
                  </a:txBody>
                  <a:tcPr anchor="ctr">
                    <a:solidFill>
                      <a:srgbClr val="FFFFFF"/>
                    </a:solidFill>
                  </a:tcPr>
                </a:tc>
                <a:tc>
                  <a:txBody>
                    <a:bodyPr/>
                    <a:lstStyle/>
                    <a:p>
                      <a:pPr algn="ctr"/>
                      <a:r>
                        <a:rPr sz="1200" b="0">
                          <a:solidFill>
                            <a:srgbClr val="3C3C48"/>
                          </a:solidFill>
                          <a:latin typeface="Arial"/>
                        </a:rPr>
                        <a:t>-0.010</a:t>
                      </a:r>
                    </a:p>
                  </a:txBody>
                  <a:tcPr anchor="ctr">
                    <a:solidFill>
                      <a:srgbClr val="FFFFFF"/>
                    </a:solidFill>
                  </a:tcPr>
                </a:tc>
              </a:tr>
            </a:tbl>
          </a:graphicData>
        </a:graphic>
      </p:graphicFrame>
      <p:sp>
        <p:nvSpPr>
          <p:cNvPr id="9" name="TextBox 8"/>
          <p:cNvSpPr txBox="1"/>
          <p:nvPr/>
        </p:nvSpPr>
        <p:spPr>
          <a:xfrm>
            <a:off x="8275320" y="3474720"/>
            <a:ext cx="3383280" cy="914400"/>
          </a:xfrm>
          <a:prstGeom prst="rect">
            <a:avLst/>
          </a:prstGeom>
          <a:noFill/>
        </p:spPr>
        <p:txBody>
          <a:bodyPr wrap="square" lIns="0" rIns="0" tIns="0" bIns="0">
            <a:spAutoFit/>
          </a:bodyPr>
          <a:lstStyle/>
          <a:p>
            <a:pPr algn="l"/>
            <a:r>
              <a:rPr sz="1150" b="0" i="0">
                <a:solidFill>
                  <a:srgbClr val="3C3C48"/>
                </a:solidFill>
                <a:latin typeface="Arial"/>
              </a:rPr>
              <a:t>Retraining on so few patients makes it slightly worse - it memorises rather than learns.</a:t>
            </a:r>
          </a:p>
        </p:txBody>
      </p:sp>
      <p:sp>
        <p:nvSpPr>
          <p:cNvPr id="10" name="Rounded Rectangle 9"/>
          <p:cNvSpPr/>
          <p:nvPr/>
        </p:nvSpPr>
        <p:spPr>
          <a:xfrm>
            <a:off x="502920" y="4800600"/>
            <a:ext cx="5486400" cy="96012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928616"/>
            <a:ext cx="4974336" cy="777240"/>
          </a:xfrm>
          <a:prstGeom prst="rect">
            <a:avLst/>
          </a:prstGeom>
          <a:noFill/>
        </p:spPr>
        <p:txBody>
          <a:bodyPr wrap="square" lIns="0" rIns="0" tIns="0" bIns="0">
            <a:spAutoFit/>
          </a:bodyPr>
          <a:lstStyle/>
          <a:p>
            <a:pPr algn="l"/>
            <a:r>
              <a:rPr sz="1250" b="1" i="0">
                <a:solidFill>
                  <a:srgbClr val="C0272D"/>
                </a:solidFill>
                <a:latin typeface="Arial"/>
              </a:rPr>
              <a:t>Standard ML wins 24 of 24.  </a:t>
            </a:r>
            <a:r>
              <a:rPr sz="1250" b="0" i="0">
                <a:solidFill>
                  <a:srgbClr val="3C3C48"/>
                </a:solidFill>
                <a:latin typeface="Arial"/>
              </a:rPr>
              <a:t>Average margin 0.055 in accuracy, at every number of labelled patients - including the smallest, where pretraining was supposed to help most.</a:t>
            </a:r>
          </a:p>
        </p:txBody>
      </p:sp>
      <p:sp>
        <p:nvSpPr>
          <p:cNvPr id="12" name="Rounded Rectangle 11"/>
          <p:cNvSpPr/>
          <p:nvPr/>
        </p:nvSpPr>
        <p:spPr>
          <a:xfrm>
            <a:off x="6172200" y="4800600"/>
            <a:ext cx="5486400" cy="960120"/>
          </a:xfrm>
          <a:prstGeom prst="roundRect">
            <a:avLst>
              <a:gd name="adj" fmla="val 4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4928616"/>
            <a:ext cx="4974336" cy="777240"/>
          </a:xfrm>
          <a:prstGeom prst="rect">
            <a:avLst/>
          </a:prstGeom>
          <a:noFill/>
        </p:spPr>
        <p:txBody>
          <a:bodyPr wrap="square" lIns="0" rIns="0" tIns="0" bIns="0">
            <a:spAutoFit/>
          </a:bodyPr>
          <a:lstStyle/>
          <a:p>
            <a:pPr algn="l"/>
            <a:r>
              <a:rPr sz="1250" b="1" i="0">
                <a:solidFill>
                  <a:srgbClr val="1F6B3B"/>
                </a:solidFill>
                <a:latin typeface="Arial"/>
              </a:rPr>
              <a:t>But pretraining is not useless.  </a:t>
            </a:r>
            <a:r>
              <a:rPr sz="1250" b="0" i="0">
                <a:solidFill>
                  <a:srgbClr val="3C3C48"/>
                </a:solidFill>
                <a:latin typeface="Arial"/>
              </a:rPr>
              <a:t>The same model started from scratch does 0.057 worse. It learns something real from the spectra - just less than standard ML extracts directly.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2. Our '12 studies' behave like about 4</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One study supplies more than half of all the spectra</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3</a:t>
            </a:r>
          </a:p>
        </p:txBody>
      </p:sp>
      <p:pic>
        <p:nvPicPr>
          <p:cNvPr id="5" name="Picture 4" descr="pi25_study_share.png"/>
          <p:cNvPicPr>
            <a:picLocks noChangeAspect="1"/>
          </p:cNvPicPr>
          <p:nvPr/>
        </p:nvPicPr>
        <p:blipFill>
          <a:blip r:embed="rId2"/>
          <a:stretch>
            <a:fillRect/>
          </a:stretch>
        </p:blipFill>
        <p:spPr>
          <a:xfrm>
            <a:off x="502920" y="1371600"/>
            <a:ext cx="7040880" cy="3235284"/>
          </a:xfrm>
          <a:prstGeom prst="rect">
            <a:avLst/>
          </a:prstGeom>
        </p:spPr>
      </p:pic>
      <p:sp>
        <p:nvSpPr>
          <p:cNvPr id="6" name="Rounded Rectangle 5"/>
          <p:cNvSpPr/>
          <p:nvPr/>
        </p:nvSpPr>
        <p:spPr>
          <a:xfrm>
            <a:off x="7818120" y="1463040"/>
            <a:ext cx="3840480" cy="160020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74152" y="1591056"/>
            <a:ext cx="3328416" cy="1417320"/>
          </a:xfrm>
          <a:prstGeom prst="rect">
            <a:avLst/>
          </a:prstGeom>
          <a:noFill/>
        </p:spPr>
        <p:txBody>
          <a:bodyPr wrap="square" lIns="0" rIns="0" tIns="0" bIns="0">
            <a:spAutoFit/>
          </a:bodyPr>
          <a:lstStyle/>
          <a:p>
            <a:pPr algn="l"/>
            <a:r>
              <a:rPr sz="1250" b="1" i="0">
                <a:solidFill>
                  <a:srgbClr val="1E2761"/>
                </a:solidFill>
                <a:latin typeface="Arial"/>
              </a:rPr>
              <a:t>Why this matters.  </a:t>
            </a:r>
            <a:r>
              <a:rPr sz="1250" b="0" i="0">
                <a:solidFill>
                  <a:srgbClr val="3C3C48"/>
                </a:solidFill>
                <a:latin typeface="Arial"/>
              </a:rPr>
              <a:t>A model learns the variety it sees. Spectra from the same study are very alike, so 5,000 spectra from one study teach it much less than 5,000 spread across many.</a:t>
            </a:r>
          </a:p>
        </p:txBody>
      </p:sp>
      <p:sp>
        <p:nvSpPr>
          <p:cNvPr id="8" name="Rounded Rectangle 7"/>
          <p:cNvSpPr/>
          <p:nvPr/>
        </p:nvSpPr>
        <p:spPr>
          <a:xfrm>
            <a:off x="7818120" y="3246120"/>
            <a:ext cx="3840480" cy="182880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3374136"/>
            <a:ext cx="3328416" cy="1645920"/>
          </a:xfrm>
          <a:prstGeom prst="rect">
            <a:avLst/>
          </a:prstGeom>
          <a:noFill/>
        </p:spPr>
        <p:txBody>
          <a:bodyPr wrap="square" lIns="0" rIns="0" tIns="0" bIns="0">
            <a:spAutoFit/>
          </a:bodyPr>
          <a:lstStyle/>
          <a:p>
            <a:pPr algn="l"/>
            <a:r>
              <a:rPr sz="1250" b="1" i="0">
                <a:solidFill>
                  <a:srgbClr val="1E2761"/>
                </a:solidFill>
                <a:latin typeface="Arial"/>
              </a:rPr>
              <a:t>Effective number of studies.  </a:t>
            </a:r>
            <a:r>
              <a:rPr sz="1250" b="0" i="0">
                <a:solidFill>
                  <a:srgbClr val="3C3C48"/>
                </a:solidFill>
                <a:latin typeface="Arial"/>
              </a:rPr>
              <a:t>Counts studies by how much they actually contribute. Twelve equal studies score 12. Ours - one giant study plus a long tail of tiny ones - scores 4.1. This is the number that matters on the next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2. More studies help a little. More spectra don't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45 pretraining runs, varying one thing at a time</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4</a:t>
            </a:r>
          </a:p>
        </p:txBody>
      </p:sp>
      <p:pic>
        <p:nvPicPr>
          <p:cNvPr id="5" name="Picture 4" descr="pi25_spectra_vs_studies.png"/>
          <p:cNvPicPr>
            <a:picLocks noChangeAspect="1"/>
          </p:cNvPicPr>
          <p:nvPr/>
        </p:nvPicPr>
        <p:blipFill>
          <a:blip r:embed="rId2"/>
          <a:stretch>
            <a:fillRect/>
          </a:stretch>
        </p:blipFill>
        <p:spPr>
          <a:xfrm>
            <a:off x="502920" y="1325880"/>
            <a:ext cx="11155680" cy="4271696"/>
          </a:xfrm>
          <a:prstGeom prst="rect">
            <a:avLst/>
          </a:prstGeom>
        </p:spPr>
      </p:pic>
      <p:sp>
        <p:nvSpPr>
          <p:cNvPr id="6" name="Rounded Rectangle 5"/>
          <p:cNvSpPr/>
          <p:nvPr/>
        </p:nvSpPr>
        <p:spPr>
          <a:xfrm>
            <a:off x="502920" y="5650992"/>
            <a:ext cx="11155680" cy="82296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5779007"/>
            <a:ext cx="10643615" cy="640080"/>
          </a:xfrm>
          <a:prstGeom prst="rect">
            <a:avLst/>
          </a:prstGeom>
          <a:noFill/>
        </p:spPr>
        <p:txBody>
          <a:bodyPr wrap="square" lIns="0" rIns="0" tIns="0" bIns="0">
            <a:spAutoFit/>
          </a:bodyPr>
          <a:lstStyle/>
          <a:p>
            <a:pPr algn="l"/>
            <a:r>
              <a:rPr sz="1250" b="1" i="0">
                <a:solidFill>
                  <a:srgbClr val="1E2761"/>
                </a:solidFill>
                <a:latin typeface="Arial"/>
              </a:rPr>
              <a:t>So the limit is variety, not volume.  </a:t>
            </a:r>
            <a:r>
              <a:rPr sz="1250" b="0" i="0">
                <a:solidFill>
                  <a:srgbClr val="3C3C48"/>
                </a:solidFill>
                <a:latin typeface="Arial"/>
              </a:rPr>
              <a:t>7x more spectra from the same studies gave no gain. Our corpus can't go beyond about 7 effective studies, and even there the model is still below standard ML (dashed 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3. Synthetic spectra: not realistic enough to use yet</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We tested both routes the whiteboard names</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5</a:t>
            </a:r>
          </a:p>
        </p:txBody>
      </p:sp>
      <p:pic>
        <p:nvPicPr>
          <p:cNvPr id="5" name="Picture 4" descr="pi25_synthetic_examples.png"/>
          <p:cNvPicPr>
            <a:picLocks noChangeAspect="1"/>
          </p:cNvPicPr>
          <p:nvPr/>
        </p:nvPicPr>
        <p:blipFill>
          <a:blip r:embed="rId2"/>
          <a:stretch>
            <a:fillRect/>
          </a:stretch>
        </p:blipFill>
        <p:spPr>
          <a:xfrm>
            <a:off x="502920" y="1325880"/>
            <a:ext cx="6766560" cy="3157728"/>
          </a:xfrm>
          <a:prstGeom prst="rect">
            <a:avLst/>
          </a:prstGeom>
        </p:spPr>
      </p:pic>
      <p:graphicFrame>
        <p:nvGraphicFramePr>
          <p:cNvPr id="6" name="Table 5"/>
          <p:cNvGraphicFramePr>
            <a:graphicFrameLocks noGrp="1"/>
          </p:cNvGraphicFramePr>
          <p:nvPr/>
        </p:nvGraphicFramePr>
        <p:xfrm>
          <a:off x="7543800" y="1417320"/>
          <a:ext cx="4114800" cy="2011680"/>
        </p:xfrm>
        <a:graphic>
          <a:graphicData uri="http://schemas.openxmlformats.org/drawingml/2006/table">
            <a:tbl>
              <a:tblPr firstRow="1" bandRow="1">
                <a:tableStyleId>{5C22544A-7EE6-4342-B048-85BDC9FD1C3A}</a:tableStyleId>
              </a:tblPr>
              <a:tblGrid>
                <a:gridCol w="2011680"/>
                <a:gridCol w="1051560"/>
                <a:gridCol w="1051560"/>
              </a:tblGrid>
              <a:tr h="502920">
                <a:tc>
                  <a:txBody>
                    <a:bodyPr/>
                    <a:lstStyle/>
                    <a:p>
                      <a:pPr algn="l"/>
                      <a:r>
                        <a:rPr sz="1150" b="1">
                          <a:solidFill>
                            <a:srgbClr val="1E2761"/>
                          </a:solidFill>
                          <a:latin typeface="Arial"/>
                        </a:rPr>
                        <a:t/>
                      </a:r>
                    </a:p>
                  </a:txBody>
                  <a:tcPr anchor="ctr">
                    <a:solidFill>
                      <a:srgbClr val="F4F2EA"/>
                    </a:solidFill>
                  </a:tcPr>
                </a:tc>
                <a:tc>
                  <a:txBody>
                    <a:bodyPr/>
                    <a:lstStyle/>
                    <a:p>
                      <a:pPr algn="ctr"/>
                      <a:r>
                        <a:rPr sz="1150" b="1">
                          <a:solidFill>
                            <a:srgbClr val="1E2761"/>
                          </a:solidFill>
                          <a:latin typeface="Arial"/>
                        </a:rPr>
                        <a:t>GISSMO</a:t>
                      </a:r>
                    </a:p>
                  </a:txBody>
                  <a:tcPr anchor="ctr">
                    <a:solidFill>
                      <a:srgbClr val="F4F2EA"/>
                    </a:solidFill>
                  </a:tcPr>
                </a:tc>
                <a:tc>
                  <a:txBody>
                    <a:bodyPr/>
                    <a:lstStyle/>
                    <a:p>
                      <a:pPr algn="ctr"/>
                      <a:r>
                        <a:rPr sz="1150" b="1">
                          <a:solidFill>
                            <a:srgbClr val="1E2761"/>
                          </a:solidFill>
                          <a:latin typeface="Arial"/>
                        </a:rPr>
                        <a:t>GAN</a:t>
                      </a:r>
                    </a:p>
                  </a:txBody>
                  <a:tcPr anchor="ctr">
                    <a:solidFill>
                      <a:srgbClr val="F4F2EA"/>
                    </a:solidFill>
                  </a:tcPr>
                </a:tc>
              </a:tr>
              <a:tr h="502920">
                <a:tc>
                  <a:txBody>
                    <a:bodyPr/>
                    <a:lstStyle/>
                    <a:p>
                      <a:pPr algn="l"/>
                      <a:r>
                        <a:rPr sz="1150" b="0">
                          <a:solidFill>
                            <a:srgbClr val="3C3C48"/>
                          </a:solidFill>
                          <a:latin typeface="Arial"/>
                        </a:rPr>
                        <a:t>Can a simple test tell it's fake?</a:t>
                      </a:r>
                    </a:p>
                  </a:txBody>
                  <a:tcPr anchor="ctr">
                    <a:solidFill>
                      <a:srgbClr val="FFFFFF"/>
                    </a:solidFill>
                  </a:tcPr>
                </a:tc>
                <a:tc>
                  <a:txBody>
                    <a:bodyPr/>
                    <a:lstStyle/>
                    <a:p>
                      <a:pPr algn="ctr"/>
                      <a:r>
                        <a:rPr sz="1150" b="0">
                          <a:solidFill>
                            <a:srgbClr val="3C3C48"/>
                          </a:solidFill>
                          <a:latin typeface="Arial"/>
                        </a:rPr>
                        <a:t>Always (1.00)</a:t>
                      </a:r>
                    </a:p>
                  </a:txBody>
                  <a:tcPr anchor="ctr">
                    <a:solidFill>
                      <a:srgbClr val="FFFFFF"/>
                    </a:solidFill>
                  </a:tcPr>
                </a:tc>
                <a:tc>
                  <a:txBody>
                    <a:bodyPr/>
                    <a:lstStyle/>
                    <a:p>
                      <a:pPr algn="ctr"/>
                      <a:r>
                        <a:rPr sz="1150" b="0">
                          <a:solidFill>
                            <a:srgbClr val="3C3C48"/>
                          </a:solidFill>
                          <a:latin typeface="Arial"/>
                        </a:rPr>
                        <a:t>Usually (0.95)</a:t>
                      </a:r>
                    </a:p>
                  </a:txBody>
                  <a:tcPr anchor="ctr">
                    <a:solidFill>
                      <a:srgbClr val="FFFFFF"/>
                    </a:solidFill>
                  </a:tcPr>
                </a:tc>
              </a:tr>
              <a:tr h="502920">
                <a:tc>
                  <a:txBody>
                    <a:bodyPr/>
                    <a:lstStyle/>
                    <a:p>
                      <a:pPr algn="l"/>
                      <a:r>
                        <a:rPr sz="1150" b="0">
                          <a:solidFill>
                            <a:srgbClr val="3C3C48"/>
                          </a:solidFill>
                          <a:latin typeface="Arial"/>
                        </a:rPr>
                        <a:t>Distance from real (lower = better)</a:t>
                      </a:r>
                    </a:p>
                  </a:txBody>
                  <a:tcPr anchor="ctr">
                    <a:solidFill>
                      <a:srgbClr val="FFFFFF"/>
                    </a:solidFill>
                  </a:tcPr>
                </a:tc>
                <a:tc>
                  <a:txBody>
                    <a:bodyPr/>
                    <a:lstStyle/>
                    <a:p>
                      <a:pPr algn="ctr"/>
                      <a:r>
                        <a:rPr sz="1150" b="0">
                          <a:solidFill>
                            <a:srgbClr val="3C3C48"/>
                          </a:solidFill>
                          <a:latin typeface="Arial"/>
                        </a:rPr>
                        <a:t>4.3</a:t>
                      </a:r>
                    </a:p>
                  </a:txBody>
                  <a:tcPr anchor="ctr">
                    <a:solidFill>
                      <a:srgbClr val="FFFFFF"/>
                    </a:solidFill>
                  </a:tcPr>
                </a:tc>
                <a:tc>
                  <a:txBody>
                    <a:bodyPr/>
                    <a:lstStyle/>
                    <a:p>
                      <a:pPr algn="ctr"/>
                      <a:r>
                        <a:rPr sz="1150" b="0">
                          <a:solidFill>
                            <a:srgbClr val="3C3C48"/>
                          </a:solidFill>
                          <a:latin typeface="Arial"/>
                        </a:rPr>
                        <a:t>1.2</a:t>
                      </a:r>
                    </a:p>
                  </a:txBody>
                  <a:tcPr anchor="ctr">
                    <a:solidFill>
                      <a:srgbClr val="FFFFFF"/>
                    </a:solidFill>
                  </a:tcPr>
                </a:tc>
              </a:tr>
              <a:tr h="502920">
                <a:tc>
                  <a:txBody>
                    <a:bodyPr/>
                    <a:lstStyle/>
                    <a:p>
                      <a:pPr algn="l"/>
                      <a:r>
                        <a:rPr sz="1150" b="0">
                          <a:solidFill>
                            <a:srgbClr val="3C3C48"/>
                          </a:solidFill>
                          <a:latin typeface="Arial"/>
                        </a:rPr>
                        <a:t>Peaks in the right places?</a:t>
                      </a:r>
                    </a:p>
                  </a:txBody>
                  <a:tcPr anchor="ctr">
                    <a:solidFill>
                      <a:srgbClr val="FFFFFF"/>
                    </a:solidFill>
                  </a:tcPr>
                </a:tc>
                <a:tc>
                  <a:txBody>
                    <a:bodyPr/>
                    <a:lstStyle/>
                    <a:p>
                      <a:pPr algn="ctr"/>
                      <a:r>
                        <a:rPr sz="1150" b="0">
                          <a:solidFill>
                            <a:srgbClr val="3C3C48"/>
                          </a:solidFill>
                          <a:latin typeface="Arial"/>
                        </a:rPr>
                        <a:t>No</a:t>
                      </a:r>
                    </a:p>
                  </a:txBody>
                  <a:tcPr anchor="ctr">
                    <a:solidFill>
                      <a:srgbClr val="FFFFFF"/>
                    </a:solidFill>
                  </a:tcPr>
                </a:tc>
                <a:tc>
                  <a:txBody>
                    <a:bodyPr/>
                    <a:lstStyle/>
                    <a:p>
                      <a:pPr algn="ctr"/>
                      <a:r>
                        <a:rPr sz="1150" b="0">
                          <a:solidFill>
                            <a:srgbClr val="3C3C48"/>
                          </a:solidFill>
                          <a:latin typeface="Arial"/>
                        </a:rPr>
                        <a:t>Yes</a:t>
                      </a:r>
                    </a:p>
                  </a:txBody>
                  <a:tcPr anchor="ctr">
                    <a:solidFill>
                      <a:srgbClr val="FFFFFF"/>
                    </a:solidFill>
                  </a:tcPr>
                </a:tc>
              </a:tr>
            </a:tbl>
          </a:graphicData>
        </a:graphic>
      </p:graphicFrame>
      <p:sp>
        <p:nvSpPr>
          <p:cNvPr id="7" name="TextBox 6"/>
          <p:cNvSpPr txBox="1"/>
          <p:nvPr/>
        </p:nvSpPr>
        <p:spPr>
          <a:xfrm>
            <a:off x="7543800" y="3520440"/>
            <a:ext cx="4114800" cy="457200"/>
          </a:xfrm>
          <a:prstGeom prst="rect">
            <a:avLst/>
          </a:prstGeom>
          <a:noFill/>
        </p:spPr>
        <p:txBody>
          <a:bodyPr wrap="square" lIns="0" rIns="0" tIns="0" bIns="0">
            <a:spAutoFit/>
          </a:bodyPr>
          <a:lstStyle/>
          <a:p>
            <a:pPr algn="l"/>
            <a:r>
              <a:rPr sz="1050" b="0" i="1">
                <a:solidFill>
                  <a:srgbClr val="5A5A6E"/>
                </a:solidFill>
                <a:latin typeface="Arial"/>
              </a:rPr>
              <a:t>0.50 on the first row would mean indistinguishable from real.</a:t>
            </a:r>
          </a:p>
        </p:txBody>
      </p:sp>
      <p:sp>
        <p:nvSpPr>
          <p:cNvPr id="8" name="Rounded Rectangle 7"/>
          <p:cNvSpPr/>
          <p:nvPr/>
        </p:nvSpPr>
        <p:spPr>
          <a:xfrm>
            <a:off x="502920" y="4709160"/>
            <a:ext cx="5486400" cy="96012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4837176"/>
            <a:ext cx="4974336" cy="777240"/>
          </a:xfrm>
          <a:prstGeom prst="rect">
            <a:avLst/>
          </a:prstGeom>
          <a:noFill/>
        </p:spPr>
        <p:txBody>
          <a:bodyPr wrap="square" lIns="0" rIns="0" tIns="0" bIns="0">
            <a:spAutoFit/>
          </a:bodyPr>
          <a:lstStyle/>
          <a:p>
            <a:pPr algn="l"/>
            <a:r>
              <a:rPr sz="1200" b="1" i="0">
                <a:solidFill>
                  <a:srgbClr val="1E2761"/>
                </a:solidFill>
                <a:latin typeface="Arial"/>
              </a:rPr>
              <a:t>GISSMO  </a:t>
            </a:r>
            <a:r>
              <a:rPr sz="1200" b="0" i="0">
                <a:solidFill>
                  <a:srgbClr val="3C3C48"/>
                </a:solidFill>
                <a:latin typeface="Arial"/>
              </a:rPr>
              <a:t>builds spectra from 87 known metabolites. But those explain only a quarter of a real serum spectrum, so the rest is missing.</a:t>
            </a:r>
          </a:p>
        </p:txBody>
      </p:sp>
      <p:sp>
        <p:nvSpPr>
          <p:cNvPr id="10" name="Rounded Rectangle 9"/>
          <p:cNvSpPr/>
          <p:nvPr/>
        </p:nvSpPr>
        <p:spPr>
          <a:xfrm>
            <a:off x="6172200" y="4709160"/>
            <a:ext cx="5486400" cy="96012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4837176"/>
            <a:ext cx="4974336" cy="777240"/>
          </a:xfrm>
          <a:prstGeom prst="rect">
            <a:avLst/>
          </a:prstGeom>
          <a:noFill/>
        </p:spPr>
        <p:txBody>
          <a:bodyPr wrap="square" lIns="0" rIns="0" tIns="0" bIns="0">
            <a:spAutoFit/>
          </a:bodyPr>
          <a:lstStyle/>
          <a:p>
            <a:pPr algn="l"/>
            <a:r>
              <a:rPr sz="1200" b="1" i="0">
                <a:solidFill>
                  <a:srgbClr val="2E5E9E"/>
                </a:solidFill>
                <a:latin typeface="Arial"/>
              </a:rPr>
              <a:t>The GAN  </a:t>
            </a:r>
            <a:r>
              <a:rPr sz="1200" b="0" i="0">
                <a:solidFill>
                  <a:srgbClr val="3C3C48"/>
                </a:solidFill>
                <a:latin typeface="Arial"/>
              </a:rPr>
              <a:t>learns from real spectra and looks far more realistic - but mostly copies the studies it was trained on, so it adds volume, not variety.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4. A bigger model helps a little, then levels off</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Five model sizes from 1.8 to 23.5 million parameters, 3 runs each</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6</a:t>
            </a:r>
          </a:p>
        </p:txBody>
      </p:sp>
      <p:pic>
        <p:nvPicPr>
          <p:cNvPr id="5" name="Picture 4" descr="pi25_model_size.png"/>
          <p:cNvPicPr>
            <a:picLocks noChangeAspect="1"/>
          </p:cNvPicPr>
          <p:nvPr/>
        </p:nvPicPr>
        <p:blipFill>
          <a:blip r:embed="rId2"/>
          <a:stretch>
            <a:fillRect/>
          </a:stretch>
        </p:blipFill>
        <p:spPr>
          <a:xfrm>
            <a:off x="502920" y="1371600"/>
            <a:ext cx="7589520" cy="3487384"/>
          </a:xfrm>
          <a:prstGeom prst="rect">
            <a:avLst/>
          </a:prstGeom>
        </p:spPr>
      </p:pic>
      <p:graphicFrame>
        <p:nvGraphicFramePr>
          <p:cNvPr id="6" name="Table 5"/>
          <p:cNvGraphicFramePr>
            <a:graphicFrameLocks noGrp="1"/>
          </p:cNvGraphicFramePr>
          <p:nvPr/>
        </p:nvGraphicFramePr>
        <p:xfrm>
          <a:off x="8366760" y="1463040"/>
          <a:ext cx="3291840" cy="2304288"/>
        </p:xfrm>
        <a:graphic>
          <a:graphicData uri="http://schemas.openxmlformats.org/drawingml/2006/table">
            <a:tbl>
              <a:tblPr firstRow="1" bandRow="1">
                <a:tableStyleId>{5C22544A-7EE6-4342-B048-85BDC9FD1C3A}</a:tableStyleId>
              </a:tblPr>
              <a:tblGrid>
                <a:gridCol w="1920240"/>
                <a:gridCol w="1371600"/>
              </a:tblGrid>
              <a:tr h="384048">
                <a:tc>
                  <a:txBody>
                    <a:bodyPr/>
                    <a:lstStyle/>
                    <a:p>
                      <a:pPr algn="l"/>
                      <a:r>
                        <a:rPr sz="1200" b="1">
                          <a:solidFill>
                            <a:srgbClr val="1E2761"/>
                          </a:solidFill>
                          <a:latin typeface="Arial"/>
                        </a:rPr>
                        <a:t>Model size</a:t>
                      </a:r>
                    </a:p>
                  </a:txBody>
                  <a:tcPr anchor="ctr">
                    <a:solidFill>
                      <a:srgbClr val="F4F2EA"/>
                    </a:solidFill>
                  </a:tcPr>
                </a:tc>
                <a:tc>
                  <a:txBody>
                    <a:bodyPr/>
                    <a:lstStyle/>
                    <a:p>
                      <a:pPr algn="ctr"/>
                      <a:r>
                        <a:rPr sz="1200" b="1">
                          <a:solidFill>
                            <a:srgbClr val="1E2761"/>
                          </a:solidFill>
                          <a:latin typeface="Arial"/>
                        </a:rPr>
                        <a:t>Accuracy</a:t>
                      </a:r>
                    </a:p>
                  </a:txBody>
                  <a:tcPr anchor="ctr">
                    <a:solidFill>
                      <a:srgbClr val="F4F2EA"/>
                    </a:solidFill>
                  </a:tcPr>
                </a:tc>
              </a:tr>
              <a:tr h="384048">
                <a:tc>
                  <a:txBody>
                    <a:bodyPr/>
                    <a:lstStyle/>
                    <a:p>
                      <a:pPr algn="l"/>
                      <a:r>
                        <a:rPr sz="1200" b="0">
                          <a:solidFill>
                            <a:srgbClr val="3C3C48"/>
                          </a:solidFill>
                          <a:latin typeface="Arial"/>
                        </a:rPr>
                        <a:t>1.8 M</a:t>
                      </a:r>
                    </a:p>
                  </a:txBody>
                  <a:tcPr anchor="ctr">
                    <a:solidFill>
                      <a:srgbClr val="FFFFFF"/>
                    </a:solidFill>
                  </a:tcPr>
                </a:tc>
                <a:tc>
                  <a:txBody>
                    <a:bodyPr/>
                    <a:lstStyle/>
                    <a:p>
                      <a:pPr algn="ctr"/>
                      <a:r>
                        <a:rPr sz="1200" b="0">
                          <a:solidFill>
                            <a:srgbClr val="3C3C48"/>
                          </a:solidFill>
                          <a:latin typeface="Arial"/>
                        </a:rPr>
                        <a:t>0.644</a:t>
                      </a:r>
                    </a:p>
                  </a:txBody>
                  <a:tcPr anchor="ctr">
                    <a:solidFill>
                      <a:srgbClr val="FFFFFF"/>
                    </a:solidFill>
                  </a:tcPr>
                </a:tc>
              </a:tr>
              <a:tr h="384048">
                <a:tc>
                  <a:txBody>
                    <a:bodyPr/>
                    <a:lstStyle/>
                    <a:p>
                      <a:pPr algn="l"/>
                      <a:r>
                        <a:rPr sz="1200" b="0">
                          <a:solidFill>
                            <a:srgbClr val="3C3C48"/>
                          </a:solidFill>
                          <a:latin typeface="Arial"/>
                        </a:rPr>
                        <a:t>4.0 M (current)</a:t>
                      </a:r>
                    </a:p>
                  </a:txBody>
                  <a:tcPr anchor="ctr">
                    <a:solidFill>
                      <a:srgbClr val="FFFFFF"/>
                    </a:solidFill>
                  </a:tcPr>
                </a:tc>
                <a:tc>
                  <a:txBody>
                    <a:bodyPr/>
                    <a:lstStyle/>
                    <a:p>
                      <a:pPr algn="ctr"/>
                      <a:r>
                        <a:rPr sz="1200" b="0">
                          <a:solidFill>
                            <a:srgbClr val="3C3C48"/>
                          </a:solidFill>
                          <a:latin typeface="Arial"/>
                        </a:rPr>
                        <a:t>0.666</a:t>
                      </a:r>
                    </a:p>
                  </a:txBody>
                  <a:tcPr anchor="ctr">
                    <a:solidFill>
                      <a:srgbClr val="FFFFFF"/>
                    </a:solidFill>
                  </a:tcPr>
                </a:tc>
              </a:tr>
              <a:tr h="384048">
                <a:tc>
                  <a:txBody>
                    <a:bodyPr/>
                    <a:lstStyle/>
                    <a:p>
                      <a:pPr algn="l"/>
                      <a:r>
                        <a:rPr sz="1200" b="0">
                          <a:solidFill>
                            <a:srgbClr val="3C3C48"/>
                          </a:solidFill>
                          <a:latin typeface="Arial"/>
                        </a:rPr>
                        <a:t>10.5 M</a:t>
                      </a:r>
                    </a:p>
                  </a:txBody>
                  <a:tcPr anchor="ctr">
                    <a:solidFill>
                      <a:srgbClr val="FFFFFF"/>
                    </a:solidFill>
                  </a:tcPr>
                </a:tc>
                <a:tc>
                  <a:txBody>
                    <a:bodyPr/>
                    <a:lstStyle/>
                    <a:p>
                      <a:pPr algn="ctr"/>
                      <a:r>
                        <a:rPr sz="1200" b="0">
                          <a:solidFill>
                            <a:srgbClr val="3C3C48"/>
                          </a:solidFill>
                          <a:latin typeface="Arial"/>
                        </a:rPr>
                        <a:t>0.678</a:t>
                      </a:r>
                    </a:p>
                  </a:txBody>
                  <a:tcPr anchor="ctr">
                    <a:solidFill>
                      <a:srgbClr val="FFFFFF"/>
                    </a:solidFill>
                  </a:tcPr>
                </a:tc>
              </a:tr>
              <a:tr h="384048">
                <a:tc>
                  <a:txBody>
                    <a:bodyPr/>
                    <a:lstStyle/>
                    <a:p>
                      <a:pPr algn="l"/>
                      <a:r>
                        <a:rPr sz="1200" b="0">
                          <a:solidFill>
                            <a:srgbClr val="3C3C48"/>
                          </a:solidFill>
                          <a:latin typeface="Arial"/>
                        </a:rPr>
                        <a:t>23.5 M</a:t>
                      </a:r>
                    </a:p>
                  </a:txBody>
                  <a:tcPr anchor="ctr">
                    <a:solidFill>
                      <a:srgbClr val="FFFFFF"/>
                    </a:solidFill>
                  </a:tcPr>
                </a:tc>
                <a:tc>
                  <a:txBody>
                    <a:bodyPr/>
                    <a:lstStyle/>
                    <a:p>
                      <a:pPr algn="ctr"/>
                      <a:r>
                        <a:rPr sz="1200" b="0">
                          <a:solidFill>
                            <a:srgbClr val="3C3C48"/>
                          </a:solidFill>
                          <a:latin typeface="Arial"/>
                        </a:rPr>
                        <a:t>0.675</a:t>
                      </a:r>
                    </a:p>
                  </a:txBody>
                  <a:tcPr anchor="ctr">
                    <a:solidFill>
                      <a:srgbClr val="FFFFFF"/>
                    </a:solidFill>
                  </a:tcPr>
                </a:tc>
              </a:tr>
              <a:tr h="384048">
                <a:tc>
                  <a:txBody>
                    <a:bodyPr/>
                    <a:lstStyle/>
                    <a:p>
                      <a:pPr algn="l"/>
                      <a:r>
                        <a:rPr sz="1200" b="1">
                          <a:solidFill>
                            <a:srgbClr val="3C3C48"/>
                          </a:solidFill>
                          <a:latin typeface="Arial"/>
                        </a:rPr>
                        <a:t>Standard ML</a:t>
                      </a:r>
                    </a:p>
                  </a:txBody>
                  <a:tcPr anchor="ctr">
                    <a:solidFill>
                      <a:srgbClr val="FFFFFF"/>
                    </a:solidFill>
                  </a:tcPr>
                </a:tc>
                <a:tc>
                  <a:txBody>
                    <a:bodyPr/>
                    <a:lstStyle/>
                    <a:p>
                      <a:pPr algn="ctr"/>
                      <a:r>
                        <a:rPr sz="1200" b="1">
                          <a:solidFill>
                            <a:srgbClr val="3C3C48"/>
                          </a:solidFill>
                          <a:latin typeface="Arial"/>
                        </a:rPr>
                        <a:t>0.721</a:t>
                      </a:r>
                    </a:p>
                  </a:txBody>
                  <a:tcPr anchor="ctr">
                    <a:solidFill>
                      <a:srgbClr val="FFFFFF"/>
                    </a:solidFill>
                  </a:tcPr>
                </a:tc>
              </a:tr>
            </a:tbl>
          </a:graphicData>
        </a:graphic>
      </p:graphicFrame>
      <p:sp>
        <p:nvSpPr>
          <p:cNvPr id="7" name="Rounded Rectangle 6"/>
          <p:cNvSpPr/>
          <p:nvPr/>
        </p:nvSpPr>
        <p:spPr>
          <a:xfrm>
            <a:off x="502920" y="5074920"/>
            <a:ext cx="11155680" cy="82296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5202936"/>
            <a:ext cx="10643615" cy="640080"/>
          </a:xfrm>
          <a:prstGeom prst="rect">
            <a:avLst/>
          </a:prstGeom>
          <a:noFill/>
        </p:spPr>
        <p:txBody>
          <a:bodyPr wrap="square" lIns="0" rIns="0" tIns="0" bIns="0">
            <a:spAutoFit/>
          </a:bodyPr>
          <a:lstStyle/>
          <a:p>
            <a:pPr algn="l"/>
            <a:r>
              <a:rPr sz="1250" b="1" i="0">
                <a:solidFill>
                  <a:srgbClr val="C0272D"/>
                </a:solidFill>
                <a:latin typeface="Arial"/>
              </a:rPr>
              <a:t>Gain of about 0.01 per doubling, flat after 10 M.  </a:t>
            </a:r>
            <a:r>
              <a:rPr sz="1250" b="0" i="0">
                <a:solidFill>
                  <a:srgbClr val="3C3C48"/>
                </a:solidFill>
                <a:latin typeface="Arial"/>
              </a:rPr>
              <a:t>Closing the gap would take a model hundreds of times larger, and we don't have the data to train one. We reach the whiteboard's final box: a ceiling at this data 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Corrections to last week, and what we caught this week</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Each of these produced believable numbers rather than an obvious error</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7</a:t>
            </a:r>
          </a:p>
        </p:txBody>
      </p:sp>
      <p:sp>
        <p:nvSpPr>
          <p:cNvPr id="5" name="Rounded Rectangle 4"/>
          <p:cNvSpPr/>
          <p:nvPr/>
        </p:nvSpPr>
        <p:spPr>
          <a:xfrm>
            <a:off x="502920" y="1463040"/>
            <a:ext cx="11155680" cy="100584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81912"/>
            <a:ext cx="10607040" cy="274320"/>
          </a:xfrm>
          <a:prstGeom prst="rect">
            <a:avLst/>
          </a:prstGeom>
          <a:noFill/>
        </p:spPr>
        <p:txBody>
          <a:bodyPr wrap="square" lIns="0" rIns="0" tIns="0" bIns="0">
            <a:spAutoFit/>
          </a:bodyPr>
          <a:lstStyle/>
          <a:p>
            <a:pPr algn="l"/>
            <a:r>
              <a:rPr sz="1350" b="1" i="0">
                <a:solidFill>
                  <a:srgbClr val="1E2761"/>
                </a:solidFill>
                <a:latin typeface="Arial"/>
              </a:rPr>
              <a:t>Last week, slide 6: 'diversity beats quantity'</a:t>
            </a:r>
          </a:p>
        </p:txBody>
      </p:sp>
      <p:sp>
        <p:nvSpPr>
          <p:cNvPr id="7" name="TextBox 6"/>
          <p:cNvSpPr txBox="1"/>
          <p:nvPr/>
        </p:nvSpPr>
        <p:spPr>
          <a:xfrm>
            <a:off x="777240" y="1920240"/>
            <a:ext cx="10607040" cy="502920"/>
          </a:xfrm>
          <a:prstGeom prst="rect">
            <a:avLst/>
          </a:prstGeom>
          <a:noFill/>
        </p:spPr>
        <p:txBody>
          <a:bodyPr wrap="square" lIns="0" rIns="0" tIns="0" bIns="0">
            <a:spAutoFit/>
          </a:bodyPr>
          <a:lstStyle/>
          <a:p>
            <a:pPr algn="l"/>
            <a:r>
              <a:rPr sz="1150" b="0" i="0">
                <a:solidFill>
                  <a:srgbClr val="3C3C48"/>
                </a:solidFill>
                <a:latin typeface="Arial"/>
              </a:rPr>
              <a:t>Right direction, wrong reasoning. We counted studies by name (12) rather than by contribution (about 4). The corrected analysis is slide 4 today.</a:t>
            </a:r>
          </a:p>
        </p:txBody>
      </p:sp>
      <p:sp>
        <p:nvSpPr>
          <p:cNvPr id="8" name="Rounded Rectangle 7"/>
          <p:cNvSpPr/>
          <p:nvPr/>
        </p:nvSpPr>
        <p:spPr>
          <a:xfrm>
            <a:off x="502920" y="2578608"/>
            <a:ext cx="11155680" cy="100584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97480"/>
            <a:ext cx="10607040" cy="274320"/>
          </a:xfrm>
          <a:prstGeom prst="rect">
            <a:avLst/>
          </a:prstGeom>
          <a:noFill/>
        </p:spPr>
        <p:txBody>
          <a:bodyPr wrap="square" lIns="0" rIns="0" tIns="0" bIns="0">
            <a:spAutoFit/>
          </a:bodyPr>
          <a:lstStyle/>
          <a:p>
            <a:pPr algn="l"/>
            <a:r>
              <a:rPr sz="1350" b="1" i="0">
                <a:solidFill>
                  <a:srgbClr val="1E2761"/>
                </a:solidFill>
                <a:latin typeface="Arial"/>
              </a:rPr>
              <a:t>Last week: study-count results were missing</a:t>
            </a:r>
          </a:p>
        </p:txBody>
      </p:sp>
      <p:sp>
        <p:nvSpPr>
          <p:cNvPr id="10" name="TextBox 9"/>
          <p:cNvSpPr txBox="1"/>
          <p:nvPr/>
        </p:nvSpPr>
        <p:spPr>
          <a:xfrm>
            <a:off x="777240" y="3035808"/>
            <a:ext cx="10607040" cy="502920"/>
          </a:xfrm>
          <a:prstGeom prst="rect">
            <a:avLst/>
          </a:prstGeom>
          <a:noFill/>
        </p:spPr>
        <p:txBody>
          <a:bodyPr wrap="square" lIns="0" rIns="0" tIns="0" bIns="0">
            <a:spAutoFit/>
          </a:bodyPr>
          <a:lstStyle/>
          <a:p>
            <a:pPr algn="l"/>
            <a:r>
              <a:rPr sz="1150" b="0" i="0">
                <a:solidFill>
                  <a:srgbClr val="3C3C48"/>
                </a:solidFill>
                <a:latin typeface="Arial"/>
              </a:rPr>
              <a:t>A file-naming mismatch silently dropped them from the analysis. Now included.</a:t>
            </a:r>
          </a:p>
        </p:txBody>
      </p:sp>
      <p:sp>
        <p:nvSpPr>
          <p:cNvPr id="11" name="Rounded Rectangle 10"/>
          <p:cNvSpPr/>
          <p:nvPr/>
        </p:nvSpPr>
        <p:spPr>
          <a:xfrm>
            <a:off x="502920" y="3694176"/>
            <a:ext cx="11155680" cy="100584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13048"/>
            <a:ext cx="10607040" cy="274320"/>
          </a:xfrm>
          <a:prstGeom prst="rect">
            <a:avLst/>
          </a:prstGeom>
          <a:noFill/>
        </p:spPr>
        <p:txBody>
          <a:bodyPr wrap="square" lIns="0" rIns="0" tIns="0" bIns="0">
            <a:spAutoFit/>
          </a:bodyPr>
          <a:lstStyle/>
          <a:p>
            <a:pPr algn="l"/>
            <a:r>
              <a:rPr sz="1350" b="1" i="0">
                <a:solidFill>
                  <a:srgbClr val="1E2761"/>
                </a:solidFill>
                <a:latin typeface="Arial"/>
              </a:rPr>
              <a:t>This week: our prediction on model size was wrong</a:t>
            </a:r>
          </a:p>
        </p:txBody>
      </p:sp>
      <p:sp>
        <p:nvSpPr>
          <p:cNvPr id="13" name="TextBox 12"/>
          <p:cNvSpPr txBox="1"/>
          <p:nvPr/>
        </p:nvSpPr>
        <p:spPr>
          <a:xfrm>
            <a:off x="777240" y="4151376"/>
            <a:ext cx="10607040" cy="502920"/>
          </a:xfrm>
          <a:prstGeom prst="rect">
            <a:avLst/>
          </a:prstGeom>
          <a:noFill/>
        </p:spPr>
        <p:txBody>
          <a:bodyPr wrap="square" lIns="0" rIns="0" tIns="0" bIns="0">
            <a:spAutoFit/>
          </a:bodyPr>
          <a:lstStyle/>
          <a:p>
            <a:pPr algn="l"/>
            <a:r>
              <a:rPr sz="1150" b="0" i="0">
                <a:solidFill>
                  <a:srgbClr val="3C3C48"/>
                </a:solidFill>
                <a:latin typeface="Arial"/>
              </a:rPr>
              <a:t>We expected smaller models to do better. They do worse. The conclusion still holds - but it now rests on the experiment, not a guess.</a:t>
            </a:r>
          </a:p>
        </p:txBody>
      </p:sp>
      <p:sp>
        <p:nvSpPr>
          <p:cNvPr id="14" name="Rounded Rectangle 13"/>
          <p:cNvSpPr/>
          <p:nvPr/>
        </p:nvSpPr>
        <p:spPr>
          <a:xfrm>
            <a:off x="502920" y="4809744"/>
            <a:ext cx="11155680" cy="100584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928616"/>
            <a:ext cx="10607040" cy="274320"/>
          </a:xfrm>
          <a:prstGeom prst="rect">
            <a:avLst/>
          </a:prstGeom>
          <a:noFill/>
        </p:spPr>
        <p:txBody>
          <a:bodyPr wrap="square" lIns="0" rIns="0" tIns="0" bIns="0">
            <a:spAutoFit/>
          </a:bodyPr>
          <a:lstStyle/>
          <a:p>
            <a:pPr algn="l"/>
            <a:r>
              <a:rPr sz="1350" b="1" i="0">
                <a:solidFill>
                  <a:srgbClr val="1E2761"/>
                </a:solidFill>
                <a:latin typeface="Arial"/>
              </a:rPr>
              <a:t>This week: the first GISSMO spectra were pure noise</a:t>
            </a:r>
          </a:p>
        </p:txBody>
      </p:sp>
      <p:sp>
        <p:nvSpPr>
          <p:cNvPr id="16" name="TextBox 15"/>
          <p:cNvSpPr txBox="1"/>
          <p:nvPr/>
        </p:nvSpPr>
        <p:spPr>
          <a:xfrm>
            <a:off x="777240" y="5266944"/>
            <a:ext cx="10607040" cy="502920"/>
          </a:xfrm>
          <a:prstGeom prst="rect">
            <a:avLst/>
          </a:prstGeom>
          <a:noFill/>
        </p:spPr>
        <p:txBody>
          <a:bodyPr wrap="square" lIns="0" rIns="0" tIns="0" bIns="0">
            <a:spAutoFit/>
          </a:bodyPr>
          <a:lstStyle/>
          <a:p>
            <a:pPr algn="l"/>
            <a:r>
              <a:rPr sz="1150" b="0" i="0">
                <a:solidFill>
                  <a:srgbClr val="3C3C48"/>
                </a:solidFill>
                <a:latin typeface="Arial"/>
              </a:rPr>
              <a:t>A software function silently mishandled our ppm axis direction. Fixed and re-run; the verdict didn't change, the numbers did.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685800"/>
          </a:xfrm>
          <a:prstGeom prst="rect">
            <a:avLst/>
          </a:prstGeom>
          <a:noFill/>
        </p:spPr>
        <p:txBody>
          <a:bodyPr wrap="square" lIns="0" rIns="0" tIns="0" bIns="0">
            <a:spAutoFit/>
          </a:bodyPr>
          <a:lstStyle/>
          <a:p>
            <a:pPr algn="l"/>
            <a:r>
              <a:rPr sz="3100" b="1" i="0">
                <a:solidFill>
                  <a:srgbClr val="1E2761"/>
                </a:solidFill>
                <a:latin typeface="Arial"/>
              </a:rPr>
              <a:t>Where this leaves us, and next steps</a:t>
            </a:r>
          </a:p>
        </p:txBody>
      </p:sp>
      <p:sp>
        <p:nvSpPr>
          <p:cNvPr id="3" name="TextBox 2"/>
          <p:cNvSpPr txBox="1"/>
          <p:nvPr/>
        </p:nvSpPr>
        <p:spPr>
          <a:xfrm>
            <a:off x="502920" y="960120"/>
            <a:ext cx="11155680" cy="365760"/>
          </a:xfrm>
          <a:prstGeom prst="rect">
            <a:avLst/>
          </a:prstGeom>
          <a:noFill/>
        </p:spPr>
        <p:txBody>
          <a:bodyPr wrap="square" lIns="0" rIns="0" tIns="0" bIns="0">
            <a:spAutoFit/>
          </a:bodyPr>
          <a:lstStyle/>
          <a:p>
            <a:pPr algn="l"/>
            <a:r>
              <a:rPr sz="1400" b="0" i="0">
                <a:solidFill>
                  <a:srgbClr val="5A5A6E"/>
                </a:solidFill>
                <a:latin typeface="Arial"/>
              </a:rPr>
              <a:t>We have a complete, defensible result</a:t>
            </a:r>
          </a:p>
        </p:txBody>
      </p:sp>
      <p:sp>
        <p:nvSpPr>
          <p:cNvPr id="4" name="TextBox 3"/>
          <p:cNvSpPr txBox="1"/>
          <p:nvPr/>
        </p:nvSpPr>
        <p:spPr>
          <a:xfrm>
            <a:off x="11292840" y="6382512"/>
            <a:ext cx="548640" cy="274320"/>
          </a:xfrm>
          <a:prstGeom prst="rect">
            <a:avLst/>
          </a:prstGeom>
          <a:noFill/>
        </p:spPr>
        <p:txBody>
          <a:bodyPr wrap="square" lIns="0" rIns="0" tIns="0" bIns="0">
            <a:spAutoFit/>
          </a:bodyPr>
          <a:lstStyle/>
          <a:p>
            <a:pPr algn="r"/>
            <a:r>
              <a:rPr sz="1000" b="0" i="0">
                <a:solidFill>
                  <a:srgbClr val="9A9AA8"/>
                </a:solidFill>
                <a:latin typeface="Arial"/>
              </a:rPr>
              <a:t>8</a:t>
            </a:r>
          </a:p>
        </p:txBody>
      </p:sp>
      <p:sp>
        <p:nvSpPr>
          <p:cNvPr id="5" name="Rounded Rectangle 4"/>
          <p:cNvSpPr/>
          <p:nvPr/>
        </p:nvSpPr>
        <p:spPr>
          <a:xfrm>
            <a:off x="502920" y="1463040"/>
            <a:ext cx="5486400" cy="1417320"/>
          </a:xfrm>
          <a:prstGeom prst="roundRect">
            <a:avLst>
              <a:gd name="adj" fmla="val 4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591056"/>
            <a:ext cx="4974336" cy="1234440"/>
          </a:xfrm>
          <a:prstGeom prst="rect">
            <a:avLst/>
          </a:prstGeom>
          <a:noFill/>
        </p:spPr>
        <p:txBody>
          <a:bodyPr wrap="square" lIns="0" rIns="0" tIns="0" bIns="0">
            <a:spAutoFit/>
          </a:bodyPr>
          <a:lstStyle/>
          <a:p>
            <a:pPr algn="l"/>
            <a:r>
              <a:rPr sz="1300" b="1" i="0">
                <a:solidFill>
                  <a:srgbClr val="1E2761"/>
                </a:solidFill>
                <a:latin typeface="Arial"/>
              </a:rPr>
              <a:t>The result.  </a:t>
            </a:r>
            <a:r>
              <a:rPr sz="1300" b="0" i="0">
                <a:solidFill>
                  <a:srgbClr val="3C3C48"/>
                </a:solidFill>
                <a:latin typeface="Arial"/>
              </a:rPr>
              <a:t>Standard ML is the better tool for small clinical NMR cohorts with today's public data. The limit is the number of independent studies. That is a clear, useful message for the field about what data to collect.</a:t>
            </a:r>
          </a:p>
        </p:txBody>
      </p:sp>
      <p:sp>
        <p:nvSpPr>
          <p:cNvPr id="7" name="Rounded Rectangle 6"/>
          <p:cNvSpPr/>
          <p:nvPr/>
        </p:nvSpPr>
        <p:spPr>
          <a:xfrm>
            <a:off x="6172200" y="1463040"/>
            <a:ext cx="5486400" cy="1417320"/>
          </a:xfrm>
          <a:prstGeom prst="roundRect">
            <a:avLst>
              <a:gd name="adj" fmla="val 4000"/>
            </a:avLst>
          </a:prstGeom>
          <a:solidFill>
            <a:srgbClr val="F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591056"/>
            <a:ext cx="4974336" cy="1234440"/>
          </a:xfrm>
          <a:prstGeom prst="rect">
            <a:avLst/>
          </a:prstGeom>
          <a:noFill/>
        </p:spPr>
        <p:txBody>
          <a:bodyPr wrap="square" lIns="0" rIns="0" tIns="0" bIns="0">
            <a:spAutoFit/>
          </a:bodyPr>
          <a:lstStyle/>
          <a:p>
            <a:pPr algn="l"/>
            <a:r>
              <a:rPr sz="1300" b="1" i="0">
                <a:solidFill>
                  <a:srgbClr val="1E2761"/>
                </a:solidFill>
                <a:latin typeface="Arial"/>
              </a:rPr>
              <a:t>What would change it.  </a:t>
            </a:r>
            <a:r>
              <a:rPr sz="1300" b="0" i="0">
                <a:solidFill>
                  <a:srgbClr val="3C3C48"/>
                </a:solidFill>
                <a:latin typeface="Arial"/>
              </a:rPr>
              <a:t>Data from many more independent studies. A metabolite library covering far more of the serum spectrum. Cohorts in the hundreds, where retraining has enough patients to learn from.</a:t>
            </a:r>
          </a:p>
        </p:txBody>
      </p:sp>
      <p:sp>
        <p:nvSpPr>
          <p:cNvPr id="9" name="TextBox 8"/>
          <p:cNvSpPr txBox="1"/>
          <p:nvPr/>
        </p:nvSpPr>
        <p:spPr>
          <a:xfrm>
            <a:off x="502920" y="3200400"/>
            <a:ext cx="11155680" cy="320040"/>
          </a:xfrm>
          <a:prstGeom prst="rect">
            <a:avLst/>
          </a:prstGeom>
          <a:noFill/>
        </p:spPr>
        <p:txBody>
          <a:bodyPr wrap="square" lIns="0" rIns="0" tIns="0" bIns="0">
            <a:spAutoFit/>
          </a:bodyPr>
          <a:lstStyle/>
          <a:p>
            <a:pPr algn="l"/>
            <a:r>
              <a:rPr sz="1600" b="1" i="0">
                <a:solidFill>
                  <a:srgbClr val="1E2761"/>
                </a:solidFill>
                <a:latin typeface="Arial"/>
              </a:rPr>
              <a:t>Next steps</a:t>
            </a:r>
          </a:p>
        </p:txBody>
      </p:sp>
      <p:graphicFrame>
        <p:nvGraphicFramePr>
          <p:cNvPr id="10" name="Table 9"/>
          <p:cNvGraphicFramePr>
            <a:graphicFrameLocks noGrp="1"/>
          </p:cNvGraphicFramePr>
          <p:nvPr/>
        </p:nvGraphicFramePr>
        <p:xfrm>
          <a:off x="502920" y="3611880"/>
          <a:ext cx="11155680" cy="1682496"/>
        </p:xfrm>
        <a:graphic>
          <a:graphicData uri="http://schemas.openxmlformats.org/drawingml/2006/table">
            <a:tbl>
              <a:tblPr firstRow="1" bandRow="1">
                <a:tableStyleId>{5C22544A-7EE6-4342-B048-85BDC9FD1C3A}</a:tableStyleId>
              </a:tblPr>
              <a:tblGrid>
                <a:gridCol w="7863840"/>
                <a:gridCol w="3291840"/>
              </a:tblGrid>
              <a:tr h="420624">
                <a:tc>
                  <a:txBody>
                    <a:bodyPr/>
                    <a:lstStyle/>
                    <a:p>
                      <a:pPr algn="l"/>
                      <a:r>
                        <a:rPr sz="1250" b="1">
                          <a:solidFill>
                            <a:srgbClr val="1E2761"/>
                          </a:solidFill>
                          <a:latin typeface="Arial"/>
                        </a:rPr>
                        <a:t>Step</a:t>
                      </a:r>
                    </a:p>
                  </a:txBody>
                  <a:tcPr anchor="ctr">
                    <a:solidFill>
                      <a:srgbClr val="F4F2EA"/>
                    </a:solidFill>
                  </a:tcPr>
                </a:tc>
                <a:tc>
                  <a:txBody>
                    <a:bodyPr/>
                    <a:lstStyle/>
                    <a:p>
                      <a:pPr algn="ctr"/>
                      <a:r>
                        <a:rPr sz="1250" b="1">
                          <a:solidFill>
                            <a:srgbClr val="1E2761"/>
                          </a:solidFill>
                          <a:latin typeface="Arial"/>
                        </a:rPr>
                        <a:t>Status</a:t>
                      </a:r>
                    </a:p>
                  </a:txBody>
                  <a:tcPr anchor="ctr">
                    <a:solidFill>
                      <a:srgbClr val="F4F2EA"/>
                    </a:solidFill>
                  </a:tcPr>
                </a:tc>
              </a:tr>
              <a:tr h="420624">
                <a:tc>
                  <a:txBody>
                    <a:bodyPr/>
                    <a:lstStyle/>
                    <a:p>
                      <a:pPr algn="l"/>
                      <a:r>
                        <a:rPr sz="1250" b="0">
                          <a:solidFill>
                            <a:srgbClr val="3C3C48"/>
                          </a:solidFill>
                          <a:latin typeface="Arial"/>
                        </a:rPr>
                        <a:t>Improved GAN - more stable, keeps its best version, plus a version that mixes studies</a:t>
                      </a:r>
                    </a:p>
                  </a:txBody>
                  <a:tcPr anchor="ctr">
                    <a:solidFill>
                      <a:srgbClr val="FFFFFF"/>
                    </a:solidFill>
                  </a:tcPr>
                </a:tc>
                <a:tc>
                  <a:txBody>
                    <a:bodyPr/>
                    <a:lstStyle/>
                    <a:p>
                      <a:pPr algn="ctr"/>
                      <a:r>
                        <a:rPr sz="1250" b="0">
                          <a:solidFill>
                            <a:srgbClr val="3C3C48"/>
                          </a:solidFill>
                          <a:latin typeface="Arial"/>
                        </a:rPr>
                        <a:t>Running, results in ~12 h</a:t>
                      </a:r>
                    </a:p>
                  </a:txBody>
                  <a:tcPr anchor="ctr">
                    <a:solidFill>
                      <a:srgbClr val="FFFFFF"/>
                    </a:solidFill>
                  </a:tcPr>
                </a:tc>
              </a:tr>
              <a:tr h="420624">
                <a:tc>
                  <a:txBody>
                    <a:bodyPr/>
                    <a:lstStyle/>
                    <a:p>
                      <a:pPr algn="l"/>
                      <a:r>
                        <a:rPr sz="1250" b="0">
                          <a:solidFill>
                            <a:srgbClr val="3C3C48"/>
                          </a:solidFill>
                          <a:latin typeface="Arial"/>
                        </a:rPr>
                        <a:t>Paper draft from the consolidated results</a:t>
                      </a:r>
                    </a:p>
                  </a:txBody>
                  <a:tcPr anchor="ctr">
                    <a:solidFill>
                      <a:srgbClr val="FFFFFF"/>
                    </a:solidFill>
                  </a:tcPr>
                </a:tc>
                <a:tc>
                  <a:txBody>
                    <a:bodyPr/>
                    <a:lstStyle/>
                    <a:p>
                      <a:pPr algn="ctr"/>
                      <a:r>
                        <a:rPr sz="1250" b="0">
                          <a:solidFill>
                            <a:srgbClr val="3C3C48"/>
                          </a:solidFill>
                          <a:latin typeface="Arial"/>
                        </a:rPr>
                        <a:t>Structure and tables ready</a:t>
                      </a:r>
                    </a:p>
                  </a:txBody>
                  <a:tcPr anchor="ctr">
                    <a:solidFill>
                      <a:srgbClr val="FFFFFF"/>
                    </a:solidFill>
                  </a:tcPr>
                </a:tc>
              </a:tr>
              <a:tr h="420624">
                <a:tc>
                  <a:txBody>
                    <a:bodyPr/>
                    <a:lstStyle/>
                    <a:p>
                      <a:pPr algn="l"/>
                      <a:r>
                        <a:rPr sz="1250" b="0">
                          <a:solidFill>
                            <a:srgbClr val="3C3C48"/>
                          </a:solidFill>
                          <a:latin typeface="Arial"/>
                        </a:rPr>
                        <a:t>Your feedback: is this the framing you want for the paper?</a:t>
                      </a:r>
                    </a:p>
                  </a:txBody>
                  <a:tcPr anchor="ctr">
                    <a:solidFill>
                      <a:srgbClr val="FFFFFF"/>
                    </a:solidFill>
                  </a:tcPr>
                </a:tc>
                <a:tc>
                  <a:txBody>
                    <a:bodyPr/>
                    <a:lstStyle/>
                    <a:p>
                      <a:pPr algn="ctr"/>
                      <a:r>
                        <a:rPr sz="1250" b="0">
                          <a:solidFill>
                            <a:srgbClr val="3C3C48"/>
                          </a:solidFill>
                          <a:latin typeface="Arial"/>
                        </a:rPr>
                        <a:t>Needed</a:t>
                      </a:r>
                    </a:p>
                  </a:txBody>
                  <a:tcPr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