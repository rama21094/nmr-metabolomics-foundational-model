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min. Plan: 5 min recap + data fix, 10 min diagnosis experiments, 8 min scaling/objective failures, 7 min roadmap assessment and next steps. The most important slide is #18 on run-to-run noise — it changes how we read every other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only, 60 seconds. The bar was set; the question was whether we can beat it. Part 4 returns to the data half of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most of what I tried did not work, and that is the useful part. The bottom-right number is the headline, built up to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This is why the numbers moved between meetings.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insight: row-wise normalisation turns a local artefact into a global problem. Also own the mistake — my first count of changed labels was wrong and I caught it by byte-comparing all 78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did not change after cleaning. Emphasise that both sides are linear classifiers, so this is a statement about representations, not classifier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every cell. Two points: fine-tuning depth helps the masking family, and several joint/jigsaw cells collapse to single-class prediction, which is why degenerate cells are now auto-flagged.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analytical core of the two weeks. About 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useful analysis of the two weeks: it turned 'SSL is worse' into two separately measurable deficits, and correctly predicted where the fixes would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Cheap win one. Nothing about the model changed — only how the final linear layer was fitted. A pure evaluation-methodology 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messages: masked pretraining is real and worth keeping; jigsaw and joint are not earning their keep. Also own the earlier misreading — the control had to be rebuilt to actually answer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instructive failure: the pretext task got easier, not the representation better. That diagnosis is what motivated experiment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Cheap win two, and the most robust positive result in the project because it is a paired comparison within one checkpoint. Flag that now — it pays off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good-news slide. I flag the selection-bias caveat myself rather than have it asked — from here on I use a pre-committed selection subset.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minutes. The arc: I ran out of model-side ideas, then found my measurements were noisier than the effects I was chasing.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as it stood at the time, then flag that I later withdrew the strong conclusion. The honest position is that these backbones are indistinguishable.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block masking: the mechanism provably fired — validation loss rose 41%, so the task really was harder — and transfer still dropped. A genuine negative result about MAE-style objectives on spectra.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slide. Three minutes. Two takeaways: our data-cleaning decision has a measurable cost and should be revisited; and we have been reading single-run differences smaller than our own measurement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uncomfortable slide. Three of eight previously-reported effects are within noise. Better I find this than a reviewer. Note the two positive results survive because they are paired.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minutes. This is the part I most want your input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left column top to bottom, then middle, then right. Honest summary: fifteen days were spent entirely in the left column, and the middle and right columns are where your tree says the decisive work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bridge from my model-side work to your data question. For quantity the answer looks like no. But the corpus-version result says quality matters a lot — a different and more interesting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infrastructure debt is low; most code exists. What is missing is the connection to pretraining and an agreed fidelity criterion. I would rather agree that criterion with you before spending GPU time than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on the three questions — they are the reason for the meeting. Priority 1 costs nothing and has the largest measured effect. Priority 3 needs their judgement before I spend GPU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4A"/>
        </a:solidFill>
      </p:bgPr>
    </p:bg>
    <p:spTree>
      <p:nvGrpSpPr>
        <p:cNvPr id="1" name=""/>
        <p:cNvGrpSpPr/>
        <p:nvPr/>
      </p:nvGrpSpPr>
      <p:grpSpPr>
        <a:xfrm>
          <a:off x="0" y="0"/>
          <a:ext cx="0" cy="0"/>
          <a:chOff x="0" y="0"/>
          <a:chExt cx="0" cy="0"/>
        </a:xfrm>
      </p:grpSpPr>
      <p:sp>
        <p:nvSpPr>
          <p:cNvPr id="2" name="Text 0"/>
          <p:cNvSpPr/>
          <p:nvPr/>
        </p:nvSpPr>
        <p:spPr>
          <a:xfrm>
            <a:off x="502920" y="1143000"/>
            <a:ext cx="10607040" cy="365760"/>
          </a:xfrm>
          <a:prstGeom prst="rect">
            <a:avLst/>
          </a:prstGeom>
          <a:noFill/>
          <a:ln/>
        </p:spPr>
        <p:txBody>
          <a:bodyPr wrap="square" lIns="0" tIns="0" rIns="0" bIns="0" rtlCol="0" anchor="ctr"/>
          <a:lstStyle/>
          <a:p>
            <a:pPr indent="0" marL="0">
              <a:buNone/>
            </a:pPr>
            <a:r>
              <a:rPr lang="en-US" sz="1500" b="1" spc="140" kern="0" dirty="0">
                <a:solidFill>
                  <a:srgbClr val="1C7293"/>
                </a:solidFill>
                <a:latin typeface="Calibri" pitchFamily="34" charset="0"/>
                <a:ea typeface="Calibri" pitchFamily="34" charset="-122"/>
                <a:cs typeface="Calibri" pitchFamily="34" charset="-120"/>
              </a:rPr>
              <a:t>Comparing Foundation Models with Classical ML</a:t>
            </a:r>
            <a:endParaRPr lang="en-US" sz="1500" dirty="0"/>
          </a:p>
        </p:txBody>
      </p:sp>
      <p:sp>
        <p:nvSpPr>
          <p:cNvPr id="3" name="Text 1"/>
          <p:cNvSpPr/>
          <p:nvPr/>
        </p:nvSpPr>
        <p:spPr>
          <a:xfrm>
            <a:off x="502920" y="1600200"/>
            <a:ext cx="10972800" cy="8686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15-Day Progress Review</a:t>
            </a:r>
            <a:endParaRPr lang="en-US" sz="4400" dirty="0"/>
          </a:p>
        </p:txBody>
      </p:sp>
      <p:sp>
        <p:nvSpPr>
          <p:cNvPr id="4" name="Text 2"/>
          <p:cNvSpPr/>
          <p:nvPr/>
        </p:nvSpPr>
        <p:spPr>
          <a:xfrm>
            <a:off x="502920" y="2578608"/>
            <a:ext cx="9966960" cy="777240"/>
          </a:xfrm>
          <a:prstGeom prst="rect">
            <a:avLst/>
          </a:prstGeom>
          <a:noFill/>
          <a:ln/>
        </p:spPr>
        <p:txBody>
          <a:bodyPr wrap="square" lIns="0" tIns="0" rIns="0" bIns="0" rtlCol="0" anchor="ctr"/>
          <a:lstStyle/>
          <a:p>
            <a:pPr indent="0" marL="0">
              <a:lnSpc>
                <a:spcPct val="110000"/>
              </a:lnSpc>
              <a:buNone/>
            </a:pPr>
            <a:r>
              <a:rPr lang="en-US" sz="1500" dirty="0">
                <a:solidFill>
                  <a:srgbClr val="CBD6E6"/>
                </a:solidFill>
                <a:latin typeface="Calibri" pitchFamily="34" charset="0"/>
                <a:ea typeface="Calibri" pitchFamily="34" charset="-122"/>
                <a:cs typeface="Calibri" pitchFamily="34" charset="-120"/>
              </a:rPr>
              <a:t>Eight experiments on why classical logistic regression still leads — two cheap wins, six refuted hypotheses, and one measurement result that changes how we read all of them.</a:t>
            </a:r>
            <a:endParaRPr lang="en-US" sz="1500" dirty="0"/>
          </a:p>
        </p:txBody>
      </p:sp>
      <p:sp>
        <p:nvSpPr>
          <p:cNvPr id="5" name="Shape 3"/>
          <p:cNvSpPr/>
          <p:nvPr/>
        </p:nvSpPr>
        <p:spPr>
          <a:xfrm>
            <a:off x="502920" y="3977640"/>
            <a:ext cx="1874520" cy="457200"/>
          </a:xfrm>
          <a:prstGeom prst="roundRect">
            <a:avLst>
              <a:gd name="adj" fmla="val 16000"/>
            </a:avLst>
          </a:prstGeom>
          <a:solidFill>
            <a:srgbClr val="1E2A57"/>
          </a:solidFill>
          <a:ln w="12700">
            <a:solidFill>
              <a:srgbClr val="33436F"/>
            </a:solidFill>
            <a:prstDash val="solid"/>
          </a:ln>
        </p:spPr>
      </p:sp>
      <p:sp>
        <p:nvSpPr>
          <p:cNvPr id="6" name="Text 4"/>
          <p:cNvSpPr/>
          <p:nvPr/>
        </p:nvSpPr>
        <p:spPr>
          <a:xfrm>
            <a:off x="502920" y="3977640"/>
            <a:ext cx="1874520" cy="457200"/>
          </a:xfrm>
          <a:prstGeom prst="rect">
            <a:avLst/>
          </a:prstGeom>
          <a:noFill/>
          <a:ln/>
        </p:spPr>
        <p:txBody>
          <a:bodyPr wrap="square" lIns="0" tIns="0" rIns="0" bIns="0" rtlCol="0" anchor="ctr"/>
          <a:lstStyle/>
          <a:p>
            <a:pPr algn="ctr" indent="0" marL="0">
              <a:buNone/>
            </a:pPr>
            <a:r>
              <a:rPr lang="en-US" sz="1150" dirty="0">
                <a:solidFill>
                  <a:srgbClr val="CBD6E6"/>
                </a:solidFill>
                <a:latin typeface="Calibri" pitchFamily="34" charset="0"/>
                <a:ea typeface="Calibri" pitchFamily="34" charset="-122"/>
                <a:cs typeface="Calibri" pitchFamily="34" charset="-120"/>
              </a:rPr>
              <a:t>8 experiments run</a:t>
            </a:r>
            <a:endParaRPr lang="en-US" sz="1150" dirty="0"/>
          </a:p>
        </p:txBody>
      </p:sp>
      <p:sp>
        <p:nvSpPr>
          <p:cNvPr id="7" name="Shape 5"/>
          <p:cNvSpPr/>
          <p:nvPr/>
        </p:nvSpPr>
        <p:spPr>
          <a:xfrm>
            <a:off x="2587752" y="3977640"/>
            <a:ext cx="1874520" cy="457200"/>
          </a:xfrm>
          <a:prstGeom prst="roundRect">
            <a:avLst>
              <a:gd name="adj" fmla="val 16000"/>
            </a:avLst>
          </a:prstGeom>
          <a:solidFill>
            <a:srgbClr val="1E2A57"/>
          </a:solidFill>
          <a:ln w="12700">
            <a:solidFill>
              <a:srgbClr val="33436F"/>
            </a:solidFill>
            <a:prstDash val="solid"/>
          </a:ln>
        </p:spPr>
      </p:sp>
      <p:sp>
        <p:nvSpPr>
          <p:cNvPr id="8" name="Text 6"/>
          <p:cNvSpPr/>
          <p:nvPr/>
        </p:nvSpPr>
        <p:spPr>
          <a:xfrm>
            <a:off x="2587752" y="3977640"/>
            <a:ext cx="1874520" cy="457200"/>
          </a:xfrm>
          <a:prstGeom prst="rect">
            <a:avLst/>
          </a:prstGeom>
          <a:noFill/>
          <a:ln/>
        </p:spPr>
        <p:txBody>
          <a:bodyPr wrap="square" lIns="0" tIns="0" rIns="0" bIns="0" rtlCol="0" anchor="ctr"/>
          <a:lstStyle/>
          <a:p>
            <a:pPr algn="ctr" indent="0" marL="0">
              <a:buNone/>
            </a:pPr>
            <a:r>
              <a:rPr lang="en-US" sz="1150" dirty="0">
                <a:solidFill>
                  <a:srgbClr val="CBD6E6"/>
                </a:solidFill>
                <a:latin typeface="Calibri" pitchFamily="34" charset="0"/>
                <a:ea typeface="Calibri" pitchFamily="34" charset="-122"/>
                <a:cs typeface="Calibri" pitchFamily="34" charset="-120"/>
              </a:rPr>
              <a:t>7 backbones pretrained</a:t>
            </a:r>
            <a:endParaRPr lang="en-US" sz="1150" dirty="0"/>
          </a:p>
        </p:txBody>
      </p:sp>
      <p:sp>
        <p:nvSpPr>
          <p:cNvPr id="9" name="Shape 7"/>
          <p:cNvSpPr/>
          <p:nvPr/>
        </p:nvSpPr>
        <p:spPr>
          <a:xfrm>
            <a:off x="4672584" y="3977640"/>
            <a:ext cx="1874520" cy="457200"/>
          </a:xfrm>
          <a:prstGeom prst="roundRect">
            <a:avLst>
              <a:gd name="adj" fmla="val 16000"/>
            </a:avLst>
          </a:prstGeom>
          <a:solidFill>
            <a:srgbClr val="1E2A57"/>
          </a:solidFill>
          <a:ln w="12700">
            <a:solidFill>
              <a:srgbClr val="33436F"/>
            </a:solidFill>
            <a:prstDash val="solid"/>
          </a:ln>
        </p:spPr>
      </p:sp>
      <p:sp>
        <p:nvSpPr>
          <p:cNvPr id="10" name="Text 8"/>
          <p:cNvSpPr/>
          <p:nvPr/>
        </p:nvSpPr>
        <p:spPr>
          <a:xfrm>
            <a:off x="4672584" y="3977640"/>
            <a:ext cx="1874520" cy="457200"/>
          </a:xfrm>
          <a:prstGeom prst="rect">
            <a:avLst/>
          </a:prstGeom>
          <a:noFill/>
          <a:ln/>
        </p:spPr>
        <p:txBody>
          <a:bodyPr wrap="square" lIns="0" tIns="0" rIns="0" bIns="0" rtlCol="0" anchor="ctr"/>
          <a:lstStyle/>
          <a:p>
            <a:pPr algn="ctr" indent="0" marL="0">
              <a:buNone/>
            </a:pPr>
            <a:r>
              <a:rPr lang="en-US" sz="1150" dirty="0">
                <a:solidFill>
                  <a:srgbClr val="CBD6E6"/>
                </a:solidFill>
                <a:latin typeface="Calibri" pitchFamily="34" charset="0"/>
                <a:ea typeface="Calibri" pitchFamily="34" charset="-122"/>
                <a:cs typeface="Calibri" pitchFamily="34" charset="-120"/>
              </a:rPr>
              <a:t>13 figures</a:t>
            </a:r>
            <a:endParaRPr lang="en-US" sz="1150" dirty="0"/>
          </a:p>
        </p:txBody>
      </p:sp>
      <p:sp>
        <p:nvSpPr>
          <p:cNvPr id="11" name="Shape 9"/>
          <p:cNvSpPr/>
          <p:nvPr/>
        </p:nvSpPr>
        <p:spPr>
          <a:xfrm>
            <a:off x="6757416" y="3977640"/>
            <a:ext cx="1874520" cy="457200"/>
          </a:xfrm>
          <a:prstGeom prst="roundRect">
            <a:avLst>
              <a:gd name="adj" fmla="val 16000"/>
            </a:avLst>
          </a:prstGeom>
          <a:solidFill>
            <a:srgbClr val="1E2A57"/>
          </a:solidFill>
          <a:ln w="12700">
            <a:solidFill>
              <a:srgbClr val="33436F"/>
            </a:solidFill>
            <a:prstDash val="solid"/>
          </a:ln>
        </p:spPr>
      </p:sp>
      <p:sp>
        <p:nvSpPr>
          <p:cNvPr id="12" name="Text 10"/>
          <p:cNvSpPr/>
          <p:nvPr/>
        </p:nvSpPr>
        <p:spPr>
          <a:xfrm>
            <a:off x="6757416" y="3977640"/>
            <a:ext cx="1874520" cy="457200"/>
          </a:xfrm>
          <a:prstGeom prst="rect">
            <a:avLst/>
          </a:prstGeom>
          <a:noFill/>
          <a:ln/>
        </p:spPr>
        <p:txBody>
          <a:bodyPr wrap="square" lIns="0" tIns="0" rIns="0" bIns="0" rtlCol="0" anchor="ctr"/>
          <a:lstStyle/>
          <a:p>
            <a:pPr algn="ctr" indent="0" marL="0">
              <a:buNone/>
            </a:pPr>
            <a:r>
              <a:rPr lang="en-US" sz="1150" dirty="0">
                <a:solidFill>
                  <a:srgbClr val="CBD6E6"/>
                </a:solidFill>
                <a:latin typeface="Calibri" pitchFamily="34" charset="0"/>
                <a:ea typeface="Calibri" pitchFamily="34" charset="-122"/>
                <a:cs typeface="Calibri" pitchFamily="34" charset="-120"/>
              </a:rPr>
              <a:t>16 commits</a:t>
            </a:r>
            <a:endParaRPr lang="en-US" sz="1150" dirty="0"/>
          </a:p>
        </p:txBody>
      </p:sp>
      <p:sp>
        <p:nvSpPr>
          <p:cNvPr id="13" name="Text 11"/>
          <p:cNvSpPr/>
          <p:nvPr/>
        </p:nvSpPr>
        <p:spPr>
          <a:xfrm>
            <a:off x="502920" y="5852160"/>
            <a:ext cx="10972800" cy="320040"/>
          </a:xfrm>
          <a:prstGeom prst="rect">
            <a:avLst/>
          </a:prstGeom>
          <a:noFill/>
          <a:ln/>
        </p:spPr>
        <p:txBody>
          <a:bodyPr wrap="square" lIns="0" tIns="0" rIns="0" bIns="0" rtlCol="0" anchor="ctr"/>
          <a:lstStyle/>
          <a:p>
            <a:pPr indent="0" marL="0">
              <a:buNone/>
            </a:pPr>
            <a:r>
              <a:rPr lang="en-US" sz="1200" dirty="0">
                <a:solidFill>
                  <a:srgbClr val="8A9AB4"/>
                </a:solidFill>
                <a:latin typeface="Calibri" pitchFamily="34" charset="0"/>
                <a:ea typeface="Calibri" pitchFamily="34" charset="-122"/>
                <a:cs typeface="Calibri" pitchFamily="34" charset="-120"/>
              </a:rPr>
              <a:t>Shashank Sharma   ·   Individual meeting, 30 July 2026   ·   covering 24 – 30 July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29184"/>
            <a:ext cx="10058400" cy="237744"/>
          </a:xfrm>
          <a:prstGeom prst="rect">
            <a:avLst/>
          </a:prstGeom>
          <a:noFill/>
          <a:ln/>
        </p:spPr>
        <p:txBody>
          <a:bodyPr wrap="square" lIns="0" tIns="0" rIns="0" bIns="0" rtlCol="0" anchor="ctr"/>
          <a:lstStyle/>
          <a:p>
            <a:pPr indent="0" marL="0">
              <a:buNone/>
            </a:pPr>
            <a:r>
              <a:rPr lang="en-US" sz="1150" b="1" spc="120" kern="0" dirty="0">
                <a:solidFill>
                  <a:srgbClr val="1C7293"/>
                </a:solidFill>
                <a:latin typeface="Calibri" pitchFamily="34" charset="0"/>
                <a:ea typeface="Calibri" pitchFamily="34" charset="-122"/>
                <a:cs typeface="Calibri" pitchFamily="34" charset="-120"/>
              </a:rPr>
              <a:t>RECAP</a:t>
            </a:r>
            <a:endParaRPr lang="en-US" sz="1150" dirty="0"/>
          </a:p>
        </p:txBody>
      </p:sp>
      <p:sp>
        <p:nvSpPr>
          <p:cNvPr id="3" name="Text 1"/>
          <p:cNvSpPr/>
          <p:nvPr/>
        </p:nvSpPr>
        <p:spPr>
          <a:xfrm>
            <a:off x="502920" y="566928"/>
            <a:ext cx="11155680" cy="502920"/>
          </a:xfrm>
          <a:prstGeom prst="rect">
            <a:avLst/>
          </a:prstGeom>
          <a:noFill/>
          <a:ln/>
        </p:spPr>
        <p:txBody>
          <a:bodyPr wrap="square" lIns="0" tIns="0" rIns="0" bIns="0" rtlCol="0" anchor="ctr"/>
          <a:lstStyle/>
          <a:p>
            <a:pPr indent="0" marL="0">
              <a:buNone/>
            </a:pPr>
            <a:r>
              <a:rPr lang="en-US" sz="2700" b="1" dirty="0">
                <a:solidFill>
                  <a:srgbClr val="065A82"/>
                </a:solidFill>
                <a:latin typeface="Cambria" pitchFamily="34" charset="0"/>
                <a:ea typeface="Cambria" pitchFamily="34" charset="-122"/>
                <a:cs typeface="Cambria" pitchFamily="34" charset="-120"/>
              </a:rPr>
              <a:t>Where we left off on 24 July</a:t>
            </a:r>
            <a:endParaRPr lang="en-US" sz="2700" dirty="0"/>
          </a:p>
        </p:txBody>
      </p:sp>
      <p:pic>
        <p:nvPicPr>
          <p:cNvPr id="4" name="Image 0" descr="/home/nmrbox/0012/shasharma/Desktop/NMR_Metabolomics/results/plots/all_datasets_summary/fig1_balanced_accuracy.png">    </p:cNvPr>
          <p:cNvPicPr>
            <a:picLocks noChangeAspect="1"/>
          </p:cNvPicPr>
          <p:nvPr/>
        </p:nvPicPr>
        <p:blipFill>
          <a:blip r:embed="rId1"/>
          <a:stretch>
            <a:fillRect/>
          </a:stretch>
        </p:blipFill>
        <p:spPr>
          <a:xfrm>
            <a:off x="502920" y="1298448"/>
            <a:ext cx="5486400" cy="3450566"/>
          </a:xfrm>
          <a:prstGeom prst="rect">
            <a:avLst/>
          </a:prstGeom>
        </p:spPr>
      </p:pic>
      <p:sp>
        <p:nvSpPr>
          <p:cNvPr id="5" name="Text 2"/>
          <p:cNvSpPr/>
          <p:nvPr/>
        </p:nvSpPr>
        <p:spPr>
          <a:xfrm>
            <a:off x="502920" y="4794734"/>
            <a:ext cx="5486400" cy="310896"/>
          </a:xfrm>
          <a:prstGeom prst="rect">
            <a:avLst/>
          </a:prstGeom>
          <a:noFill/>
          <a:ln/>
        </p:spPr>
        <p:txBody>
          <a:bodyPr wrap="square" lIns="0" tIns="0" rIns="0" bIns="0" rtlCol="0" anchor="t"/>
          <a:lstStyle/>
          <a:p>
            <a:pPr indent="0" marL="0">
              <a:lnSpc>
                <a:spcPct val="95000"/>
              </a:lnSpc>
              <a:buNone/>
            </a:pPr>
            <a:r>
              <a:rPr lang="en-US" sz="950" i="1" dirty="0">
                <a:solidFill>
                  <a:srgbClr val="5C6670"/>
                </a:solidFill>
                <a:latin typeface="Calibri" pitchFamily="34" charset="0"/>
                <a:ea typeface="Calibri" pitchFamily="34" charset="-122"/>
                <a:cs typeface="Calibri" pitchFamily="34" charset="-120"/>
              </a:rPr>
              <a:t>Presented last meeting: balanced accuracy by model family, pre-cleanup corpus.</a:t>
            </a:r>
            <a:endParaRPr lang="en-US" sz="950" dirty="0"/>
          </a:p>
        </p:txBody>
      </p:sp>
      <p:sp>
        <p:nvSpPr>
          <p:cNvPr id="6" name="Shape 3"/>
          <p:cNvSpPr/>
          <p:nvPr/>
        </p:nvSpPr>
        <p:spPr>
          <a:xfrm>
            <a:off x="6309360" y="1298448"/>
            <a:ext cx="5349240" cy="1517904"/>
          </a:xfrm>
          <a:prstGeom prst="roundRect">
            <a:avLst>
              <a:gd name="adj" fmla="val 3614"/>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7" name="Shape 4"/>
          <p:cNvSpPr/>
          <p:nvPr/>
        </p:nvSpPr>
        <p:spPr>
          <a:xfrm>
            <a:off x="6492240" y="1453896"/>
            <a:ext cx="365760" cy="365760"/>
          </a:xfrm>
          <a:prstGeom prst="ellipse">
            <a:avLst/>
          </a:prstGeom>
          <a:solidFill>
            <a:srgbClr val="065A82"/>
          </a:solidFill>
          <a:ln w="6350">
            <a:solidFill>
              <a:srgbClr val="065A82"/>
            </a:solidFill>
            <a:prstDash val="solid"/>
          </a:ln>
        </p:spPr>
      </p:sp>
      <p:sp>
        <p:nvSpPr>
          <p:cNvPr id="8" name="Text 5"/>
          <p:cNvSpPr/>
          <p:nvPr/>
        </p:nvSpPr>
        <p:spPr>
          <a:xfrm>
            <a:off x="6492240" y="145389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p:nvPr/>
        </p:nvSpPr>
        <p:spPr>
          <a:xfrm>
            <a:off x="6967728" y="1444752"/>
            <a:ext cx="450799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Classical ML set the bar</a:t>
            </a:r>
            <a:endParaRPr lang="en-US" sz="1300" dirty="0"/>
          </a:p>
        </p:txBody>
      </p:sp>
      <p:sp>
        <p:nvSpPr>
          <p:cNvPr id="10" name="Text 7"/>
          <p:cNvSpPr/>
          <p:nvPr/>
        </p:nvSpPr>
        <p:spPr>
          <a:xfrm>
            <a:off x="6510528" y="1865376"/>
            <a:ext cx="4946904" cy="822960"/>
          </a:xfrm>
          <a:prstGeom prst="rect">
            <a:avLst/>
          </a:prstGeom>
          <a:noFill/>
          <a:ln/>
        </p:spPr>
        <p:txBody>
          <a:bodyPr wrap="square" lIns="0" tIns="0" rIns="0" bIns="0" rtlCol="0" anchor="t"/>
          <a:lstStyle/>
          <a:p>
            <a:pPr indent="0" marL="0">
              <a:lnSpc>
                <a:spcPct val="100000"/>
              </a:lnSpc>
              <a:buNone/>
            </a:pPr>
            <a:r>
              <a:rPr lang="en-US" sz="1150" dirty="0">
                <a:solidFill>
                  <a:srgbClr val="1A1A1A"/>
                </a:solidFill>
                <a:latin typeface="Calibri" pitchFamily="34" charset="0"/>
                <a:ea typeface="Calibri" pitchFamily="34" charset="-122"/>
                <a:cs typeface="Calibri" pitchFamily="34" charset="-120"/>
              </a:rPr>
              <a:t>Logistic regression on binned absolute areas beat all three SSL families on every dataset. That result has survived every change since.</a:t>
            </a:r>
            <a:endParaRPr lang="en-US" sz="1150" dirty="0"/>
          </a:p>
        </p:txBody>
      </p:sp>
      <p:sp>
        <p:nvSpPr>
          <p:cNvPr id="11" name="Shape 8"/>
          <p:cNvSpPr/>
          <p:nvPr/>
        </p:nvSpPr>
        <p:spPr>
          <a:xfrm>
            <a:off x="6309360" y="2926080"/>
            <a:ext cx="5349240" cy="1517904"/>
          </a:xfrm>
          <a:prstGeom prst="roundRect">
            <a:avLst>
              <a:gd name="adj" fmla="val 3614"/>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12" name="Shape 9"/>
          <p:cNvSpPr/>
          <p:nvPr/>
        </p:nvSpPr>
        <p:spPr>
          <a:xfrm>
            <a:off x="6492240" y="3081528"/>
            <a:ext cx="365760" cy="365760"/>
          </a:xfrm>
          <a:prstGeom prst="ellipse">
            <a:avLst/>
          </a:prstGeom>
          <a:solidFill>
            <a:srgbClr val="1C7293"/>
          </a:solidFill>
          <a:ln w="6350">
            <a:solidFill>
              <a:srgbClr val="1C7293"/>
            </a:solidFill>
            <a:prstDash val="solid"/>
          </a:ln>
        </p:spPr>
      </p:sp>
      <p:sp>
        <p:nvSpPr>
          <p:cNvPr id="13" name="Text 10"/>
          <p:cNvSpPr/>
          <p:nvPr/>
        </p:nvSpPr>
        <p:spPr>
          <a:xfrm>
            <a:off x="6492240" y="3081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1"/>
          <p:cNvSpPr/>
          <p:nvPr/>
        </p:nvSpPr>
        <p:spPr>
          <a:xfrm>
            <a:off x="6967728" y="3072384"/>
            <a:ext cx="450799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The question you set</a:t>
            </a:r>
            <a:endParaRPr lang="en-US" sz="1300" dirty="0"/>
          </a:p>
        </p:txBody>
      </p:sp>
      <p:sp>
        <p:nvSpPr>
          <p:cNvPr id="15" name="Text 12"/>
          <p:cNvSpPr/>
          <p:nvPr/>
        </p:nvSpPr>
        <p:spPr>
          <a:xfrm>
            <a:off x="6510528" y="3493008"/>
            <a:ext cx="4946904" cy="822960"/>
          </a:xfrm>
          <a:prstGeom prst="rect">
            <a:avLst/>
          </a:prstGeom>
          <a:noFill/>
          <a:ln/>
        </p:spPr>
        <p:txBody>
          <a:bodyPr wrap="square" lIns="0" tIns="0" rIns="0" bIns="0" rtlCol="0" anchor="t"/>
          <a:lstStyle/>
          <a:p>
            <a:pPr indent="0" marL="0">
              <a:lnSpc>
                <a:spcPct val="100000"/>
              </a:lnSpc>
              <a:buNone/>
            </a:pPr>
            <a:r>
              <a:rPr lang="en-US" sz="1150" dirty="0">
                <a:solidFill>
                  <a:srgbClr val="1A1A1A"/>
                </a:solidFill>
                <a:latin typeface="Calibri" pitchFamily="34" charset="0"/>
                <a:ea typeface="Calibri" pitchFamily="34" charset="-122"/>
                <a:cs typeface="Calibri" pitchFamily="34" charset="-120"/>
              </a:rPr>
              <a:t>“ML is better — it sets the bar. Can we better it? And is data the limiting factor?” Parts 1–3 attack the first half; Part 4 the second.</a:t>
            </a:r>
            <a:endParaRPr lang="en-US" sz="1150" dirty="0"/>
          </a:p>
        </p:txBody>
      </p:sp>
      <p:sp>
        <p:nvSpPr>
          <p:cNvPr id="16" name="Shape 13"/>
          <p:cNvSpPr/>
          <p:nvPr/>
        </p:nvSpPr>
        <p:spPr>
          <a:xfrm>
            <a:off x="6309360" y="4553712"/>
            <a:ext cx="5349240" cy="1517904"/>
          </a:xfrm>
          <a:prstGeom prst="roundRect">
            <a:avLst>
              <a:gd name="adj" fmla="val 3614"/>
            </a:avLst>
          </a:prstGeom>
          <a:solidFill>
            <a:srgbClr val="FBECEC"/>
          </a:solidFill>
          <a:ln w="6350">
            <a:solidFill>
              <a:srgbClr val="FBECEC"/>
            </a:solidFill>
            <a:prstDash val="solid"/>
          </a:ln>
          <a:effectLst>
            <a:outerShdw sx="100000" sy="100000" kx="0" ky="0" algn="bl" rotWithShape="0" blurRad="76200" dist="12700" dir="5400000">
              <a:srgbClr val="8899A6">
                <a:alpha val="18000"/>
              </a:srgbClr>
            </a:outerShdw>
          </a:effectLst>
        </p:spPr>
      </p:sp>
      <p:sp>
        <p:nvSpPr>
          <p:cNvPr id="17" name="Shape 14"/>
          <p:cNvSpPr/>
          <p:nvPr/>
        </p:nvSpPr>
        <p:spPr>
          <a:xfrm>
            <a:off x="6492240" y="4709160"/>
            <a:ext cx="365760" cy="365760"/>
          </a:xfrm>
          <a:prstGeom prst="ellipse">
            <a:avLst/>
          </a:prstGeom>
          <a:solidFill>
            <a:srgbClr val="A32020"/>
          </a:solidFill>
          <a:ln w="6350">
            <a:solidFill>
              <a:srgbClr val="A32020"/>
            </a:solidFill>
            <a:prstDash val="solid"/>
          </a:ln>
        </p:spPr>
      </p:sp>
      <p:sp>
        <p:nvSpPr>
          <p:cNvPr id="18" name="Text 15"/>
          <p:cNvSpPr/>
          <p:nvPr/>
        </p:nvSpPr>
        <p:spPr>
          <a:xfrm>
            <a:off x="6492240" y="47091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9" name="Text 16"/>
          <p:cNvSpPr/>
          <p:nvPr/>
        </p:nvSpPr>
        <p:spPr>
          <a:xfrm>
            <a:off x="6967728" y="4700016"/>
            <a:ext cx="450799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What I did not know then</a:t>
            </a:r>
            <a:endParaRPr lang="en-US" sz="1300" dirty="0"/>
          </a:p>
        </p:txBody>
      </p:sp>
      <p:sp>
        <p:nvSpPr>
          <p:cNvPr id="20" name="Text 17"/>
          <p:cNvSpPr/>
          <p:nvPr/>
        </p:nvSpPr>
        <p:spPr>
          <a:xfrm>
            <a:off x="6510528" y="5120640"/>
            <a:ext cx="4946904" cy="822960"/>
          </a:xfrm>
          <a:prstGeom prst="rect">
            <a:avLst/>
          </a:prstGeom>
          <a:noFill/>
          <a:ln/>
        </p:spPr>
        <p:txBody>
          <a:bodyPr wrap="square" lIns="0" tIns="0" rIns="0" bIns="0" rtlCol="0" anchor="t"/>
          <a:lstStyle/>
          <a:p>
            <a:pPr indent="0" marL="0">
              <a:lnSpc>
                <a:spcPct val="100000"/>
              </a:lnSpc>
              <a:buNone/>
            </a:pPr>
            <a:r>
              <a:rPr lang="en-US" sz="1150" dirty="0">
                <a:solidFill>
                  <a:srgbClr val="1A1A1A"/>
                </a:solidFill>
                <a:latin typeface="Calibri" pitchFamily="34" charset="0"/>
                <a:ea typeface="Calibri" pitchFamily="34" charset="-122"/>
                <a:cs typeface="Calibri" pitchFamily="34" charset="-120"/>
              </a:rPr>
              <a:t>Two of those numbers were measured on data with a suppression bug, and none of them had error bars.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29184"/>
            <a:ext cx="10058400" cy="237744"/>
          </a:xfrm>
          <a:prstGeom prst="rect">
            <a:avLst/>
          </a:prstGeom>
          <a:noFill/>
          <a:ln/>
        </p:spPr>
        <p:txBody>
          <a:bodyPr wrap="square" lIns="0" tIns="0" rIns="0" bIns="0" rtlCol="0" anchor="ctr"/>
          <a:lstStyle/>
          <a:p>
            <a:pPr indent="0" marL="0">
              <a:buNone/>
            </a:pPr>
            <a:r>
              <a:rPr lang="en-US" sz="1150" b="1" spc="120" kern="0" dirty="0">
                <a:solidFill>
                  <a:srgbClr val="1C7293"/>
                </a:solidFill>
                <a:latin typeface="Calibri" pitchFamily="34" charset="0"/>
                <a:ea typeface="Calibri" pitchFamily="34" charset="-122"/>
                <a:cs typeface="Calibri" pitchFamily="34" charset="-120"/>
              </a:rPr>
              <a:t>OVERVIEW</a:t>
            </a:r>
            <a:endParaRPr lang="en-US" sz="1150" dirty="0"/>
          </a:p>
        </p:txBody>
      </p:sp>
      <p:sp>
        <p:nvSpPr>
          <p:cNvPr id="3" name="Text 1"/>
          <p:cNvSpPr/>
          <p:nvPr/>
        </p:nvSpPr>
        <p:spPr>
          <a:xfrm>
            <a:off x="502920" y="566928"/>
            <a:ext cx="11155680" cy="502920"/>
          </a:xfrm>
          <a:prstGeom prst="rect">
            <a:avLst/>
          </a:prstGeom>
          <a:noFill/>
          <a:ln/>
        </p:spPr>
        <p:txBody>
          <a:bodyPr wrap="square" lIns="0" tIns="0" rIns="0" bIns="0" rtlCol="0" anchor="ctr"/>
          <a:lstStyle/>
          <a:p>
            <a:pPr indent="0" marL="0">
              <a:buNone/>
            </a:pPr>
            <a:r>
              <a:rPr lang="en-US" sz="2700" b="1" dirty="0">
                <a:solidFill>
                  <a:srgbClr val="065A82"/>
                </a:solidFill>
                <a:latin typeface="Cambria" pitchFamily="34" charset="0"/>
                <a:ea typeface="Cambria" pitchFamily="34" charset="-122"/>
                <a:cs typeface="Cambria" pitchFamily="34" charset="-120"/>
              </a:rPr>
              <a:t>What happened in the last 15 days</a:t>
            </a:r>
            <a:endParaRPr lang="en-US" sz="2700" dirty="0"/>
          </a:p>
        </p:txBody>
      </p:sp>
      <p:sp>
        <p:nvSpPr>
          <p:cNvPr id="4" name="Shape 2"/>
          <p:cNvSpPr/>
          <p:nvPr/>
        </p:nvSpPr>
        <p:spPr>
          <a:xfrm>
            <a:off x="502920" y="1325880"/>
            <a:ext cx="7315200" cy="1097280"/>
          </a:xfrm>
          <a:prstGeom prst="roundRect">
            <a:avLst>
              <a:gd name="adj" fmla="val 5000"/>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5" name="Shape 3"/>
          <p:cNvSpPr/>
          <p:nvPr/>
        </p:nvSpPr>
        <p:spPr>
          <a:xfrm>
            <a:off x="685800" y="1481328"/>
            <a:ext cx="365760" cy="365760"/>
          </a:xfrm>
          <a:prstGeom prst="ellipse">
            <a:avLst/>
          </a:prstGeom>
          <a:solidFill>
            <a:srgbClr val="065A82"/>
          </a:solidFill>
          <a:ln w="6350">
            <a:solidFill>
              <a:srgbClr val="065A82"/>
            </a:solidFill>
            <a:prstDash val="solid"/>
          </a:ln>
        </p:spPr>
      </p:sp>
      <p:sp>
        <p:nvSpPr>
          <p:cNvPr id="6" name="Text 4"/>
          <p:cNvSpPr/>
          <p:nvPr/>
        </p:nvSpPr>
        <p:spPr>
          <a:xfrm>
            <a:off x="685800" y="1481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161288" y="1472184"/>
            <a:ext cx="647395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Data correctness</a:t>
            </a:r>
            <a:endParaRPr lang="en-US" sz="1300" dirty="0"/>
          </a:p>
        </p:txBody>
      </p:sp>
      <p:sp>
        <p:nvSpPr>
          <p:cNvPr id="8" name="Text 6"/>
          <p:cNvSpPr/>
          <p:nvPr/>
        </p:nvSpPr>
        <p:spPr>
          <a:xfrm>
            <a:off x="704088" y="1892808"/>
            <a:ext cx="6912864" cy="402336"/>
          </a:xfrm>
          <a:prstGeom prst="rect">
            <a:avLst/>
          </a:prstGeom>
          <a:noFill/>
          <a:ln/>
        </p:spPr>
        <p:txBody>
          <a:bodyPr wrap="square" lIns="0" tIns="0" rIns="0" bIns="0" rtlCol="0" anchor="t"/>
          <a:lstStyle/>
          <a:p>
            <a:pPr indent="0" marL="0">
              <a:lnSpc>
                <a:spcPct val="100000"/>
              </a:lnSpc>
              <a:buNone/>
            </a:pPr>
            <a:r>
              <a:rPr lang="en-US" sz="1100" dirty="0">
                <a:solidFill>
                  <a:srgbClr val="1A1A1A"/>
                </a:solidFill>
                <a:latin typeface="Calibri" pitchFamily="34" charset="0"/>
                <a:ea typeface="Calibri" pitchFamily="34" charset="-122"/>
                <a:cs typeface="Calibri" pitchFamily="34" charset="-120"/>
              </a:rPr>
              <a:t>A suppression bug and revised BrC-T2D labels forced a rebuild of every dataset. The benchmark was re-run from scratch.</a:t>
            </a:r>
            <a:endParaRPr lang="en-US" sz="1100" dirty="0"/>
          </a:p>
        </p:txBody>
      </p:sp>
      <p:sp>
        <p:nvSpPr>
          <p:cNvPr id="9" name="Shape 7"/>
          <p:cNvSpPr/>
          <p:nvPr/>
        </p:nvSpPr>
        <p:spPr>
          <a:xfrm>
            <a:off x="502920" y="2569464"/>
            <a:ext cx="7315200" cy="1097280"/>
          </a:xfrm>
          <a:prstGeom prst="roundRect">
            <a:avLst>
              <a:gd name="adj" fmla="val 5000"/>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10" name="Shape 8"/>
          <p:cNvSpPr/>
          <p:nvPr/>
        </p:nvSpPr>
        <p:spPr>
          <a:xfrm>
            <a:off x="685800" y="2724912"/>
            <a:ext cx="365760" cy="365760"/>
          </a:xfrm>
          <a:prstGeom prst="ellipse">
            <a:avLst/>
          </a:prstGeom>
          <a:solidFill>
            <a:srgbClr val="1C7293"/>
          </a:solidFill>
          <a:ln w="6350">
            <a:solidFill>
              <a:srgbClr val="1C7293"/>
            </a:solidFill>
            <a:prstDash val="solid"/>
          </a:ln>
        </p:spPr>
      </p:sp>
      <p:sp>
        <p:nvSpPr>
          <p:cNvPr id="11" name="Text 9"/>
          <p:cNvSpPr/>
          <p:nvPr/>
        </p:nvSpPr>
        <p:spPr>
          <a:xfrm>
            <a:off x="685800" y="272491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161288" y="2715768"/>
            <a:ext cx="647395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Why does classical win?</a:t>
            </a:r>
            <a:endParaRPr lang="en-US" sz="1300" dirty="0"/>
          </a:p>
        </p:txBody>
      </p:sp>
      <p:sp>
        <p:nvSpPr>
          <p:cNvPr id="13" name="Text 11"/>
          <p:cNvSpPr/>
          <p:nvPr/>
        </p:nvSpPr>
        <p:spPr>
          <a:xfrm>
            <a:off x="704088" y="3136392"/>
            <a:ext cx="6912864" cy="402336"/>
          </a:xfrm>
          <a:prstGeom prst="rect">
            <a:avLst/>
          </a:prstGeom>
          <a:noFill/>
          <a:ln/>
        </p:spPr>
        <p:txBody>
          <a:bodyPr wrap="square" lIns="0" tIns="0" rIns="0" bIns="0" rtlCol="0" anchor="t"/>
          <a:lstStyle/>
          <a:p>
            <a:pPr indent="0" marL="0">
              <a:lnSpc>
                <a:spcPct val="100000"/>
              </a:lnSpc>
              <a:buNone/>
            </a:pPr>
            <a:r>
              <a:rPr lang="en-US" sz="1100" dirty="0">
                <a:solidFill>
                  <a:srgbClr val="1A1A1A"/>
                </a:solidFill>
                <a:latin typeface="Calibri" pitchFamily="34" charset="0"/>
                <a:ea typeface="Calibri" pitchFamily="34" charset="-122"/>
                <a:cs typeface="Calibri" pitchFamily="34" charset="-120"/>
              </a:rPr>
              <a:t>Decomposed the gap into head-fitting versus representation. Two cheap fixes worked; the resolution hypothesis was refuted.</a:t>
            </a:r>
            <a:endParaRPr lang="en-US" sz="1100" dirty="0"/>
          </a:p>
        </p:txBody>
      </p:sp>
      <p:sp>
        <p:nvSpPr>
          <p:cNvPr id="14" name="Shape 12"/>
          <p:cNvSpPr/>
          <p:nvPr/>
        </p:nvSpPr>
        <p:spPr>
          <a:xfrm>
            <a:off x="502920" y="3813048"/>
            <a:ext cx="7315200" cy="1097280"/>
          </a:xfrm>
          <a:prstGeom prst="roundRect">
            <a:avLst>
              <a:gd name="adj" fmla="val 5000"/>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15" name="Shape 13"/>
          <p:cNvSpPr/>
          <p:nvPr/>
        </p:nvSpPr>
        <p:spPr>
          <a:xfrm>
            <a:off x="685800" y="3968496"/>
            <a:ext cx="365760" cy="365760"/>
          </a:xfrm>
          <a:prstGeom prst="ellipse">
            <a:avLst/>
          </a:prstGeom>
          <a:solidFill>
            <a:srgbClr val="B36A00"/>
          </a:solidFill>
          <a:ln w="6350">
            <a:solidFill>
              <a:srgbClr val="B36A00"/>
            </a:solidFill>
            <a:prstDash val="solid"/>
          </a:ln>
        </p:spPr>
      </p:sp>
      <p:sp>
        <p:nvSpPr>
          <p:cNvPr id="16" name="Text 14"/>
          <p:cNvSpPr/>
          <p:nvPr/>
        </p:nvSpPr>
        <p:spPr>
          <a:xfrm>
            <a:off x="685800" y="396849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1161288" y="3959352"/>
            <a:ext cx="647395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Scaling and objective</a:t>
            </a:r>
            <a:endParaRPr lang="en-US" sz="1300" dirty="0"/>
          </a:p>
        </p:txBody>
      </p:sp>
      <p:sp>
        <p:nvSpPr>
          <p:cNvPr id="18" name="Text 16"/>
          <p:cNvSpPr/>
          <p:nvPr/>
        </p:nvSpPr>
        <p:spPr>
          <a:xfrm>
            <a:off x="704088" y="4379976"/>
            <a:ext cx="6912864" cy="402336"/>
          </a:xfrm>
          <a:prstGeom prst="rect">
            <a:avLst/>
          </a:prstGeom>
          <a:noFill/>
          <a:ln/>
        </p:spPr>
        <p:txBody>
          <a:bodyPr wrap="square" lIns="0" tIns="0" rIns="0" bIns="0" rtlCol="0" anchor="t"/>
          <a:lstStyle/>
          <a:p>
            <a:pPr indent="0" marL="0">
              <a:lnSpc>
                <a:spcPct val="100000"/>
              </a:lnSpc>
              <a:buNone/>
            </a:pPr>
            <a:r>
              <a:rPr lang="en-US" sz="1100" dirty="0">
                <a:solidFill>
                  <a:srgbClr val="1A1A1A"/>
                </a:solidFill>
                <a:latin typeface="Calibri" pitchFamily="34" charset="0"/>
                <a:ea typeface="Calibri" pitchFamily="34" charset="-122"/>
                <a:cs typeface="Calibri" pitchFamily="34" charset="-120"/>
              </a:rPr>
              <a:t>Four capacity experiments and two pretext-objective changes. All failed — and the last revealed a measurement problem.</a:t>
            </a:r>
            <a:endParaRPr lang="en-US" sz="1100" dirty="0"/>
          </a:p>
        </p:txBody>
      </p:sp>
      <p:sp>
        <p:nvSpPr>
          <p:cNvPr id="19" name="Shape 17"/>
          <p:cNvSpPr/>
          <p:nvPr/>
        </p:nvSpPr>
        <p:spPr>
          <a:xfrm>
            <a:off x="502920" y="5056632"/>
            <a:ext cx="7315200" cy="1097280"/>
          </a:xfrm>
          <a:prstGeom prst="roundRect">
            <a:avLst>
              <a:gd name="adj" fmla="val 5000"/>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20" name="Shape 18"/>
          <p:cNvSpPr/>
          <p:nvPr/>
        </p:nvSpPr>
        <p:spPr>
          <a:xfrm>
            <a:off x="685800" y="5212080"/>
            <a:ext cx="365760" cy="365760"/>
          </a:xfrm>
          <a:prstGeom prst="ellipse">
            <a:avLst/>
          </a:prstGeom>
          <a:solidFill>
            <a:srgbClr val="1B7F4F"/>
          </a:solidFill>
          <a:ln w="6350">
            <a:solidFill>
              <a:srgbClr val="1B7F4F"/>
            </a:solidFill>
            <a:prstDash val="solid"/>
          </a:ln>
        </p:spPr>
      </p:sp>
      <p:sp>
        <p:nvSpPr>
          <p:cNvPr id="21" name="Text 19"/>
          <p:cNvSpPr/>
          <p:nvPr/>
        </p:nvSpPr>
        <p:spPr>
          <a:xfrm>
            <a:off x="685800" y="52120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1161288" y="5202936"/>
            <a:ext cx="647395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Against your roadmap</a:t>
            </a:r>
            <a:endParaRPr lang="en-US" sz="1300" dirty="0"/>
          </a:p>
        </p:txBody>
      </p:sp>
      <p:sp>
        <p:nvSpPr>
          <p:cNvPr id="23" name="Text 21"/>
          <p:cNvSpPr/>
          <p:nvPr/>
        </p:nvSpPr>
        <p:spPr>
          <a:xfrm>
            <a:off x="704088" y="5623560"/>
            <a:ext cx="6912864" cy="402336"/>
          </a:xfrm>
          <a:prstGeom prst="rect">
            <a:avLst/>
          </a:prstGeom>
          <a:noFill/>
          <a:ln/>
        </p:spPr>
        <p:txBody>
          <a:bodyPr wrap="square" lIns="0" tIns="0" rIns="0" bIns="0" rtlCol="0" anchor="t"/>
          <a:lstStyle/>
          <a:p>
            <a:pPr indent="0" marL="0">
              <a:lnSpc>
                <a:spcPct val="100000"/>
              </a:lnSpc>
              <a:buNone/>
            </a:pPr>
            <a:r>
              <a:rPr lang="en-US" sz="1100" dirty="0">
                <a:solidFill>
                  <a:srgbClr val="1A1A1A"/>
                </a:solidFill>
                <a:latin typeface="Calibri" pitchFamily="34" charset="0"/>
                <a:ea typeface="Calibri" pitchFamily="34" charset="-122"/>
                <a:cs typeface="Calibri" pitchFamily="34" charset="-120"/>
              </a:rPr>
              <a:t>Where we sit on your decision tree, and what the peak-intensity data already says about whether more data would help.</a:t>
            </a:r>
            <a:endParaRPr lang="en-US" sz="1100" dirty="0"/>
          </a:p>
        </p:txBody>
      </p:sp>
      <p:sp>
        <p:nvSpPr>
          <p:cNvPr id="24" name="Shape 22"/>
          <p:cNvSpPr/>
          <p:nvPr/>
        </p:nvSpPr>
        <p:spPr>
          <a:xfrm>
            <a:off x="8138160" y="1325880"/>
            <a:ext cx="3520440" cy="1371600"/>
          </a:xfrm>
          <a:prstGeom prst="roundRect">
            <a:avLst>
              <a:gd name="adj" fmla="val 4000"/>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25" name="Text 23"/>
          <p:cNvSpPr/>
          <p:nvPr/>
        </p:nvSpPr>
        <p:spPr>
          <a:xfrm>
            <a:off x="8138160" y="1417320"/>
            <a:ext cx="3520440" cy="630936"/>
          </a:xfrm>
          <a:prstGeom prst="rect">
            <a:avLst/>
          </a:prstGeom>
          <a:noFill/>
          <a:ln/>
        </p:spPr>
        <p:txBody>
          <a:bodyPr wrap="square" lIns="0" tIns="0" rIns="0" bIns="0" rtlCol="0" anchor="ctr"/>
          <a:lstStyle/>
          <a:p>
            <a:pPr algn="ctr" indent="0" marL="0">
              <a:buNone/>
            </a:pPr>
            <a:r>
              <a:rPr lang="en-US" sz="3200" b="1" dirty="0">
                <a:solidFill>
                  <a:srgbClr val="1B7F4F"/>
                </a:solidFill>
                <a:latin typeface="Cambria" pitchFamily="34" charset="0"/>
                <a:ea typeface="Cambria" pitchFamily="34" charset="-122"/>
                <a:cs typeface="Cambria" pitchFamily="34" charset="-120"/>
              </a:rPr>
              <a:t>2 of 8</a:t>
            </a:r>
            <a:endParaRPr lang="en-US" sz="3200" dirty="0"/>
          </a:p>
        </p:txBody>
      </p:sp>
      <p:sp>
        <p:nvSpPr>
          <p:cNvPr id="26" name="Text 24"/>
          <p:cNvSpPr/>
          <p:nvPr/>
        </p:nvSpPr>
        <p:spPr>
          <a:xfrm>
            <a:off x="8229600" y="2066544"/>
            <a:ext cx="3337560" cy="576072"/>
          </a:xfrm>
          <a:prstGeom prst="rect">
            <a:avLst/>
          </a:prstGeom>
          <a:noFill/>
          <a:ln/>
        </p:spPr>
        <p:txBody>
          <a:bodyPr wrap="square" lIns="0" tIns="0" rIns="0" bIns="0" rtlCol="0" anchor="t"/>
          <a:lstStyle/>
          <a:p>
            <a:pPr algn="ctr" indent="0" marL="0">
              <a:lnSpc>
                <a:spcPct val="93000"/>
              </a:lnSpc>
              <a:buNone/>
            </a:pPr>
            <a:r>
              <a:rPr lang="en-US" sz="950" dirty="0">
                <a:solidFill>
                  <a:srgbClr val="5C6670"/>
                </a:solidFill>
                <a:latin typeface="Calibri" pitchFamily="34" charset="0"/>
                <a:ea typeface="Calibri" pitchFamily="34" charset="-122"/>
                <a:cs typeface="Calibri" pitchFamily="34" charset="-120"/>
              </a:rPr>
              <a:t>interventions that improved accuracy</a:t>
            </a:r>
            <a:endParaRPr lang="en-US" sz="950" dirty="0"/>
          </a:p>
        </p:txBody>
      </p:sp>
      <p:sp>
        <p:nvSpPr>
          <p:cNvPr id="27" name="Shape 25"/>
          <p:cNvSpPr/>
          <p:nvPr/>
        </p:nvSpPr>
        <p:spPr>
          <a:xfrm>
            <a:off x="8138160" y="2862072"/>
            <a:ext cx="3520440" cy="1371600"/>
          </a:xfrm>
          <a:prstGeom prst="roundRect">
            <a:avLst>
              <a:gd name="adj" fmla="val 4000"/>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28" name="Text 26"/>
          <p:cNvSpPr/>
          <p:nvPr/>
        </p:nvSpPr>
        <p:spPr>
          <a:xfrm>
            <a:off x="8138160" y="2953512"/>
            <a:ext cx="3520440" cy="630936"/>
          </a:xfrm>
          <a:prstGeom prst="rect">
            <a:avLst/>
          </a:prstGeom>
          <a:noFill/>
          <a:ln/>
        </p:spPr>
        <p:txBody>
          <a:bodyPr wrap="square" lIns="0" tIns="0" rIns="0" bIns="0" rtlCol="0" anchor="ctr"/>
          <a:lstStyle/>
          <a:p>
            <a:pPr algn="ctr" indent="0" marL="0">
              <a:buNone/>
            </a:pPr>
            <a:r>
              <a:rPr lang="en-US" sz="3200" b="1" dirty="0">
                <a:solidFill>
                  <a:srgbClr val="1B7F4F"/>
                </a:solidFill>
                <a:latin typeface="Cambria" pitchFamily="34" charset="0"/>
                <a:ea typeface="Cambria" pitchFamily="34" charset="-122"/>
                <a:cs typeface="Cambria" pitchFamily="34" charset="-120"/>
              </a:rPr>
              <a:t>+0.078</a:t>
            </a:r>
            <a:endParaRPr lang="en-US" sz="3200" dirty="0"/>
          </a:p>
        </p:txBody>
      </p:sp>
      <p:sp>
        <p:nvSpPr>
          <p:cNvPr id="29" name="Text 27"/>
          <p:cNvSpPr/>
          <p:nvPr/>
        </p:nvSpPr>
        <p:spPr>
          <a:xfrm>
            <a:off x="8229600" y="3602736"/>
            <a:ext cx="3337560" cy="576072"/>
          </a:xfrm>
          <a:prstGeom prst="rect">
            <a:avLst/>
          </a:prstGeom>
          <a:noFill/>
          <a:ln/>
        </p:spPr>
        <p:txBody>
          <a:bodyPr wrap="square" lIns="0" tIns="0" rIns="0" bIns="0" rtlCol="0" anchor="t"/>
          <a:lstStyle/>
          <a:p>
            <a:pPr algn="ctr" indent="0" marL="0">
              <a:lnSpc>
                <a:spcPct val="93000"/>
              </a:lnSpc>
              <a:buNone/>
            </a:pPr>
            <a:r>
              <a:rPr lang="en-US" sz="950" dirty="0">
                <a:solidFill>
                  <a:srgbClr val="5C6670"/>
                </a:solidFill>
                <a:latin typeface="Calibri" pitchFamily="34" charset="0"/>
                <a:ea typeface="Calibri" pitchFamily="34" charset="-122"/>
                <a:cs typeface="Calibri" pitchFamily="34" charset="-120"/>
              </a:rPr>
              <a:t>mean gain from those two — with no retraining</a:t>
            </a:r>
            <a:endParaRPr lang="en-US" sz="950" dirty="0"/>
          </a:p>
        </p:txBody>
      </p:sp>
      <p:sp>
        <p:nvSpPr>
          <p:cNvPr id="30" name="Shape 28"/>
          <p:cNvSpPr/>
          <p:nvPr/>
        </p:nvSpPr>
        <p:spPr>
          <a:xfrm>
            <a:off x="8138160" y="4398264"/>
            <a:ext cx="3520440" cy="1682496"/>
          </a:xfrm>
          <a:prstGeom prst="roundRect">
            <a:avLst>
              <a:gd name="adj" fmla="val 3261"/>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31" name="Text 29"/>
          <p:cNvSpPr/>
          <p:nvPr/>
        </p:nvSpPr>
        <p:spPr>
          <a:xfrm>
            <a:off x="8138160" y="4489704"/>
            <a:ext cx="3520440" cy="773948"/>
          </a:xfrm>
          <a:prstGeom prst="rect">
            <a:avLst/>
          </a:prstGeom>
          <a:noFill/>
          <a:ln/>
        </p:spPr>
        <p:txBody>
          <a:bodyPr wrap="square" lIns="0" tIns="0" rIns="0" bIns="0" rtlCol="0" anchor="ctr"/>
          <a:lstStyle/>
          <a:p>
            <a:pPr algn="ctr" indent="0" marL="0">
              <a:buNone/>
            </a:pPr>
            <a:r>
              <a:rPr lang="en-US" sz="3000" b="1" dirty="0">
                <a:solidFill>
                  <a:srgbClr val="A32020"/>
                </a:solidFill>
                <a:latin typeface="Cambria" pitchFamily="34" charset="0"/>
                <a:ea typeface="Cambria" pitchFamily="34" charset="-122"/>
                <a:cs typeface="Cambria" pitchFamily="34" charset="-120"/>
              </a:rPr>
              <a:t>0.069</a:t>
            </a:r>
            <a:endParaRPr lang="en-US" sz="3000" dirty="0"/>
          </a:p>
        </p:txBody>
      </p:sp>
      <p:sp>
        <p:nvSpPr>
          <p:cNvPr id="32" name="Text 30"/>
          <p:cNvSpPr/>
          <p:nvPr/>
        </p:nvSpPr>
        <p:spPr>
          <a:xfrm>
            <a:off x="8229600" y="5306812"/>
            <a:ext cx="3337560" cy="706648"/>
          </a:xfrm>
          <a:prstGeom prst="rect">
            <a:avLst/>
          </a:prstGeom>
          <a:noFill/>
          <a:ln/>
        </p:spPr>
        <p:txBody>
          <a:bodyPr wrap="square" lIns="0" tIns="0" rIns="0" bIns="0" rtlCol="0" anchor="t"/>
          <a:lstStyle/>
          <a:p>
            <a:pPr algn="ctr" indent="0" marL="0">
              <a:lnSpc>
                <a:spcPct val="93000"/>
              </a:lnSpc>
              <a:buNone/>
            </a:pPr>
            <a:r>
              <a:rPr lang="en-US" sz="950" dirty="0">
                <a:solidFill>
                  <a:srgbClr val="5C6670"/>
                </a:solidFill>
                <a:latin typeface="Calibri" pitchFamily="34" charset="0"/>
                <a:ea typeface="Calibri" pitchFamily="34" charset="-122"/>
                <a:cs typeface="Calibri" pitchFamily="34" charset="-120"/>
              </a:rPr>
              <a:t>accuracy swing from the pretraining corpus version alone — larger than any model change we tried</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204A"/>
        </a:solidFill>
      </p:bgPr>
    </p:bg>
    <p:spTree>
      <p:nvGrpSpPr>
        <p:cNvPr id="1" name=""/>
        <p:cNvGrpSpPr/>
        <p:nvPr/>
      </p:nvGrpSpPr>
      <p:grpSpPr>
        <a:xfrm>
          <a:off x="0" y="0"/>
          <a:ext cx="0" cy="0"/>
          <a:chOff x="0" y="0"/>
          <a:chExt cx="0" cy="0"/>
        </a:xfrm>
      </p:grpSpPr>
      <p:sp>
        <p:nvSpPr>
          <p:cNvPr id="2" name="Shape 0"/>
          <p:cNvSpPr/>
          <p:nvPr/>
        </p:nvSpPr>
        <p:spPr>
          <a:xfrm>
            <a:off x="502920" y="2103120"/>
            <a:ext cx="960120" cy="960120"/>
          </a:xfrm>
          <a:prstGeom prst="ellipse">
            <a:avLst/>
          </a:prstGeom>
          <a:solidFill>
            <a:srgbClr val="1C7293"/>
          </a:solidFill>
          <a:ln w="6350">
            <a:solidFill>
              <a:srgbClr val="1C7293"/>
            </a:solidFill>
            <a:prstDash val="solid"/>
          </a:ln>
        </p:spPr>
      </p:sp>
      <p:sp>
        <p:nvSpPr>
          <p:cNvPr id="3" name="Text 1"/>
          <p:cNvSpPr/>
          <p:nvPr/>
        </p:nvSpPr>
        <p:spPr>
          <a:xfrm>
            <a:off x="502920" y="2103120"/>
            <a:ext cx="960120" cy="96012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1</a:t>
            </a:r>
            <a:endParaRPr lang="en-US" sz="3400" dirty="0"/>
          </a:p>
        </p:txBody>
      </p:sp>
      <p:sp>
        <p:nvSpPr>
          <p:cNvPr id="4" name="Text 2"/>
          <p:cNvSpPr/>
          <p:nvPr/>
        </p:nvSpPr>
        <p:spPr>
          <a:xfrm>
            <a:off x="1828800" y="2066544"/>
            <a:ext cx="9692640" cy="64008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Data correctness first</a:t>
            </a:r>
            <a:endParaRPr lang="en-US" sz="3300" dirty="0"/>
          </a:p>
        </p:txBody>
      </p:sp>
      <p:sp>
        <p:nvSpPr>
          <p:cNvPr id="5" name="Text 3"/>
          <p:cNvSpPr/>
          <p:nvPr/>
        </p:nvSpPr>
        <p:spPr>
          <a:xfrm>
            <a:off x="1828800" y="2743200"/>
            <a:ext cx="9509760" cy="457200"/>
          </a:xfrm>
          <a:prstGeom prst="rect">
            <a:avLst/>
          </a:prstGeom>
          <a:noFill/>
          <a:ln/>
        </p:spPr>
        <p:txBody>
          <a:bodyPr wrap="square" lIns="0" tIns="0" rIns="0" bIns="0" rtlCol="0" anchor="t"/>
          <a:lstStyle/>
          <a:p>
            <a:pPr indent="0" marL="0">
              <a:lnSpc>
                <a:spcPct val="105000"/>
              </a:lnSpc>
              <a:buNone/>
            </a:pPr>
            <a:r>
              <a:rPr lang="en-US" sz="1450" dirty="0">
                <a:solidFill>
                  <a:srgbClr val="CBD6E6"/>
                </a:solidFill>
                <a:latin typeface="Calibri" pitchFamily="34" charset="0"/>
                <a:ea typeface="Calibri" pitchFamily="34" charset="-122"/>
                <a:cs typeface="Calibri" pitchFamily="34" charset="-120"/>
              </a:rPr>
              <a:t>Before any modelling conclusion could be trusted, two data problems had to be fixed.</a:t>
            </a:r>
            <a:endParaRPr lang="en-US" sz="1450" dirty="0"/>
          </a:p>
        </p:txBody>
      </p:sp>
      <p:sp>
        <p:nvSpPr>
          <p:cNvPr id="6" name="Text 4"/>
          <p:cNvSpPr/>
          <p:nvPr/>
        </p:nvSpPr>
        <p:spPr>
          <a:xfrm>
            <a:off x="1828800" y="3429000"/>
            <a:ext cx="9509760" cy="1371600"/>
          </a:xfrm>
          <a:prstGeom prst="rect">
            <a:avLst/>
          </a:prstGeom>
          <a:noFill/>
          <a:ln/>
        </p:spPr>
        <p:txBody>
          <a:bodyPr wrap="square" lIns="0" tIns="0" rIns="0" bIns="0" rtlCol="0" anchor="t"/>
          <a:lstStyle/>
          <a:p>
            <a:pPr marL="342900" indent="-342900">
              <a:lnSpc>
                <a:spcPct val="102000"/>
              </a:lnSpc>
              <a:spcAft>
                <a:spcPts val="700"/>
              </a:spcAft>
              <a:buSzPct val="100000"/>
              <a:buChar char="•"/>
            </a:pPr>
            <a:r>
              <a:rPr lang="en-US" sz="1250" dirty="0">
                <a:solidFill>
                  <a:srgbClr val="9FB2C9"/>
                </a:solidFill>
                <a:latin typeface="Calibri" pitchFamily="34" charset="0"/>
                <a:ea typeface="Calibri" pitchFamily="34" charset="-122"/>
                <a:cs typeface="Calibri" pitchFamily="34" charset="-120"/>
              </a:rPr>
              <a:t>An EDTA suppression bug that corrupted whole spectra, not just the artefact window</a:t>
            </a:r>
            <a:endParaRPr lang="en-US" sz="1250" dirty="0"/>
          </a:p>
          <a:p>
            <a:pPr marL="342900" indent="-342900">
              <a:lnSpc>
                <a:spcPct val="102000"/>
              </a:lnSpc>
              <a:spcAft>
                <a:spcPts val="700"/>
              </a:spcAft>
              <a:buSzPct val="100000"/>
              <a:buChar char="•"/>
            </a:pPr>
            <a:r>
              <a:rPr lang="en-US" sz="1250" dirty="0">
                <a:solidFill>
                  <a:srgbClr val="9FB2C9"/>
                </a:solidFill>
                <a:latin typeface="Calibri" pitchFamily="34" charset="0"/>
                <a:ea typeface="Calibri" pitchFamily="34" charset="-122"/>
                <a:cs typeface="Calibri" pitchFamily="34" charset="-120"/>
              </a:rPr>
              <a:t>A revised BrC-T2D label file requiring a rebuilt dataset and re-extraction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29184"/>
            <a:ext cx="10058400" cy="237744"/>
          </a:xfrm>
          <a:prstGeom prst="rect">
            <a:avLst/>
          </a:prstGeom>
          <a:noFill/>
          <a:ln/>
        </p:spPr>
        <p:txBody>
          <a:bodyPr wrap="square" lIns="0" tIns="0" rIns="0" bIns="0" rtlCol="0" anchor="ctr"/>
          <a:lstStyle/>
          <a:p>
            <a:pPr indent="0" marL="0">
              <a:buNone/>
            </a:pPr>
            <a:r>
              <a:rPr lang="en-US" sz="1150" b="1" spc="120" kern="0" dirty="0">
                <a:solidFill>
                  <a:srgbClr val="1C7293"/>
                </a:solidFill>
                <a:latin typeface="Calibri" pitchFamily="34" charset="0"/>
                <a:ea typeface="Calibri" pitchFamily="34" charset="-122"/>
                <a:cs typeface="Calibri" pitchFamily="34" charset="-120"/>
              </a:rPr>
              <a:t>PART 1 · DATA</a:t>
            </a:r>
            <a:endParaRPr lang="en-US" sz="1150" dirty="0"/>
          </a:p>
        </p:txBody>
      </p:sp>
      <p:sp>
        <p:nvSpPr>
          <p:cNvPr id="3" name="Text 1"/>
          <p:cNvSpPr/>
          <p:nvPr/>
        </p:nvSpPr>
        <p:spPr>
          <a:xfrm>
            <a:off x="502920" y="566928"/>
            <a:ext cx="11155680" cy="502920"/>
          </a:xfrm>
          <a:prstGeom prst="rect">
            <a:avLst/>
          </a:prstGeom>
          <a:noFill/>
          <a:ln/>
        </p:spPr>
        <p:txBody>
          <a:bodyPr wrap="square" lIns="0" tIns="0" rIns="0" bIns="0" rtlCol="0" anchor="ctr"/>
          <a:lstStyle/>
          <a:p>
            <a:pPr indent="0" marL="0">
              <a:buNone/>
            </a:pPr>
            <a:r>
              <a:rPr lang="en-US" sz="2700" b="1" dirty="0">
                <a:solidFill>
                  <a:srgbClr val="065A82"/>
                </a:solidFill>
                <a:latin typeface="Cambria" pitchFamily="34" charset="0"/>
                <a:ea typeface="Cambria" pitchFamily="34" charset="-122"/>
                <a:cs typeface="Cambria" pitchFamily="34" charset="-120"/>
              </a:rPr>
              <a:t>The suppression bug corrupted entire spectra</a:t>
            </a:r>
            <a:endParaRPr lang="en-US" sz="2700" dirty="0"/>
          </a:p>
        </p:txBody>
      </p:sp>
      <p:pic>
        <p:nvPicPr>
          <p:cNvPr id="4" name="Image 0" descr="/home/nmrbox/0012/shasharma/Desktop/NMR_Metabolomics/docs/figures/suppression_train_corpus.png">    </p:cNvPr>
          <p:cNvPicPr>
            <a:picLocks noChangeAspect="1"/>
          </p:cNvPicPr>
          <p:nvPr/>
        </p:nvPicPr>
        <p:blipFill>
          <a:blip r:embed="rId1"/>
          <a:stretch>
            <a:fillRect/>
          </a:stretch>
        </p:blipFill>
        <p:spPr>
          <a:xfrm>
            <a:off x="8686800" y="1280160"/>
            <a:ext cx="2971800" cy="4306957"/>
          </a:xfrm>
          <a:prstGeom prst="rect">
            <a:avLst/>
          </a:prstGeom>
        </p:spPr>
      </p:pic>
      <p:sp>
        <p:nvSpPr>
          <p:cNvPr id="5" name="Text 2"/>
          <p:cNvSpPr/>
          <p:nvPr/>
        </p:nvSpPr>
        <p:spPr>
          <a:xfrm>
            <a:off x="8686800" y="5632837"/>
            <a:ext cx="2971800" cy="310896"/>
          </a:xfrm>
          <a:prstGeom prst="rect">
            <a:avLst/>
          </a:prstGeom>
          <a:noFill/>
          <a:ln/>
        </p:spPr>
        <p:txBody>
          <a:bodyPr wrap="square" lIns="0" tIns="0" rIns="0" bIns="0" rtlCol="0" anchor="t"/>
          <a:lstStyle/>
          <a:p>
            <a:pPr indent="0" marL="0">
              <a:lnSpc>
                <a:spcPct val="95000"/>
              </a:lnSpc>
              <a:buNone/>
            </a:pPr>
            <a:r>
              <a:rPr lang="en-US" sz="950" i="1" dirty="0">
                <a:solidFill>
                  <a:srgbClr val="5C6670"/>
                </a:solidFill>
                <a:latin typeface="Calibri" pitchFamily="34" charset="0"/>
                <a:ea typeface="Calibri" pitchFamily="34" charset="-122"/>
                <a:cs typeface="Calibri" pitchFamily="34" charset="-120"/>
              </a:rPr>
              <a:t>Corpus-wide suppression audit after the fix.</a:t>
            </a:r>
            <a:endParaRPr lang="en-US" sz="950" dirty="0"/>
          </a:p>
        </p:txBody>
      </p:sp>
      <p:sp>
        <p:nvSpPr>
          <p:cNvPr id="6" name="Shape 3"/>
          <p:cNvSpPr/>
          <p:nvPr/>
        </p:nvSpPr>
        <p:spPr>
          <a:xfrm>
            <a:off x="502920" y="1280160"/>
            <a:ext cx="7863840" cy="1463040"/>
          </a:xfrm>
          <a:prstGeom prst="roundRect">
            <a:avLst>
              <a:gd name="adj" fmla="val 3750"/>
            </a:avLst>
          </a:prstGeom>
          <a:solidFill>
            <a:srgbClr val="FBECEC"/>
          </a:solidFill>
          <a:ln w="6350">
            <a:solidFill>
              <a:srgbClr val="FBECEC"/>
            </a:solidFill>
            <a:prstDash val="solid"/>
          </a:ln>
          <a:effectLst>
            <a:outerShdw sx="100000" sy="100000" kx="0" ky="0" algn="bl" rotWithShape="0" blurRad="76200" dist="12700" dir="5400000">
              <a:srgbClr val="8899A6">
                <a:alpha val="18000"/>
              </a:srgbClr>
            </a:outerShdw>
          </a:effectLst>
        </p:spPr>
      </p:sp>
      <p:sp>
        <p:nvSpPr>
          <p:cNvPr id="7" name="Shape 4"/>
          <p:cNvSpPr/>
          <p:nvPr/>
        </p:nvSpPr>
        <p:spPr>
          <a:xfrm>
            <a:off x="685800" y="1435608"/>
            <a:ext cx="365760" cy="365760"/>
          </a:xfrm>
          <a:prstGeom prst="ellipse">
            <a:avLst/>
          </a:prstGeom>
          <a:solidFill>
            <a:srgbClr val="A32020"/>
          </a:solidFill>
          <a:ln w="6350">
            <a:solidFill>
              <a:srgbClr val="A32020"/>
            </a:solidFill>
            <a:prstDash val="solid"/>
          </a:ln>
        </p:spPr>
      </p:sp>
      <p:sp>
        <p:nvSpPr>
          <p:cNvPr id="8" name="Text 5"/>
          <p:cNvSpPr/>
          <p:nvPr/>
        </p:nvSpPr>
        <p:spPr>
          <a:xfrm>
            <a:off x="685800" y="143560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9" name="Text 6"/>
          <p:cNvSpPr/>
          <p:nvPr/>
        </p:nvSpPr>
        <p:spPr>
          <a:xfrm>
            <a:off x="1161288" y="1426464"/>
            <a:ext cx="702259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Why one unsuppressed peak ruins the whole row</a:t>
            </a:r>
            <a:endParaRPr lang="en-US" sz="1300" dirty="0"/>
          </a:p>
        </p:txBody>
      </p:sp>
      <p:sp>
        <p:nvSpPr>
          <p:cNvPr id="10" name="Text 7"/>
          <p:cNvSpPr/>
          <p:nvPr/>
        </p:nvSpPr>
        <p:spPr>
          <a:xfrm>
            <a:off x="704088" y="1847088"/>
            <a:ext cx="7461504" cy="768096"/>
          </a:xfrm>
          <a:prstGeom prst="rect">
            <a:avLst/>
          </a:prstGeom>
          <a:noFill/>
          <a:ln/>
        </p:spPr>
        <p:txBody>
          <a:bodyPr wrap="square" lIns="0" tIns="0" rIns="0" bIns="0" rtlCol="0" anchor="t"/>
          <a:lstStyle/>
          <a:p>
            <a:pPr indent="0" marL="0">
              <a:lnSpc>
                <a:spcPct val="100000"/>
              </a:lnSpc>
              <a:buNone/>
            </a:pPr>
            <a:r>
              <a:rPr lang="en-US" sz="1150" dirty="0">
                <a:solidFill>
                  <a:srgbClr val="1A1A1A"/>
                </a:solidFill>
                <a:latin typeface="Calibri" pitchFamily="34" charset="0"/>
                <a:ea typeface="Calibri" pitchFamily="34" charset="-122"/>
                <a:cs typeface="Calibri" pitchFamily="34" charset="-120"/>
              </a:rPr>
              <a:t>Spectra are row-wise min-max normalised. If an EDTA artefact survives suppression and becomes the row maximum, every real peak in that spectrum is compressed toward zero. The damage is global, not local to the artefact window.</a:t>
            </a:r>
            <a:endParaRPr lang="en-US" sz="1150" dirty="0"/>
          </a:p>
        </p:txBody>
      </p:sp>
      <p:sp>
        <p:nvSpPr>
          <p:cNvPr id="11" name="Shape 8"/>
          <p:cNvSpPr/>
          <p:nvPr/>
        </p:nvSpPr>
        <p:spPr>
          <a:xfrm>
            <a:off x="502920" y="2871216"/>
            <a:ext cx="7863840" cy="1463040"/>
          </a:xfrm>
          <a:prstGeom prst="roundRect">
            <a:avLst>
              <a:gd name="adj" fmla="val 3750"/>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12" name="Shape 9"/>
          <p:cNvSpPr/>
          <p:nvPr/>
        </p:nvSpPr>
        <p:spPr>
          <a:xfrm>
            <a:off x="685800" y="3026664"/>
            <a:ext cx="365760" cy="365760"/>
          </a:xfrm>
          <a:prstGeom prst="ellipse">
            <a:avLst/>
          </a:prstGeom>
          <a:solidFill>
            <a:srgbClr val="1B7F4F"/>
          </a:solidFill>
          <a:ln w="6350">
            <a:solidFill>
              <a:srgbClr val="1B7F4F"/>
            </a:solidFill>
            <a:prstDash val="solid"/>
          </a:ln>
        </p:spPr>
      </p:sp>
      <p:sp>
        <p:nvSpPr>
          <p:cNvPr id="13" name="Text 10"/>
          <p:cNvSpPr/>
          <p:nvPr/>
        </p:nvSpPr>
        <p:spPr>
          <a:xfrm>
            <a:off x="685800" y="302666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4" name="Text 11"/>
          <p:cNvSpPr/>
          <p:nvPr/>
        </p:nvSpPr>
        <p:spPr>
          <a:xfrm>
            <a:off x="1161288" y="3017520"/>
            <a:ext cx="702259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The fix, and how it was verified</a:t>
            </a:r>
            <a:endParaRPr lang="en-US" sz="1300" dirty="0"/>
          </a:p>
        </p:txBody>
      </p:sp>
      <p:sp>
        <p:nvSpPr>
          <p:cNvPr id="15" name="Text 12"/>
          <p:cNvSpPr/>
          <p:nvPr/>
        </p:nvSpPr>
        <p:spPr>
          <a:xfrm>
            <a:off x="704088" y="3438144"/>
            <a:ext cx="7461504" cy="768096"/>
          </a:xfrm>
          <a:prstGeom prst="rect">
            <a:avLst/>
          </a:prstGeom>
          <a:noFill/>
          <a:ln/>
        </p:spPr>
        <p:txBody>
          <a:bodyPr wrap="square" lIns="0" tIns="0" rIns="0" bIns="0" rtlCol="0" anchor="t"/>
          <a:lstStyle/>
          <a:p>
            <a:pPr indent="0" marL="0">
              <a:lnSpc>
                <a:spcPct val="100000"/>
              </a:lnSpc>
              <a:buNone/>
            </a:pPr>
            <a:r>
              <a:rPr lang="en-US" sz="1150" dirty="0">
                <a:solidFill>
                  <a:srgbClr val="1A1A1A"/>
                </a:solidFill>
                <a:latin typeface="Calibri" pitchFamily="34" charset="0"/>
                <a:ea typeface="Calibri" pitchFamily="34" charset="-122"/>
                <a:cs typeface="Calibri" pitchFamily="34" charset="-120"/>
              </a:rPr>
              <a:t>The suppression cutoff is now capped at the baseline-to-peak midpoint, and detection is magnitude-based and metadata-free. Verification uses a flatness test — “was a hard mask applied” — instead of the peak-above-noise test that had been silently passing.</a:t>
            </a:r>
            <a:endParaRPr lang="en-US" sz="1150" dirty="0"/>
          </a:p>
        </p:txBody>
      </p:sp>
      <p:sp>
        <p:nvSpPr>
          <p:cNvPr id="16" name="Shape 13"/>
          <p:cNvSpPr/>
          <p:nvPr/>
        </p:nvSpPr>
        <p:spPr>
          <a:xfrm>
            <a:off x="502920" y="4462272"/>
            <a:ext cx="7863840" cy="1691640"/>
          </a:xfrm>
          <a:prstGeom prst="roundRect">
            <a:avLst>
              <a:gd name="adj" fmla="val 3243"/>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17" name="Shape 14"/>
          <p:cNvSpPr/>
          <p:nvPr/>
        </p:nvSpPr>
        <p:spPr>
          <a:xfrm>
            <a:off x="685800" y="4617720"/>
            <a:ext cx="365760" cy="365760"/>
          </a:xfrm>
          <a:prstGeom prst="ellipse">
            <a:avLst/>
          </a:prstGeom>
          <a:solidFill>
            <a:srgbClr val="1C7293"/>
          </a:solidFill>
          <a:ln w="6350">
            <a:solidFill>
              <a:srgbClr val="1C7293"/>
            </a:solidFill>
            <a:prstDash val="solid"/>
          </a:ln>
        </p:spPr>
      </p:sp>
      <p:sp>
        <p:nvSpPr>
          <p:cNvPr id="18" name="Text 15"/>
          <p:cNvSpPr/>
          <p:nvPr/>
        </p:nvSpPr>
        <p:spPr>
          <a:xfrm>
            <a:off x="685800" y="46177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9" name="Text 16"/>
          <p:cNvSpPr/>
          <p:nvPr/>
        </p:nvSpPr>
        <p:spPr>
          <a:xfrm>
            <a:off x="1161288" y="4608576"/>
            <a:ext cx="702259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Result: dataset version v4</a:t>
            </a:r>
            <a:endParaRPr lang="en-US" sz="1300" dirty="0"/>
          </a:p>
        </p:txBody>
      </p:sp>
      <p:sp>
        <p:nvSpPr>
          <p:cNvPr id="20" name="Text 17"/>
          <p:cNvSpPr/>
          <p:nvPr/>
        </p:nvSpPr>
        <p:spPr>
          <a:xfrm>
            <a:off x="704088" y="5029200"/>
            <a:ext cx="7461504" cy="996696"/>
          </a:xfrm>
          <a:prstGeom prst="rect">
            <a:avLst/>
          </a:prstGeom>
          <a:noFill/>
          <a:ln/>
        </p:spPr>
        <p:txBody>
          <a:bodyPr wrap="square" lIns="0" tIns="0" rIns="0" bIns="0" rtlCol="0" anchor="t"/>
          <a:lstStyle/>
          <a:p>
            <a:pPr indent="0" marL="0">
              <a:lnSpc>
                <a:spcPct val="100000"/>
              </a:lnSpc>
              <a:buNone/>
            </a:pPr>
            <a:r>
              <a:rPr lang="en-US" sz="1150" dirty="0">
                <a:solidFill>
                  <a:srgbClr val="1A1A1A"/>
                </a:solidFill>
                <a:latin typeface="Calibri" pitchFamily="34" charset="0"/>
                <a:ea typeface="Calibri" pitchFamily="34" charset="-122"/>
                <a:cs typeface="Calibri" pitchFamily="34" charset="-120"/>
              </a:rPr>
              <a:t>All five evaluation targets and the 9,670-spectrum corpus were rebuilt. Revised BrC-T2D labels were extracted and byte-verified against the source array: 4 samples genuinely changed label, and my first report of 41 changes was my own display artefact, which I caught by comparing all 78 rows. 7 rows repo-wide still retain a dominant EDTA peak — documented.</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29184"/>
            <a:ext cx="10058400" cy="237744"/>
          </a:xfrm>
          <a:prstGeom prst="rect">
            <a:avLst/>
          </a:prstGeom>
          <a:noFill/>
          <a:ln/>
        </p:spPr>
        <p:txBody>
          <a:bodyPr wrap="square" lIns="0" tIns="0" rIns="0" bIns="0" rtlCol="0" anchor="ctr"/>
          <a:lstStyle/>
          <a:p>
            <a:pPr indent="0" marL="0">
              <a:buNone/>
            </a:pPr>
            <a:r>
              <a:rPr lang="en-US" sz="1150" b="1" spc="120" kern="0" dirty="0">
                <a:solidFill>
                  <a:srgbClr val="1C7293"/>
                </a:solidFill>
                <a:latin typeface="Calibri" pitchFamily="34" charset="0"/>
                <a:ea typeface="Calibri" pitchFamily="34" charset="-122"/>
                <a:cs typeface="Calibri" pitchFamily="34" charset="-120"/>
              </a:rPr>
              <a:t>PART 1 · BENCHMARK</a:t>
            </a:r>
            <a:endParaRPr lang="en-US" sz="1150" dirty="0"/>
          </a:p>
        </p:txBody>
      </p:sp>
      <p:sp>
        <p:nvSpPr>
          <p:cNvPr id="3" name="Text 1"/>
          <p:cNvSpPr/>
          <p:nvPr/>
        </p:nvSpPr>
        <p:spPr>
          <a:xfrm>
            <a:off x="502920" y="566928"/>
            <a:ext cx="11155680" cy="502920"/>
          </a:xfrm>
          <a:prstGeom prst="rect">
            <a:avLst/>
          </a:prstGeom>
          <a:noFill/>
          <a:ln/>
        </p:spPr>
        <p:txBody>
          <a:bodyPr wrap="square" lIns="0" tIns="0" rIns="0" bIns="0" rtlCol="0" anchor="ctr"/>
          <a:lstStyle/>
          <a:p>
            <a:pPr indent="0" marL="0">
              <a:buNone/>
            </a:pPr>
            <a:r>
              <a:rPr lang="en-US" sz="2700" b="1" dirty="0">
                <a:solidFill>
                  <a:srgbClr val="065A82"/>
                </a:solidFill>
                <a:latin typeface="Cambria" pitchFamily="34" charset="0"/>
                <a:ea typeface="Cambria" pitchFamily="34" charset="-122"/>
                <a:cs typeface="Cambria" pitchFamily="34" charset="-120"/>
              </a:rPr>
              <a:t>Re-run on clean data: the bar is unchanged</a:t>
            </a:r>
            <a:endParaRPr lang="en-US" sz="2700" dirty="0"/>
          </a:p>
        </p:txBody>
      </p:sp>
      <p:pic>
        <p:nvPicPr>
          <p:cNvPr id="4" name="Image 0" descr="/home/nmrbox/0012/shasharma/Desktop/NMR_Metabolomics/results/plots/all_datasets_summary_v4/fig1_balanced_accuracy.png">    </p:cNvPr>
          <p:cNvPicPr>
            <a:picLocks noChangeAspect="1"/>
          </p:cNvPicPr>
          <p:nvPr/>
        </p:nvPicPr>
        <p:blipFill>
          <a:blip r:embed="rId1"/>
          <a:stretch>
            <a:fillRect/>
          </a:stretch>
        </p:blipFill>
        <p:spPr>
          <a:xfrm>
            <a:off x="502920" y="1280160"/>
            <a:ext cx="6492240" cy="4083170"/>
          </a:xfrm>
          <a:prstGeom prst="rect">
            <a:avLst/>
          </a:prstGeom>
        </p:spPr>
      </p:pic>
      <p:sp>
        <p:nvSpPr>
          <p:cNvPr id="5" name="Text 2"/>
          <p:cNvSpPr/>
          <p:nvPr/>
        </p:nvSpPr>
        <p:spPr>
          <a:xfrm>
            <a:off x="502920" y="5409050"/>
            <a:ext cx="6492240" cy="310896"/>
          </a:xfrm>
          <a:prstGeom prst="rect">
            <a:avLst/>
          </a:prstGeom>
          <a:noFill/>
          <a:ln/>
        </p:spPr>
        <p:txBody>
          <a:bodyPr wrap="square" lIns="0" tIns="0" rIns="0" bIns="0" rtlCol="0" anchor="t"/>
          <a:lstStyle/>
          <a:p>
            <a:pPr indent="0" marL="0">
              <a:lnSpc>
                <a:spcPct val="95000"/>
              </a:lnSpc>
              <a:buNone/>
            </a:pPr>
            <a:r>
              <a:rPr lang="en-US" sz="950" i="1" dirty="0">
                <a:solidFill>
                  <a:srgbClr val="5C6670"/>
                </a:solidFill>
                <a:latin typeface="Calibri" pitchFamily="34" charset="0"/>
                <a:ea typeface="Calibri" pitchFamily="34" charset="-122"/>
                <a:cs typeface="Calibri" pitchFamily="34" charset="-120"/>
              </a:rPr>
              <a:t>Balanced accuracy, best fine-tune mode per family, v4 data with revised labels.</a:t>
            </a:r>
            <a:endParaRPr lang="en-US" sz="950" dirty="0"/>
          </a:p>
        </p:txBody>
      </p:sp>
      <p:sp>
        <p:nvSpPr>
          <p:cNvPr id="6" name="Shape 3"/>
          <p:cNvSpPr/>
          <p:nvPr/>
        </p:nvSpPr>
        <p:spPr>
          <a:xfrm>
            <a:off x="7360920" y="1280160"/>
            <a:ext cx="4297680" cy="2788920"/>
          </a:xfrm>
          <a:prstGeom prst="roundRect">
            <a:avLst>
              <a:gd name="adj" fmla="val 1967"/>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7" name="Text 4"/>
          <p:cNvSpPr/>
          <p:nvPr/>
        </p:nvSpPr>
        <p:spPr>
          <a:xfrm>
            <a:off x="7562088" y="1417320"/>
            <a:ext cx="3895344" cy="502920"/>
          </a:xfrm>
          <a:prstGeom prst="rect">
            <a:avLst/>
          </a:prstGeom>
          <a:noFill/>
          <a:ln/>
        </p:spPr>
        <p:txBody>
          <a:bodyPr wrap="square" lIns="0" tIns="0" rIns="0" bIns="0" rtlCol="0" anchor="ctr"/>
          <a:lstStyle/>
          <a:p>
            <a:pPr indent="0" marL="0">
              <a:lnSpc>
                <a:spcPct val="95000"/>
              </a:lnSpc>
              <a:buNone/>
            </a:pPr>
            <a:r>
              <a:rPr lang="en-US" sz="1350" b="1" dirty="0">
                <a:solidFill>
                  <a:srgbClr val="1A1A1A"/>
                </a:solidFill>
                <a:latin typeface="Calibri" pitchFamily="34" charset="0"/>
                <a:ea typeface="Calibri" pitchFamily="34" charset="-122"/>
                <a:cs typeface="Calibri" pitchFamily="34" charset="-120"/>
              </a:rPr>
              <a:t>Classical logistic regression leads on all five targets</a:t>
            </a:r>
            <a:endParaRPr lang="en-US" sz="13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562088" y="1975104"/>
          <a:ext cx="3895344" cy="914400"/>
        </p:xfrm>
        <a:graphic>
          <a:graphicData uri="http://schemas.openxmlformats.org/drawingml/2006/table">
            <a:tbl>
              <a:tblPr/>
              <a:tblGrid>
                <a:gridCol w="1700784"/>
                <a:gridCol w="1097280"/>
                <a:gridCol w="1097280"/>
              </a:tblGrid>
              <a:tr h="219456">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Target</a:t>
                      </a:r>
                      <a:endParaRPr lang="en-US" sz="10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065A8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Classical</a:t>
                      </a:r>
                      <a:endParaRPr lang="en-US" sz="10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065A82"/>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Best SSL</a:t>
                      </a:r>
                      <a:endParaRPr lang="en-US" sz="10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065A82"/>
                    </a:solidFill>
                  </a:tcPr>
                </a:tc>
              </a:tr>
              <a:tr h="219456">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Barth</a:t>
                      </a:r>
                      <a:endParaRPr lang="en-US" sz="10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0.705</a:t>
                      </a:r>
                      <a:endParaRPr lang="en-US" sz="10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0.691</a:t>
                      </a:r>
                      <a:endParaRPr lang="en-US" sz="10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r>
              <a:tr h="219456">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MTBLS326</a:t>
                      </a:r>
                      <a:endParaRPr lang="en-US" sz="10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0.981</a:t>
                      </a:r>
                      <a:endParaRPr lang="en-US" sz="10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r>
              <a:tr h="219456">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MTBLS563</a:t>
                      </a:r>
                      <a:endParaRPr lang="en-US" sz="10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0.721</a:t>
                      </a:r>
                      <a:endParaRPr lang="en-US" sz="10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0.558</a:t>
                      </a:r>
                      <a:endParaRPr lang="en-US" sz="10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r>
              <a:tr h="219456">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BrC-T2D cancer</a:t>
                      </a:r>
                      <a:endParaRPr lang="en-US" sz="10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0.937</a:t>
                      </a:r>
                      <a:endParaRPr lang="en-US" sz="10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0.796</a:t>
                      </a:r>
                      <a:endParaRPr lang="en-US" sz="10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r>
              <a:tr h="219456">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BrC-T2D diabetes</a:t>
                      </a:r>
                      <a:endParaRPr lang="en-US" sz="10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0.829</a:t>
                      </a:r>
                      <a:endParaRPr lang="en-US" sz="10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0.653</a:t>
                      </a:r>
                      <a:endParaRPr lang="en-US" sz="10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r>
            </a:tbl>
          </a:graphicData>
        </a:graphic>
      </p:graphicFrame>
      <p:sp>
        <p:nvSpPr>
          <p:cNvPr id="9" name="Shape 5"/>
          <p:cNvSpPr/>
          <p:nvPr/>
        </p:nvSpPr>
        <p:spPr>
          <a:xfrm>
            <a:off x="7360920" y="4224528"/>
            <a:ext cx="4297680" cy="1097280"/>
          </a:xfrm>
          <a:prstGeom prst="roundRect">
            <a:avLst>
              <a:gd name="adj" fmla="val 5000"/>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10" name="Shape 6"/>
          <p:cNvSpPr/>
          <p:nvPr/>
        </p:nvSpPr>
        <p:spPr>
          <a:xfrm>
            <a:off x="7543800" y="4379976"/>
            <a:ext cx="365760" cy="365760"/>
          </a:xfrm>
          <a:prstGeom prst="ellipse">
            <a:avLst/>
          </a:prstGeom>
          <a:solidFill>
            <a:srgbClr val="1C7293"/>
          </a:solidFill>
          <a:ln w="6350">
            <a:solidFill>
              <a:srgbClr val="1C7293"/>
            </a:solidFill>
            <a:prstDash val="solid"/>
          </a:ln>
        </p:spPr>
      </p:sp>
      <p:sp>
        <p:nvSpPr>
          <p:cNvPr id="11" name="Text 7"/>
          <p:cNvSpPr/>
          <p:nvPr/>
        </p:nvSpPr>
        <p:spPr>
          <a:xfrm>
            <a:off x="7543800" y="43799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2" name="Text 8"/>
          <p:cNvSpPr/>
          <p:nvPr/>
        </p:nvSpPr>
        <p:spPr>
          <a:xfrm>
            <a:off x="8019288" y="4370832"/>
            <a:ext cx="345643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Both tracks are linear</a:t>
            </a:r>
            <a:endParaRPr lang="en-US" sz="1300" dirty="0"/>
          </a:p>
        </p:txBody>
      </p:sp>
      <p:sp>
        <p:nvSpPr>
          <p:cNvPr id="13" name="Text 9"/>
          <p:cNvSpPr/>
          <p:nvPr/>
        </p:nvSpPr>
        <p:spPr>
          <a:xfrm>
            <a:off x="7562088" y="4791456"/>
            <a:ext cx="3895344" cy="402336"/>
          </a:xfrm>
          <a:prstGeom prst="rect">
            <a:avLst/>
          </a:prstGeom>
          <a:noFill/>
          <a:ln/>
        </p:spPr>
        <p:txBody>
          <a:bodyPr wrap="square" lIns="0" tIns="0" rIns="0" bIns="0" rtlCol="0" anchor="t"/>
          <a:lstStyle/>
          <a:p>
            <a:pPr indent="0" marL="0">
              <a:lnSpc>
                <a:spcPct val="100000"/>
              </a:lnSpc>
              <a:buNone/>
            </a:pPr>
            <a:r>
              <a:rPr lang="en-US" sz="1100" dirty="0">
                <a:solidFill>
                  <a:srgbClr val="1A1A1A"/>
                </a:solidFill>
                <a:latin typeface="Calibri" pitchFamily="34" charset="0"/>
                <a:ea typeface="Calibri" pitchFamily="34" charset="-122"/>
                <a:cs typeface="Calibri" pitchFamily="34" charset="-120"/>
              </a:rPr>
              <a:t>The SSL head is also one linear layer on a pooled embedding, so this isolates the representation.</a:t>
            </a:r>
            <a:endParaRPr lang="en-US" sz="1100" dirty="0"/>
          </a:p>
        </p:txBody>
      </p:sp>
      <p:sp>
        <p:nvSpPr>
          <p:cNvPr id="14" name="Shape 10"/>
          <p:cNvSpPr/>
          <p:nvPr/>
        </p:nvSpPr>
        <p:spPr>
          <a:xfrm>
            <a:off x="7360920" y="5449824"/>
            <a:ext cx="4297680" cy="932688"/>
          </a:xfrm>
          <a:prstGeom prst="roundRect">
            <a:avLst>
              <a:gd name="adj" fmla="val 5882"/>
            </a:avLst>
          </a:prstGeom>
          <a:solidFill>
            <a:srgbClr val="E8F4EC"/>
          </a:solidFill>
          <a:ln w="6350">
            <a:solidFill>
              <a:srgbClr val="E8F4EC"/>
            </a:solidFill>
            <a:prstDash val="solid"/>
          </a:ln>
          <a:effectLst>
            <a:outerShdw sx="100000" sy="100000" kx="0" ky="0" algn="bl" rotWithShape="0" blurRad="76200" dist="12700" dir="5400000">
              <a:srgbClr val="8899A6">
                <a:alpha val="18000"/>
              </a:srgbClr>
            </a:outerShdw>
          </a:effectLst>
        </p:spPr>
      </p:sp>
      <p:sp>
        <p:nvSpPr>
          <p:cNvPr id="15" name="Shape 11"/>
          <p:cNvSpPr/>
          <p:nvPr/>
        </p:nvSpPr>
        <p:spPr>
          <a:xfrm>
            <a:off x="7543800" y="5605272"/>
            <a:ext cx="365760" cy="365760"/>
          </a:xfrm>
          <a:prstGeom prst="ellipse">
            <a:avLst/>
          </a:prstGeom>
          <a:solidFill>
            <a:srgbClr val="1B7F4F"/>
          </a:solidFill>
          <a:ln w="6350">
            <a:solidFill>
              <a:srgbClr val="1B7F4F"/>
            </a:solidFill>
            <a:prstDash val="solid"/>
          </a:ln>
        </p:spPr>
      </p:sp>
      <p:sp>
        <p:nvSpPr>
          <p:cNvPr id="16" name="Text 12"/>
          <p:cNvSpPr/>
          <p:nvPr/>
        </p:nvSpPr>
        <p:spPr>
          <a:xfrm>
            <a:off x="7543800" y="56052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7" name="Text 13"/>
          <p:cNvSpPr/>
          <p:nvPr/>
        </p:nvSpPr>
        <p:spPr>
          <a:xfrm>
            <a:off x="8019288" y="5596128"/>
            <a:ext cx="345643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Ordering: masked &gt; jigsaw ≈ joint</a:t>
            </a:r>
            <a:endParaRPr lang="en-US" sz="1300" dirty="0"/>
          </a:p>
        </p:txBody>
      </p:sp>
      <p:sp>
        <p:nvSpPr>
          <p:cNvPr id="18" name="Text 14"/>
          <p:cNvSpPr/>
          <p:nvPr/>
        </p:nvSpPr>
        <p:spPr>
          <a:xfrm>
            <a:off x="7562088" y="6016752"/>
            <a:ext cx="3895344" cy="237744"/>
          </a:xfrm>
          <a:prstGeom prst="rect">
            <a:avLst/>
          </a:prstGeom>
          <a:noFill/>
          <a:ln/>
        </p:spPr>
        <p:txBody>
          <a:bodyPr wrap="square" lIns="0" tIns="0" rIns="0" bIns="0" rtlCol="0" anchor="t"/>
          <a:lstStyle/>
          <a:p>
            <a:pPr indent="0" marL="0">
              <a:lnSpc>
                <a:spcPct val="100000"/>
              </a:lnSpc>
              <a:buNone/>
            </a:pPr>
            <a:r>
              <a:rPr lang="en-US" sz="1100" dirty="0">
                <a:solidFill>
                  <a:srgbClr val="1A1A1A"/>
                </a:solidFill>
                <a:latin typeface="Calibri" pitchFamily="34" charset="0"/>
                <a:ea typeface="Calibri" pitchFamily="34" charset="-122"/>
                <a:cs typeface="Calibri" pitchFamily="34" charset="-120"/>
              </a:rPr>
              <a:t>Held through every later experiment.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29184"/>
            <a:ext cx="10058400" cy="237744"/>
          </a:xfrm>
          <a:prstGeom prst="rect">
            <a:avLst/>
          </a:prstGeom>
          <a:noFill/>
          <a:ln/>
        </p:spPr>
        <p:txBody>
          <a:bodyPr wrap="square" lIns="0" tIns="0" rIns="0" bIns="0" rtlCol="0" anchor="ctr"/>
          <a:lstStyle/>
          <a:p>
            <a:pPr indent="0" marL="0">
              <a:buNone/>
            </a:pPr>
            <a:r>
              <a:rPr lang="en-US" sz="1150" b="1" spc="120" kern="0" dirty="0">
                <a:solidFill>
                  <a:srgbClr val="1C7293"/>
                </a:solidFill>
                <a:latin typeface="Calibri" pitchFamily="34" charset="0"/>
                <a:ea typeface="Calibri" pitchFamily="34" charset="-122"/>
                <a:cs typeface="Calibri" pitchFamily="34" charset="-120"/>
              </a:rPr>
              <a:t>PART 1 · BENCHMARK</a:t>
            </a:r>
            <a:endParaRPr lang="en-US" sz="1150" dirty="0"/>
          </a:p>
        </p:txBody>
      </p:sp>
      <p:sp>
        <p:nvSpPr>
          <p:cNvPr id="3" name="Text 1"/>
          <p:cNvSpPr/>
          <p:nvPr/>
        </p:nvSpPr>
        <p:spPr>
          <a:xfrm>
            <a:off x="502920" y="566928"/>
            <a:ext cx="11155680" cy="502920"/>
          </a:xfrm>
          <a:prstGeom prst="rect">
            <a:avLst/>
          </a:prstGeom>
          <a:noFill/>
          <a:ln/>
        </p:spPr>
        <p:txBody>
          <a:bodyPr wrap="square" lIns="0" tIns="0" rIns="0" bIns="0" rtlCol="0" anchor="ctr"/>
          <a:lstStyle/>
          <a:p>
            <a:pPr indent="0" marL="0">
              <a:buNone/>
            </a:pPr>
            <a:r>
              <a:rPr lang="en-US" sz="2700" b="1" dirty="0">
                <a:solidFill>
                  <a:srgbClr val="065A82"/>
                </a:solidFill>
                <a:latin typeface="Cambria" pitchFamily="34" charset="0"/>
                <a:ea typeface="Cambria" pitchFamily="34" charset="-122"/>
                <a:cs typeface="Cambria" pitchFamily="34" charset="-120"/>
              </a:rPr>
              <a:t>Every model × every fine-tuning mode</a:t>
            </a:r>
            <a:endParaRPr lang="en-US" sz="2700" dirty="0"/>
          </a:p>
        </p:txBody>
      </p:sp>
      <p:pic>
        <p:nvPicPr>
          <p:cNvPr id="4" name="Image 0" descr="/home/nmrbox/0012/shasharma/Desktop/NMR_Metabolomics/results/plots/all_datasets_summary_v4/fig4_heatmap_all_models.png">    </p:cNvPr>
          <p:cNvPicPr>
            <a:picLocks noChangeAspect="1"/>
          </p:cNvPicPr>
          <p:nvPr/>
        </p:nvPicPr>
        <p:blipFill>
          <a:blip r:embed="rId1"/>
          <a:stretch>
            <a:fillRect/>
          </a:stretch>
        </p:blipFill>
        <p:spPr>
          <a:xfrm>
            <a:off x="1828800" y="1207008"/>
            <a:ext cx="8503920" cy="4523362"/>
          </a:xfrm>
          <a:prstGeom prst="rect">
            <a:avLst/>
          </a:prstGeom>
        </p:spPr>
      </p:pic>
      <p:sp>
        <p:nvSpPr>
          <p:cNvPr id="5" name="Text 2"/>
          <p:cNvSpPr/>
          <p:nvPr/>
        </p:nvSpPr>
        <p:spPr>
          <a:xfrm>
            <a:off x="1828800" y="5776090"/>
            <a:ext cx="8503920" cy="457200"/>
          </a:xfrm>
          <a:prstGeom prst="rect">
            <a:avLst/>
          </a:prstGeom>
          <a:noFill/>
          <a:ln/>
        </p:spPr>
        <p:txBody>
          <a:bodyPr wrap="square" lIns="0" tIns="0" rIns="0" bIns="0" rtlCol="0" anchor="t"/>
          <a:lstStyle/>
          <a:p>
            <a:pPr indent="0" marL="0">
              <a:lnSpc>
                <a:spcPct val="95000"/>
              </a:lnSpc>
              <a:buNone/>
            </a:pPr>
            <a:r>
              <a:rPr lang="en-US" sz="950" i="1" dirty="0">
                <a:solidFill>
                  <a:srgbClr val="5C6670"/>
                </a:solidFill>
                <a:latin typeface="Calibri" pitchFamily="34" charset="0"/>
                <a:ea typeface="Calibri" pitchFamily="34" charset="-122"/>
                <a:cs typeface="Calibri" pitchFamily="34" charset="-120"/>
              </a:rPr>
              <a:t>Frozen backbone versus unfreezing up to three layers, all families, all five targets. Degenerate cells — a model collapsing to a single predicted class — are now flagged live from the confusion matrix rather than from a stale hardcoded list.</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204A"/>
        </a:solidFill>
      </p:bgPr>
    </p:bg>
    <p:spTree>
      <p:nvGrpSpPr>
        <p:cNvPr id="1" name=""/>
        <p:cNvGrpSpPr/>
        <p:nvPr/>
      </p:nvGrpSpPr>
      <p:grpSpPr>
        <a:xfrm>
          <a:off x="0" y="0"/>
          <a:ext cx="0" cy="0"/>
          <a:chOff x="0" y="0"/>
          <a:chExt cx="0" cy="0"/>
        </a:xfrm>
      </p:grpSpPr>
      <p:sp>
        <p:nvSpPr>
          <p:cNvPr id="2" name="Shape 0"/>
          <p:cNvSpPr/>
          <p:nvPr/>
        </p:nvSpPr>
        <p:spPr>
          <a:xfrm>
            <a:off x="502920" y="2103120"/>
            <a:ext cx="960120" cy="960120"/>
          </a:xfrm>
          <a:prstGeom prst="ellipse">
            <a:avLst/>
          </a:prstGeom>
          <a:solidFill>
            <a:srgbClr val="1C7293"/>
          </a:solidFill>
          <a:ln w="6350">
            <a:solidFill>
              <a:srgbClr val="1C7293"/>
            </a:solidFill>
            <a:prstDash val="solid"/>
          </a:ln>
        </p:spPr>
      </p:sp>
      <p:sp>
        <p:nvSpPr>
          <p:cNvPr id="3" name="Text 1"/>
          <p:cNvSpPr/>
          <p:nvPr/>
        </p:nvSpPr>
        <p:spPr>
          <a:xfrm>
            <a:off x="502920" y="2103120"/>
            <a:ext cx="960120" cy="96012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2</a:t>
            </a:r>
            <a:endParaRPr lang="en-US" sz="3400" dirty="0"/>
          </a:p>
        </p:txBody>
      </p:sp>
      <p:sp>
        <p:nvSpPr>
          <p:cNvPr id="4" name="Text 2"/>
          <p:cNvSpPr/>
          <p:nvPr/>
        </p:nvSpPr>
        <p:spPr>
          <a:xfrm>
            <a:off x="1828800" y="2066544"/>
            <a:ext cx="9692640" cy="64008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Why does classical ML win?</a:t>
            </a:r>
            <a:endParaRPr lang="en-US" sz="3300" dirty="0"/>
          </a:p>
        </p:txBody>
      </p:sp>
      <p:sp>
        <p:nvSpPr>
          <p:cNvPr id="5" name="Text 3"/>
          <p:cNvSpPr/>
          <p:nvPr/>
        </p:nvSpPr>
        <p:spPr>
          <a:xfrm>
            <a:off x="1828800" y="2743200"/>
            <a:ext cx="9509760" cy="457200"/>
          </a:xfrm>
          <a:prstGeom prst="rect">
            <a:avLst/>
          </a:prstGeom>
          <a:noFill/>
          <a:ln/>
        </p:spPr>
        <p:txBody>
          <a:bodyPr wrap="square" lIns="0" tIns="0" rIns="0" bIns="0" rtlCol="0" anchor="t"/>
          <a:lstStyle/>
          <a:p>
            <a:pPr indent="0" marL="0">
              <a:lnSpc>
                <a:spcPct val="105000"/>
              </a:lnSpc>
              <a:buNone/>
            </a:pPr>
            <a:r>
              <a:rPr lang="en-US" sz="1450" dirty="0">
                <a:solidFill>
                  <a:srgbClr val="CBD6E6"/>
                </a:solidFill>
                <a:latin typeface="Calibri" pitchFamily="34" charset="0"/>
                <a:ea typeface="Calibri" pitchFamily="34" charset="-122"/>
                <a:cs typeface="Calibri" pitchFamily="34" charset="-120"/>
              </a:rPr>
              <a:t>If both classifiers are linear, the gap comes from either the head or the representation. So I measured which.</a:t>
            </a:r>
            <a:endParaRPr lang="en-US" sz="1450" dirty="0"/>
          </a:p>
        </p:txBody>
      </p:sp>
      <p:sp>
        <p:nvSpPr>
          <p:cNvPr id="6" name="Text 4"/>
          <p:cNvSpPr/>
          <p:nvPr/>
        </p:nvSpPr>
        <p:spPr>
          <a:xfrm>
            <a:off x="1828800" y="3429000"/>
            <a:ext cx="9509760" cy="1371600"/>
          </a:xfrm>
          <a:prstGeom prst="rect">
            <a:avLst/>
          </a:prstGeom>
          <a:noFill/>
          <a:ln/>
        </p:spPr>
        <p:txBody>
          <a:bodyPr wrap="square" lIns="0" tIns="0" rIns="0" bIns="0" rtlCol="0" anchor="t"/>
          <a:lstStyle/>
          <a:p>
            <a:pPr marL="342900" indent="-342900">
              <a:lnSpc>
                <a:spcPct val="102000"/>
              </a:lnSpc>
              <a:spcAft>
                <a:spcPts val="700"/>
              </a:spcAft>
              <a:buSzPct val="100000"/>
              <a:buChar char="•"/>
            </a:pPr>
            <a:r>
              <a:rPr lang="en-US" sz="1250" dirty="0">
                <a:solidFill>
                  <a:srgbClr val="9FB2C9"/>
                </a:solidFill>
                <a:latin typeface="Calibri" pitchFamily="34" charset="0"/>
                <a:ea typeface="Calibri" pitchFamily="34" charset="-122"/>
                <a:cs typeface="Calibri" pitchFamily="34" charset="-120"/>
              </a:rPr>
              <a:t>Experiment #1 — decompose the gap: head-fitting deficit versus representation ceiling</a:t>
            </a:r>
            <a:endParaRPr lang="en-US" sz="1250" dirty="0"/>
          </a:p>
          <a:p>
            <a:pPr marL="342900" indent="-342900">
              <a:lnSpc>
                <a:spcPct val="102000"/>
              </a:lnSpc>
              <a:spcAft>
                <a:spcPts val="700"/>
              </a:spcAft>
              <a:buSzPct val="100000"/>
              <a:buChar char="•"/>
            </a:pPr>
            <a:r>
              <a:rPr lang="en-US" sz="1250" dirty="0">
                <a:solidFill>
                  <a:srgbClr val="9FB2C9"/>
                </a:solidFill>
                <a:latin typeface="Calibri" pitchFamily="34" charset="0"/>
                <a:ea typeface="Calibri" pitchFamily="34" charset="-122"/>
                <a:cs typeface="Calibri" pitchFamily="34" charset="-120"/>
              </a:rPr>
              <a:t>Experiments #2, #3, #4 — fix the head, test whether pretraining does anything, test the resolution hypothesis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329184"/>
            <a:ext cx="10058400" cy="237744"/>
          </a:xfrm>
          <a:prstGeom prst="rect">
            <a:avLst/>
          </a:prstGeom>
          <a:noFill/>
          <a:ln/>
        </p:spPr>
        <p:txBody>
          <a:bodyPr wrap="square" lIns="0" tIns="0" rIns="0" bIns="0" rtlCol="0" anchor="ctr"/>
          <a:lstStyle/>
          <a:p>
            <a:pPr indent="0" marL="0">
              <a:buNone/>
            </a:pPr>
            <a:r>
              <a:rPr lang="en-US" sz="1150" b="1" spc="120" kern="0" dirty="0">
                <a:solidFill>
                  <a:srgbClr val="1C7293"/>
                </a:solidFill>
                <a:latin typeface="Calibri" pitchFamily="34" charset="0"/>
                <a:ea typeface="Calibri" pitchFamily="34" charset="-122"/>
                <a:cs typeface="Calibri" pitchFamily="34" charset="-120"/>
              </a:rPr>
              <a:t>PART 2 · EXPERIMENT #1</a:t>
            </a:r>
            <a:endParaRPr lang="en-US" sz="1150" dirty="0"/>
          </a:p>
        </p:txBody>
      </p:sp>
      <p:sp>
        <p:nvSpPr>
          <p:cNvPr id="3" name="Text 1"/>
          <p:cNvSpPr/>
          <p:nvPr/>
        </p:nvSpPr>
        <p:spPr>
          <a:xfrm>
            <a:off x="502920" y="566928"/>
            <a:ext cx="11155680" cy="502920"/>
          </a:xfrm>
          <a:prstGeom prst="rect">
            <a:avLst/>
          </a:prstGeom>
          <a:noFill/>
          <a:ln/>
        </p:spPr>
        <p:txBody>
          <a:bodyPr wrap="square" lIns="0" tIns="0" rIns="0" bIns="0" rtlCol="0" anchor="ctr"/>
          <a:lstStyle/>
          <a:p>
            <a:pPr indent="0" marL="0">
              <a:buNone/>
            </a:pPr>
            <a:r>
              <a:rPr lang="en-US" sz="2700" b="1" dirty="0">
                <a:solidFill>
                  <a:srgbClr val="065A82"/>
                </a:solidFill>
                <a:latin typeface="Cambria" pitchFamily="34" charset="0"/>
                <a:ea typeface="Cambria" pitchFamily="34" charset="-122"/>
                <a:cs typeface="Cambria" pitchFamily="34" charset="-120"/>
              </a:rPr>
              <a:t>Decomposing the gap: head versus representation</a:t>
            </a:r>
            <a:endParaRPr lang="en-US" sz="2700" dirty="0"/>
          </a:p>
        </p:txBody>
      </p:sp>
      <p:pic>
        <p:nvPicPr>
          <p:cNvPr id="4" name="Image 0" descr="/home/nmrbox/0012/shasharma/Desktop/NMR_Metabolomics/results/plots/all_datasets_summary_v4/fig6_logreg_advantage_probe.png">    </p:cNvPr>
          <p:cNvPicPr>
            <a:picLocks noChangeAspect="1"/>
          </p:cNvPicPr>
          <p:nvPr/>
        </p:nvPicPr>
        <p:blipFill>
          <a:blip r:embed="rId1"/>
          <a:stretch>
            <a:fillRect/>
          </a:stretch>
        </p:blipFill>
        <p:spPr>
          <a:xfrm>
            <a:off x="8366760" y="1261872"/>
            <a:ext cx="3291840" cy="4389120"/>
          </a:xfrm>
          <a:prstGeom prst="rect">
            <a:avLst/>
          </a:prstGeom>
        </p:spPr>
      </p:pic>
      <p:sp>
        <p:nvSpPr>
          <p:cNvPr id="5" name="Text 2"/>
          <p:cNvSpPr/>
          <p:nvPr/>
        </p:nvSpPr>
        <p:spPr>
          <a:xfrm>
            <a:off x="8366760" y="5696712"/>
            <a:ext cx="3291840" cy="310896"/>
          </a:xfrm>
          <a:prstGeom prst="rect">
            <a:avLst/>
          </a:prstGeom>
          <a:noFill/>
          <a:ln/>
        </p:spPr>
        <p:txBody>
          <a:bodyPr wrap="square" lIns="0" tIns="0" rIns="0" bIns="0" rtlCol="0" anchor="t"/>
          <a:lstStyle/>
          <a:p>
            <a:pPr indent="0" marL="0">
              <a:lnSpc>
                <a:spcPct val="95000"/>
              </a:lnSpc>
              <a:buNone/>
            </a:pPr>
            <a:r>
              <a:rPr lang="en-US" sz="950" i="1" dirty="0">
                <a:solidFill>
                  <a:srgbClr val="5C6670"/>
                </a:solidFill>
                <a:latin typeface="Calibri" pitchFamily="34" charset="0"/>
                <a:ea typeface="Calibri" pitchFamily="34" charset="-122"/>
                <a:cs typeface="Calibri" pitchFamily="34" charset="-120"/>
              </a:rPr>
              <a:t>Bin-resolution sweep and permutation nulls.</a:t>
            </a:r>
            <a:endParaRPr lang="en-US" sz="950" dirty="0"/>
          </a:p>
        </p:txBody>
      </p:sp>
      <p:sp>
        <p:nvSpPr>
          <p:cNvPr id="6" name="Shape 3"/>
          <p:cNvSpPr/>
          <p:nvPr/>
        </p:nvSpPr>
        <p:spPr>
          <a:xfrm>
            <a:off x="502920" y="1261872"/>
            <a:ext cx="7589520" cy="1371600"/>
          </a:xfrm>
          <a:prstGeom prst="roundRect">
            <a:avLst>
              <a:gd name="adj" fmla="val 4000"/>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7" name="Shape 4"/>
          <p:cNvSpPr/>
          <p:nvPr/>
        </p:nvSpPr>
        <p:spPr>
          <a:xfrm>
            <a:off x="685800" y="1417320"/>
            <a:ext cx="365760" cy="365760"/>
          </a:xfrm>
          <a:prstGeom prst="ellipse">
            <a:avLst/>
          </a:prstGeom>
          <a:solidFill>
            <a:srgbClr val="065A82"/>
          </a:solidFill>
          <a:ln w="6350">
            <a:solidFill>
              <a:srgbClr val="065A82"/>
            </a:solidFill>
            <a:prstDash val="solid"/>
          </a:ln>
        </p:spPr>
      </p:sp>
      <p:sp>
        <p:nvSpPr>
          <p:cNvPr id="8" name="Text 5"/>
          <p:cNvSpPr/>
          <p:nvPr/>
        </p:nvSpPr>
        <p:spPr>
          <a:xfrm>
            <a:off x="685800" y="14173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9" name="Text 6"/>
          <p:cNvSpPr/>
          <p:nvPr/>
        </p:nvSpPr>
        <p:spPr>
          <a:xfrm>
            <a:off x="1161288" y="1408176"/>
            <a:ext cx="674827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The method</a:t>
            </a:r>
            <a:endParaRPr lang="en-US" sz="1300" dirty="0"/>
          </a:p>
        </p:txBody>
      </p:sp>
      <p:sp>
        <p:nvSpPr>
          <p:cNvPr id="10" name="Text 7"/>
          <p:cNvSpPr/>
          <p:nvPr/>
        </p:nvSpPr>
        <p:spPr>
          <a:xfrm>
            <a:off x="704088" y="1828800"/>
            <a:ext cx="7187184" cy="676656"/>
          </a:xfrm>
          <a:prstGeom prst="rect">
            <a:avLst/>
          </a:prstGeom>
          <a:noFill/>
          <a:ln/>
        </p:spPr>
        <p:txBody>
          <a:bodyPr wrap="square" lIns="0" tIns="0" rIns="0" bIns="0" rtlCol="0" anchor="t"/>
          <a:lstStyle/>
          <a:p>
            <a:pPr indent="0" marL="0">
              <a:lnSpc>
                <a:spcPct val="100000"/>
              </a:lnSpc>
              <a:buNone/>
            </a:pPr>
            <a:r>
              <a:rPr lang="en-US" sz="1150" dirty="0">
                <a:solidFill>
                  <a:srgbClr val="1A1A1A"/>
                </a:solidFill>
                <a:latin typeface="Calibri" pitchFamily="34" charset="0"/>
                <a:ea typeface="Calibri" pitchFamily="34" charset="-122"/>
                <a:cs typeface="Calibri" pitchFamily="34" charset="-120"/>
              </a:rPr>
              <a:t>Fit the same converged logistic regression on (a) binned absolute areas at many bin counts, (b) the raw spectrum, and (c) the frozen SSL embedding — under each dataset's real CV protocol, with a 200-draw label-permutation null.</a:t>
            </a:r>
            <a:endParaRPr lang="en-US" sz="11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2761488"/>
          <a:ext cx="7589520" cy="914400"/>
        </p:xfrm>
        <a:graphic>
          <a:graphicData uri="http://schemas.openxmlformats.org/drawingml/2006/table">
            <a:tbl>
              <a:tblPr/>
              <a:tblGrid>
                <a:gridCol w="2286000"/>
                <a:gridCol w="3383280"/>
                <a:gridCol w="1920240"/>
              </a:tblGrid>
              <a:tr h="29260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Target</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Where the gap lives</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Read</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065A82"/>
                    </a:solidFill>
                  </a:tcPr>
                </a:tc>
              </a:tr>
              <a:tr h="292608">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BrC-T2D diabetes</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89% head-fitting</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fixable</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BrC-T2D cancer</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~70–75% representation</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hard</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r>
              <a:tr h="292608">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MTBLS563</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~70–75% representation</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hard</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Barth</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embedding 0.770 beats binned 0.705</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already ahead</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r>
            </a:tbl>
          </a:graphicData>
        </a:graphic>
      </p:graphicFrame>
      <p:sp>
        <p:nvSpPr>
          <p:cNvPr id="12" name="Shape 8"/>
          <p:cNvSpPr/>
          <p:nvPr/>
        </p:nvSpPr>
        <p:spPr>
          <a:xfrm>
            <a:off x="502920" y="4498848"/>
            <a:ext cx="7589520" cy="1463040"/>
          </a:xfrm>
          <a:prstGeom prst="roundRect">
            <a:avLst>
              <a:gd name="adj" fmla="val 3750"/>
            </a:avLst>
          </a:prstGeom>
          <a:solidFill>
            <a:srgbClr val="E8F4EC"/>
          </a:solidFill>
          <a:ln w="6350">
            <a:solidFill>
              <a:srgbClr val="E8F4EC"/>
            </a:solidFill>
            <a:prstDash val="solid"/>
          </a:ln>
          <a:effectLst>
            <a:outerShdw sx="100000" sy="100000" kx="0" ky="0" algn="bl" rotWithShape="0" blurRad="76200" dist="12700" dir="5400000">
              <a:srgbClr val="8899A6">
                <a:alpha val="18000"/>
              </a:srgbClr>
            </a:outerShdw>
          </a:effectLst>
        </p:spPr>
      </p:sp>
      <p:sp>
        <p:nvSpPr>
          <p:cNvPr id="13" name="Shape 9"/>
          <p:cNvSpPr/>
          <p:nvPr/>
        </p:nvSpPr>
        <p:spPr>
          <a:xfrm>
            <a:off x="685800" y="4654296"/>
            <a:ext cx="365760" cy="365760"/>
          </a:xfrm>
          <a:prstGeom prst="ellipse">
            <a:avLst/>
          </a:prstGeom>
          <a:solidFill>
            <a:srgbClr val="1B7F4F"/>
          </a:solidFill>
          <a:ln w="6350">
            <a:solidFill>
              <a:srgbClr val="1B7F4F"/>
            </a:solidFill>
            <a:prstDash val="solid"/>
          </a:ln>
        </p:spPr>
      </p:sp>
      <p:sp>
        <p:nvSpPr>
          <p:cNvPr id="14" name="Text 10"/>
          <p:cNvSpPr/>
          <p:nvPr/>
        </p:nvSpPr>
        <p:spPr>
          <a:xfrm>
            <a:off x="685800" y="465429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5" name="Text 11"/>
          <p:cNvSpPr/>
          <p:nvPr/>
        </p:nvSpPr>
        <p:spPr>
          <a:xfrm>
            <a:off x="1161288" y="4645152"/>
            <a:ext cx="674827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Why this mattered</a:t>
            </a:r>
            <a:endParaRPr lang="en-US" sz="1300" dirty="0"/>
          </a:p>
        </p:txBody>
      </p:sp>
      <p:sp>
        <p:nvSpPr>
          <p:cNvPr id="16" name="Text 12"/>
          <p:cNvSpPr/>
          <p:nvPr/>
        </p:nvSpPr>
        <p:spPr>
          <a:xfrm>
            <a:off x="704088" y="5065776"/>
            <a:ext cx="7187184" cy="768096"/>
          </a:xfrm>
          <a:prstGeom prst="rect">
            <a:avLst/>
          </a:prstGeom>
          <a:noFill/>
          <a:ln/>
        </p:spPr>
        <p:txBody>
          <a:bodyPr wrap="square" lIns="0" tIns="0" rIns="0" bIns="0" rtlCol="0" anchor="t"/>
          <a:lstStyle/>
          <a:p>
            <a:pPr indent="0" marL="0">
              <a:lnSpc>
                <a:spcPct val="100000"/>
              </a:lnSpc>
              <a:buNone/>
            </a:pPr>
            <a:r>
              <a:rPr lang="en-US" sz="1150" dirty="0">
                <a:solidFill>
                  <a:srgbClr val="1A1A1A"/>
                </a:solidFill>
                <a:latin typeface="Calibri" pitchFamily="34" charset="0"/>
                <a:ea typeface="Calibri" pitchFamily="34" charset="-122"/>
                <a:cs typeface="Calibri" pitchFamily="34" charset="-120"/>
              </a:rPr>
              <a:t>It split one vague question into two testable ones, and predicted which datasets a fix would flip. Barth was the tell: there the representation was never the problem, so a head fix alone should win it — which is exactly what happened two experiments later.</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29184"/>
            <a:ext cx="10058400" cy="237744"/>
          </a:xfrm>
          <a:prstGeom prst="rect">
            <a:avLst/>
          </a:prstGeom>
          <a:noFill/>
          <a:ln/>
        </p:spPr>
        <p:txBody>
          <a:bodyPr wrap="square" lIns="0" tIns="0" rIns="0" bIns="0" rtlCol="0" anchor="ctr"/>
          <a:lstStyle/>
          <a:p>
            <a:pPr indent="0" marL="0">
              <a:buNone/>
            </a:pPr>
            <a:r>
              <a:rPr lang="en-US" sz="1150" b="1" spc="120" kern="0" dirty="0">
                <a:solidFill>
                  <a:srgbClr val="1C7293"/>
                </a:solidFill>
                <a:latin typeface="Calibri" pitchFamily="34" charset="0"/>
                <a:ea typeface="Calibri" pitchFamily="34" charset="-122"/>
                <a:cs typeface="Calibri" pitchFamily="34" charset="-120"/>
              </a:rPr>
              <a:t>PART 2 · EXPERIMENT #2</a:t>
            </a:r>
            <a:endParaRPr lang="en-US" sz="1150" dirty="0"/>
          </a:p>
        </p:txBody>
      </p:sp>
      <p:sp>
        <p:nvSpPr>
          <p:cNvPr id="3" name="Text 1"/>
          <p:cNvSpPr/>
          <p:nvPr/>
        </p:nvSpPr>
        <p:spPr>
          <a:xfrm>
            <a:off x="502920" y="566928"/>
            <a:ext cx="11155680" cy="502920"/>
          </a:xfrm>
          <a:prstGeom prst="rect">
            <a:avLst/>
          </a:prstGeom>
          <a:noFill/>
          <a:ln/>
        </p:spPr>
        <p:txBody>
          <a:bodyPr wrap="square" lIns="0" tIns="0" rIns="0" bIns="0" rtlCol="0" anchor="ctr"/>
          <a:lstStyle/>
          <a:p>
            <a:pPr indent="0" marL="0">
              <a:buNone/>
            </a:pPr>
            <a:r>
              <a:rPr lang="en-US" sz="2700" b="1" dirty="0">
                <a:solidFill>
                  <a:srgbClr val="065A82"/>
                </a:solidFill>
                <a:latin typeface="Cambria" pitchFamily="34" charset="0"/>
                <a:ea typeface="Cambria" pitchFamily="34" charset="-122"/>
                <a:cs typeface="Cambria" pitchFamily="34" charset="-120"/>
              </a:rPr>
              <a:t>Experiment #2: the masking head was underfit</a:t>
            </a:r>
            <a:endParaRPr lang="en-US" sz="2700" dirty="0"/>
          </a:p>
        </p:txBody>
      </p:sp>
      <p:pic>
        <p:nvPicPr>
          <p:cNvPr id="4" name="Image 0" descr="/home/nmrbox/0012/shasharma/Desktop/NMR_Metabolomics/results/plots/all_datasets_summary_v4/fig7_linear_probe_vs_head.png">    </p:cNvPr>
          <p:cNvPicPr>
            <a:picLocks noChangeAspect="1"/>
          </p:cNvPicPr>
          <p:nvPr/>
        </p:nvPicPr>
        <p:blipFill>
          <a:blip r:embed="rId1"/>
          <a:stretch>
            <a:fillRect/>
          </a:stretch>
        </p:blipFill>
        <p:spPr>
          <a:xfrm>
            <a:off x="502920" y="1280160"/>
            <a:ext cx="7543800" cy="3352800"/>
          </a:xfrm>
          <a:prstGeom prst="rect">
            <a:avLst/>
          </a:prstGeom>
        </p:spPr>
      </p:pic>
      <p:sp>
        <p:nvSpPr>
          <p:cNvPr id="5" name="Text 2"/>
          <p:cNvSpPr/>
          <p:nvPr/>
        </p:nvSpPr>
        <p:spPr>
          <a:xfrm>
            <a:off x="502920" y="4678680"/>
            <a:ext cx="7543800" cy="310896"/>
          </a:xfrm>
          <a:prstGeom prst="rect">
            <a:avLst/>
          </a:prstGeom>
          <a:noFill/>
          <a:ln/>
        </p:spPr>
        <p:txBody>
          <a:bodyPr wrap="square" lIns="0" tIns="0" rIns="0" bIns="0" rtlCol="0" anchor="t"/>
          <a:lstStyle/>
          <a:p>
            <a:pPr indent="0" marL="0">
              <a:lnSpc>
                <a:spcPct val="95000"/>
              </a:lnSpc>
              <a:buNone/>
            </a:pPr>
            <a:r>
              <a:rPr lang="en-US" sz="950" i="1" dirty="0">
                <a:solidFill>
                  <a:srgbClr val="5C6670"/>
                </a:solidFill>
                <a:latin typeface="Calibri" pitchFamily="34" charset="0"/>
                <a:ea typeface="Calibri" pitchFamily="34" charset="-122"/>
                <a:cs typeface="Calibri" pitchFamily="34" charset="-120"/>
              </a:rPr>
              <a:t>Identical frozen features, two ways of fitting the same linear map.</a:t>
            </a:r>
            <a:endParaRPr lang="en-US" sz="950" dirty="0"/>
          </a:p>
        </p:txBody>
      </p:sp>
      <p:sp>
        <p:nvSpPr>
          <p:cNvPr id="6" name="Shape 3"/>
          <p:cNvSpPr/>
          <p:nvPr/>
        </p:nvSpPr>
        <p:spPr>
          <a:xfrm>
            <a:off x="8275320" y="1280160"/>
            <a:ext cx="3383280" cy="1371600"/>
          </a:xfrm>
          <a:prstGeom prst="roundRect">
            <a:avLst>
              <a:gd name="adj" fmla="val 4000"/>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7" name="Text 4"/>
          <p:cNvSpPr/>
          <p:nvPr/>
        </p:nvSpPr>
        <p:spPr>
          <a:xfrm>
            <a:off x="8275320" y="1371600"/>
            <a:ext cx="3383280" cy="630936"/>
          </a:xfrm>
          <a:prstGeom prst="rect">
            <a:avLst/>
          </a:prstGeom>
          <a:noFill/>
          <a:ln/>
        </p:spPr>
        <p:txBody>
          <a:bodyPr wrap="square" lIns="0" tIns="0" rIns="0" bIns="0" rtlCol="0" anchor="ctr"/>
          <a:lstStyle/>
          <a:p>
            <a:pPr algn="ctr" indent="0" marL="0">
              <a:buNone/>
            </a:pPr>
            <a:r>
              <a:rPr lang="en-US" sz="3200" b="1" dirty="0">
                <a:solidFill>
                  <a:srgbClr val="1B7F4F"/>
                </a:solidFill>
                <a:latin typeface="Cambria" pitchFamily="34" charset="0"/>
                <a:ea typeface="Cambria" pitchFamily="34" charset="-122"/>
                <a:cs typeface="Cambria" pitchFamily="34" charset="-120"/>
              </a:rPr>
              <a:t>+0.120</a:t>
            </a:r>
            <a:endParaRPr lang="en-US" sz="3200" dirty="0"/>
          </a:p>
        </p:txBody>
      </p:sp>
      <p:sp>
        <p:nvSpPr>
          <p:cNvPr id="8" name="Text 5"/>
          <p:cNvSpPr/>
          <p:nvPr/>
        </p:nvSpPr>
        <p:spPr>
          <a:xfrm>
            <a:off x="8366760" y="2020824"/>
            <a:ext cx="3200400" cy="576072"/>
          </a:xfrm>
          <a:prstGeom prst="rect">
            <a:avLst/>
          </a:prstGeom>
          <a:noFill/>
          <a:ln/>
        </p:spPr>
        <p:txBody>
          <a:bodyPr wrap="square" lIns="0" tIns="0" rIns="0" bIns="0" rtlCol="0" anchor="t"/>
          <a:lstStyle/>
          <a:p>
            <a:pPr algn="ctr" indent="0" marL="0">
              <a:lnSpc>
                <a:spcPct val="93000"/>
              </a:lnSpc>
              <a:buNone/>
            </a:pPr>
            <a:r>
              <a:rPr lang="en-US" sz="950" dirty="0">
                <a:solidFill>
                  <a:srgbClr val="5C6670"/>
                </a:solidFill>
                <a:latin typeface="Calibri" pitchFamily="34" charset="0"/>
                <a:ea typeface="Calibri" pitchFamily="34" charset="-122"/>
                <a:cs typeface="Calibri" pitchFamily="34" charset="-120"/>
              </a:rPr>
              <a:t>mean gain, masking family</a:t>
            </a:r>
            <a:endParaRPr lang="en-US" sz="950" dirty="0"/>
          </a:p>
        </p:txBody>
      </p:sp>
      <p:sp>
        <p:nvSpPr>
          <p:cNvPr id="9" name="Shape 6"/>
          <p:cNvSpPr/>
          <p:nvPr/>
        </p:nvSpPr>
        <p:spPr>
          <a:xfrm>
            <a:off x="8275320" y="2761488"/>
            <a:ext cx="3383280" cy="1371600"/>
          </a:xfrm>
          <a:prstGeom prst="roundRect">
            <a:avLst>
              <a:gd name="adj" fmla="val 4000"/>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10" name="Text 7"/>
          <p:cNvSpPr/>
          <p:nvPr/>
        </p:nvSpPr>
        <p:spPr>
          <a:xfrm>
            <a:off x="8275320" y="2852928"/>
            <a:ext cx="3383280" cy="630936"/>
          </a:xfrm>
          <a:prstGeom prst="rect">
            <a:avLst/>
          </a:prstGeom>
          <a:noFill/>
          <a:ln/>
        </p:spPr>
        <p:txBody>
          <a:bodyPr wrap="square" lIns="0" tIns="0" rIns="0" bIns="0" rtlCol="0" anchor="ctr"/>
          <a:lstStyle/>
          <a:p>
            <a:pPr algn="ctr" indent="0" marL="0">
              <a:buNone/>
            </a:pPr>
            <a:r>
              <a:rPr lang="en-US" sz="3200" b="1" dirty="0">
                <a:solidFill>
                  <a:srgbClr val="1B7F4F"/>
                </a:solidFill>
                <a:latin typeface="Cambria" pitchFamily="34" charset="0"/>
                <a:ea typeface="Cambria" pitchFamily="34" charset="-122"/>
                <a:cs typeface="Cambria" pitchFamily="34" charset="-120"/>
              </a:rPr>
              <a:t>5 of 5</a:t>
            </a:r>
            <a:endParaRPr lang="en-US" sz="3200" dirty="0"/>
          </a:p>
        </p:txBody>
      </p:sp>
      <p:sp>
        <p:nvSpPr>
          <p:cNvPr id="11" name="Text 8"/>
          <p:cNvSpPr/>
          <p:nvPr/>
        </p:nvSpPr>
        <p:spPr>
          <a:xfrm>
            <a:off x="8366760" y="3502152"/>
            <a:ext cx="3200400" cy="576072"/>
          </a:xfrm>
          <a:prstGeom prst="rect">
            <a:avLst/>
          </a:prstGeom>
          <a:noFill/>
          <a:ln/>
        </p:spPr>
        <p:txBody>
          <a:bodyPr wrap="square" lIns="0" tIns="0" rIns="0" bIns="0" rtlCol="0" anchor="t"/>
          <a:lstStyle/>
          <a:p>
            <a:pPr algn="ctr" indent="0" marL="0">
              <a:lnSpc>
                <a:spcPct val="93000"/>
              </a:lnSpc>
              <a:buNone/>
            </a:pPr>
            <a:r>
              <a:rPr lang="en-US" sz="950" dirty="0">
                <a:solidFill>
                  <a:srgbClr val="5C6670"/>
                </a:solidFill>
                <a:latin typeface="Calibri" pitchFamily="34" charset="0"/>
                <a:ea typeface="Calibri" pitchFamily="34" charset="-122"/>
                <a:cs typeface="Calibri" pitchFamily="34" charset="-120"/>
              </a:rPr>
              <a:t>targets improved (+0.077 to +0.156)</a:t>
            </a:r>
            <a:endParaRPr lang="en-US" sz="950" dirty="0"/>
          </a:p>
        </p:txBody>
      </p:sp>
      <p:sp>
        <p:nvSpPr>
          <p:cNvPr id="12" name="Shape 9"/>
          <p:cNvSpPr/>
          <p:nvPr/>
        </p:nvSpPr>
        <p:spPr>
          <a:xfrm>
            <a:off x="8275320" y="4242816"/>
            <a:ext cx="3383280" cy="1828800"/>
          </a:xfrm>
          <a:prstGeom prst="roundRect">
            <a:avLst>
              <a:gd name="adj" fmla="val 3000"/>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13" name="Shape 10"/>
          <p:cNvSpPr/>
          <p:nvPr/>
        </p:nvSpPr>
        <p:spPr>
          <a:xfrm>
            <a:off x="8458200" y="4398264"/>
            <a:ext cx="365760" cy="365760"/>
          </a:xfrm>
          <a:prstGeom prst="ellipse">
            <a:avLst/>
          </a:prstGeom>
          <a:solidFill>
            <a:srgbClr val="1C7293"/>
          </a:solidFill>
          <a:ln w="6350">
            <a:solidFill>
              <a:srgbClr val="1C7293"/>
            </a:solidFill>
            <a:prstDash val="solid"/>
          </a:ln>
        </p:spPr>
      </p:sp>
      <p:sp>
        <p:nvSpPr>
          <p:cNvPr id="14" name="Text 11"/>
          <p:cNvSpPr/>
          <p:nvPr/>
        </p:nvSpPr>
        <p:spPr>
          <a:xfrm>
            <a:off x="8458200" y="439826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5" name="Text 12"/>
          <p:cNvSpPr/>
          <p:nvPr/>
        </p:nvSpPr>
        <p:spPr>
          <a:xfrm>
            <a:off x="8933688" y="4389120"/>
            <a:ext cx="254203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Not a modelling change</a:t>
            </a:r>
            <a:endParaRPr lang="en-US" sz="1300" dirty="0"/>
          </a:p>
        </p:txBody>
      </p:sp>
      <p:sp>
        <p:nvSpPr>
          <p:cNvPr id="16" name="Text 13"/>
          <p:cNvSpPr/>
          <p:nvPr/>
        </p:nvSpPr>
        <p:spPr>
          <a:xfrm>
            <a:off x="8476488" y="4809744"/>
            <a:ext cx="2980944" cy="1133856"/>
          </a:xfrm>
          <a:prstGeom prst="rect">
            <a:avLst/>
          </a:prstGeom>
          <a:noFill/>
          <a:ln/>
        </p:spPr>
        <p:txBody>
          <a:bodyPr wrap="square" lIns="0" tIns="0" rIns="0" bIns="0" rtlCol="0" anchor="t"/>
          <a:lstStyle/>
          <a:p>
            <a:pPr indent="0" marL="0">
              <a:lnSpc>
                <a:spcPct val="100000"/>
              </a:lnSpc>
              <a:buNone/>
            </a:pPr>
            <a:r>
              <a:rPr lang="en-US" sz="1100" dirty="0">
                <a:solidFill>
                  <a:srgbClr val="1A1A1A"/>
                </a:solidFill>
                <a:latin typeface="Calibri" pitchFamily="34" charset="0"/>
                <a:ea typeface="Calibri" pitchFamily="34" charset="-122"/>
                <a:cs typeface="Calibri" pitchFamily="34" charset="-120"/>
              </a:rPr>
              <a:t>The head was always a linear layer. Replacing ~50 epochs of Adam on 40 samples with a converged L2 logistic regression is free. Jigsaw and joint were unaffected (+0.009).</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329184"/>
            <a:ext cx="10058400" cy="237744"/>
          </a:xfrm>
          <a:prstGeom prst="rect">
            <a:avLst/>
          </a:prstGeom>
          <a:noFill/>
          <a:ln/>
        </p:spPr>
        <p:txBody>
          <a:bodyPr wrap="square" lIns="0" tIns="0" rIns="0" bIns="0" rtlCol="0" anchor="ctr"/>
          <a:lstStyle/>
          <a:p>
            <a:pPr indent="0" marL="0">
              <a:buNone/>
            </a:pPr>
            <a:r>
              <a:rPr lang="en-US" sz="1150" b="1" spc="120" kern="0" dirty="0">
                <a:solidFill>
                  <a:srgbClr val="1C7293"/>
                </a:solidFill>
                <a:latin typeface="Calibri" pitchFamily="34" charset="0"/>
                <a:ea typeface="Calibri" pitchFamily="34" charset="-122"/>
                <a:cs typeface="Calibri" pitchFamily="34" charset="-120"/>
              </a:rPr>
              <a:t>PART 2 · EXPERIMENT #3</a:t>
            </a:r>
            <a:endParaRPr lang="en-US" sz="1150" dirty="0"/>
          </a:p>
        </p:txBody>
      </p:sp>
      <p:sp>
        <p:nvSpPr>
          <p:cNvPr id="3" name="Text 1"/>
          <p:cNvSpPr/>
          <p:nvPr/>
        </p:nvSpPr>
        <p:spPr>
          <a:xfrm>
            <a:off x="502920" y="566928"/>
            <a:ext cx="11155680" cy="502920"/>
          </a:xfrm>
          <a:prstGeom prst="rect">
            <a:avLst/>
          </a:prstGeom>
          <a:noFill/>
          <a:ln/>
        </p:spPr>
        <p:txBody>
          <a:bodyPr wrap="square" lIns="0" tIns="0" rIns="0" bIns="0" rtlCol="0" anchor="ctr"/>
          <a:lstStyle/>
          <a:p>
            <a:pPr indent="0" marL="0">
              <a:buNone/>
            </a:pPr>
            <a:r>
              <a:rPr lang="en-US" sz="2700" b="1" dirty="0">
                <a:solidFill>
                  <a:srgbClr val="065A82"/>
                </a:solidFill>
                <a:latin typeface="Cambria" pitchFamily="34" charset="0"/>
                <a:ea typeface="Cambria" pitchFamily="34" charset="-122"/>
                <a:cs typeface="Cambria" pitchFamily="34" charset="-120"/>
              </a:rPr>
              <a:t>Experiment #3: does pretraining contribute anything?</a:t>
            </a:r>
            <a:endParaRPr lang="en-US" sz="2700" dirty="0"/>
          </a:p>
        </p:txBody>
      </p:sp>
      <p:pic>
        <p:nvPicPr>
          <p:cNvPr id="4" name="Image 0" descr="/home/nmrbox/0012/shasharma/Desktop/NMR_Metabolomics/results/plots/all_datasets_summary_v4/fig8_pretraining_gain.png">    </p:cNvPr>
          <p:cNvPicPr>
            <a:picLocks noChangeAspect="1"/>
          </p:cNvPicPr>
          <p:nvPr/>
        </p:nvPicPr>
        <p:blipFill>
          <a:blip r:embed="rId1"/>
          <a:stretch>
            <a:fillRect/>
          </a:stretch>
        </p:blipFill>
        <p:spPr>
          <a:xfrm>
            <a:off x="502920" y="1280160"/>
            <a:ext cx="7543800" cy="3323260"/>
          </a:xfrm>
          <a:prstGeom prst="rect">
            <a:avLst/>
          </a:prstGeom>
        </p:spPr>
      </p:pic>
      <p:sp>
        <p:nvSpPr>
          <p:cNvPr id="5" name="Text 2"/>
          <p:cNvSpPr/>
          <p:nvPr/>
        </p:nvSpPr>
        <p:spPr>
          <a:xfrm>
            <a:off x="502920" y="4649140"/>
            <a:ext cx="7543800" cy="310896"/>
          </a:xfrm>
          <a:prstGeom prst="rect">
            <a:avLst/>
          </a:prstGeom>
          <a:noFill/>
          <a:ln/>
        </p:spPr>
        <p:txBody>
          <a:bodyPr wrap="square" lIns="0" tIns="0" rIns="0" bIns="0" rtlCol="0" anchor="t"/>
          <a:lstStyle/>
          <a:p>
            <a:pPr indent="0" marL="0">
              <a:lnSpc>
                <a:spcPct val="95000"/>
              </a:lnSpc>
              <a:buNone/>
            </a:pPr>
            <a:r>
              <a:rPr lang="en-US" sz="950" i="1" dirty="0">
                <a:solidFill>
                  <a:srgbClr val="5C6670"/>
                </a:solidFill>
                <a:latin typeface="Calibri" pitchFamily="34" charset="0"/>
                <a:ea typeface="Calibri" pitchFamily="34" charset="-122"/>
                <a:cs typeface="Calibri" pitchFamily="34" charset="-120"/>
              </a:rPr>
              <a:t>Pretrained versus a true random-initialisation control, head held fixed at a converged probe.</a:t>
            </a:r>
            <a:endParaRPr lang="en-US" sz="950" dirty="0"/>
          </a:p>
        </p:txBody>
      </p:sp>
      <p:sp>
        <p:nvSpPr>
          <p:cNvPr id="6" name="Shape 3"/>
          <p:cNvSpPr/>
          <p:nvPr/>
        </p:nvSpPr>
        <p:spPr>
          <a:xfrm>
            <a:off x="8275320" y="1280160"/>
            <a:ext cx="3383280" cy="1170432"/>
          </a:xfrm>
          <a:prstGeom prst="roundRect">
            <a:avLst>
              <a:gd name="adj" fmla="val 4688"/>
            </a:avLst>
          </a:prstGeom>
          <a:solidFill>
            <a:srgbClr val="E8F4EC"/>
          </a:solidFill>
          <a:ln w="6350">
            <a:solidFill>
              <a:srgbClr val="E8F4EC"/>
            </a:solidFill>
            <a:prstDash val="solid"/>
          </a:ln>
          <a:effectLst>
            <a:outerShdw sx="100000" sy="100000" kx="0" ky="0" algn="bl" rotWithShape="0" blurRad="76200" dist="12700" dir="5400000">
              <a:srgbClr val="8899A6">
                <a:alpha val="18000"/>
              </a:srgbClr>
            </a:outerShdw>
          </a:effectLst>
        </p:spPr>
      </p:sp>
      <p:sp>
        <p:nvSpPr>
          <p:cNvPr id="7" name="Shape 4"/>
          <p:cNvSpPr/>
          <p:nvPr/>
        </p:nvSpPr>
        <p:spPr>
          <a:xfrm>
            <a:off x="8458200" y="1435608"/>
            <a:ext cx="365760" cy="365760"/>
          </a:xfrm>
          <a:prstGeom prst="ellipse">
            <a:avLst/>
          </a:prstGeom>
          <a:solidFill>
            <a:srgbClr val="1B7F4F"/>
          </a:solidFill>
          <a:ln w="6350">
            <a:solidFill>
              <a:srgbClr val="1B7F4F"/>
            </a:solidFill>
            <a:prstDash val="solid"/>
          </a:ln>
        </p:spPr>
      </p:sp>
      <p:sp>
        <p:nvSpPr>
          <p:cNvPr id="8" name="Text 5"/>
          <p:cNvSpPr/>
          <p:nvPr/>
        </p:nvSpPr>
        <p:spPr>
          <a:xfrm>
            <a:off x="8458200" y="143560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9" name="Text 6"/>
          <p:cNvSpPr/>
          <p:nvPr/>
        </p:nvSpPr>
        <p:spPr>
          <a:xfrm>
            <a:off x="8933688" y="1426464"/>
            <a:ext cx="254203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Masked: +0.117 on 5 of 5</a:t>
            </a:r>
            <a:endParaRPr lang="en-US" sz="1300" dirty="0"/>
          </a:p>
        </p:txBody>
      </p:sp>
      <p:sp>
        <p:nvSpPr>
          <p:cNvPr id="10" name="Text 7"/>
          <p:cNvSpPr/>
          <p:nvPr/>
        </p:nvSpPr>
        <p:spPr>
          <a:xfrm>
            <a:off x="8476488" y="1847088"/>
            <a:ext cx="2980944" cy="475488"/>
          </a:xfrm>
          <a:prstGeom prst="rect">
            <a:avLst/>
          </a:prstGeom>
          <a:noFill/>
          <a:ln/>
        </p:spPr>
        <p:txBody>
          <a:bodyPr wrap="square" lIns="0" tIns="0" rIns="0" bIns="0" rtlCol="0" anchor="t"/>
          <a:lstStyle/>
          <a:p>
            <a:pPr indent="0" marL="0">
              <a:lnSpc>
                <a:spcPct val="100000"/>
              </a:lnSpc>
              <a:buNone/>
            </a:pPr>
            <a:r>
              <a:rPr lang="en-US" sz="1100" dirty="0">
                <a:solidFill>
                  <a:srgbClr val="1A1A1A"/>
                </a:solidFill>
                <a:latin typeface="Calibri" pitchFamily="34" charset="0"/>
                <a:ea typeface="Calibri" pitchFamily="34" charset="-122"/>
                <a:cs typeface="Calibri" pitchFamily="34" charset="-120"/>
              </a:rPr>
              <a:t>Masked pretraining genuinely works.</a:t>
            </a:r>
            <a:endParaRPr lang="en-US" sz="1100" dirty="0"/>
          </a:p>
        </p:txBody>
      </p:sp>
      <p:sp>
        <p:nvSpPr>
          <p:cNvPr id="11" name="Shape 8"/>
          <p:cNvSpPr/>
          <p:nvPr/>
        </p:nvSpPr>
        <p:spPr>
          <a:xfrm>
            <a:off x="8275320" y="2578608"/>
            <a:ext cx="3383280" cy="1298448"/>
          </a:xfrm>
          <a:prstGeom prst="roundRect">
            <a:avLst>
              <a:gd name="adj" fmla="val 4225"/>
            </a:avLst>
          </a:prstGeom>
          <a:solidFill>
            <a:srgbClr val="FBECEC"/>
          </a:solidFill>
          <a:ln w="6350">
            <a:solidFill>
              <a:srgbClr val="FBECEC"/>
            </a:solidFill>
            <a:prstDash val="solid"/>
          </a:ln>
          <a:effectLst>
            <a:outerShdw sx="100000" sy="100000" kx="0" ky="0" algn="bl" rotWithShape="0" blurRad="76200" dist="12700" dir="5400000">
              <a:srgbClr val="8899A6">
                <a:alpha val="18000"/>
              </a:srgbClr>
            </a:outerShdw>
          </a:effectLst>
        </p:spPr>
      </p:sp>
      <p:sp>
        <p:nvSpPr>
          <p:cNvPr id="12" name="Shape 9"/>
          <p:cNvSpPr/>
          <p:nvPr/>
        </p:nvSpPr>
        <p:spPr>
          <a:xfrm>
            <a:off x="8458200" y="2734056"/>
            <a:ext cx="365760" cy="365760"/>
          </a:xfrm>
          <a:prstGeom prst="ellipse">
            <a:avLst/>
          </a:prstGeom>
          <a:solidFill>
            <a:srgbClr val="A32020"/>
          </a:solidFill>
          <a:ln w="6350">
            <a:solidFill>
              <a:srgbClr val="A32020"/>
            </a:solidFill>
            <a:prstDash val="solid"/>
          </a:ln>
        </p:spPr>
      </p:sp>
      <p:sp>
        <p:nvSpPr>
          <p:cNvPr id="13" name="Text 10"/>
          <p:cNvSpPr/>
          <p:nvPr/>
        </p:nvSpPr>
        <p:spPr>
          <a:xfrm>
            <a:off x="8458200" y="273405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4" name="Text 11"/>
          <p:cNvSpPr/>
          <p:nvPr/>
        </p:nvSpPr>
        <p:spPr>
          <a:xfrm>
            <a:off x="8933688" y="2724912"/>
            <a:ext cx="254203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Jigsaw −0.011 · Joint −0.025</a:t>
            </a:r>
            <a:endParaRPr lang="en-US" sz="1300" dirty="0"/>
          </a:p>
        </p:txBody>
      </p:sp>
      <p:sp>
        <p:nvSpPr>
          <p:cNvPr id="15" name="Text 12"/>
          <p:cNvSpPr/>
          <p:nvPr/>
        </p:nvSpPr>
        <p:spPr>
          <a:xfrm>
            <a:off x="8476488" y="3145536"/>
            <a:ext cx="2980944" cy="603504"/>
          </a:xfrm>
          <a:prstGeom prst="rect">
            <a:avLst/>
          </a:prstGeom>
          <a:noFill/>
          <a:ln/>
        </p:spPr>
        <p:txBody>
          <a:bodyPr wrap="square" lIns="0" tIns="0" rIns="0" bIns="0" rtlCol="0" anchor="t"/>
          <a:lstStyle/>
          <a:p>
            <a:pPr indent="0" marL="0">
              <a:lnSpc>
                <a:spcPct val="100000"/>
              </a:lnSpc>
              <a:buNone/>
            </a:pPr>
            <a:r>
              <a:rPr lang="en-US" sz="1100" dirty="0">
                <a:solidFill>
                  <a:srgbClr val="1A1A1A"/>
                </a:solidFill>
                <a:latin typeface="Calibri" pitchFamily="34" charset="0"/>
                <a:ea typeface="Calibri" pitchFamily="34" charset="-122"/>
                <a:cs typeface="Calibri" pitchFamily="34" charset="-120"/>
              </a:rPr>
              <a:t>A random joint backbone scores 0.846 on cancer versus 0.769 pretrained.</a:t>
            </a:r>
            <a:endParaRPr lang="en-US" sz="1100" dirty="0"/>
          </a:p>
        </p:txBody>
      </p:sp>
      <p:sp>
        <p:nvSpPr>
          <p:cNvPr id="16" name="Shape 13"/>
          <p:cNvSpPr/>
          <p:nvPr/>
        </p:nvSpPr>
        <p:spPr>
          <a:xfrm>
            <a:off x="8275320" y="4005072"/>
            <a:ext cx="3383280" cy="2066544"/>
          </a:xfrm>
          <a:prstGeom prst="roundRect">
            <a:avLst>
              <a:gd name="adj" fmla="val 2655"/>
            </a:avLst>
          </a:prstGeom>
          <a:solidFill>
            <a:srgbClr val="FBF0E8"/>
          </a:solidFill>
          <a:ln w="6350">
            <a:solidFill>
              <a:srgbClr val="FBF0E8"/>
            </a:solidFill>
            <a:prstDash val="solid"/>
          </a:ln>
          <a:effectLst>
            <a:outerShdw sx="100000" sy="100000" kx="0" ky="0" algn="bl" rotWithShape="0" blurRad="76200" dist="12700" dir="5400000">
              <a:srgbClr val="8899A6">
                <a:alpha val="18000"/>
              </a:srgbClr>
            </a:outerShdw>
          </a:effectLst>
        </p:spPr>
      </p:sp>
      <p:sp>
        <p:nvSpPr>
          <p:cNvPr id="17" name="Shape 14"/>
          <p:cNvSpPr/>
          <p:nvPr/>
        </p:nvSpPr>
        <p:spPr>
          <a:xfrm>
            <a:off x="8458200" y="4160520"/>
            <a:ext cx="365760" cy="365760"/>
          </a:xfrm>
          <a:prstGeom prst="ellipse">
            <a:avLst/>
          </a:prstGeom>
          <a:solidFill>
            <a:srgbClr val="B36A00"/>
          </a:solidFill>
          <a:ln w="6350">
            <a:solidFill>
              <a:srgbClr val="B36A00"/>
            </a:solidFill>
            <a:prstDash val="solid"/>
          </a:ln>
        </p:spPr>
      </p:sp>
      <p:sp>
        <p:nvSpPr>
          <p:cNvPr id="18" name="Text 15"/>
          <p:cNvSpPr/>
          <p:nvPr/>
        </p:nvSpPr>
        <p:spPr>
          <a:xfrm>
            <a:off x="8458200" y="41605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9" name="Text 16"/>
          <p:cNvSpPr/>
          <p:nvPr/>
        </p:nvSpPr>
        <p:spPr>
          <a:xfrm>
            <a:off x="8933688" y="4151376"/>
            <a:ext cx="254203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A correction I had to make</a:t>
            </a:r>
            <a:endParaRPr lang="en-US" sz="1300" dirty="0"/>
          </a:p>
        </p:txBody>
      </p:sp>
      <p:sp>
        <p:nvSpPr>
          <p:cNvPr id="20" name="Text 17"/>
          <p:cNvSpPr/>
          <p:nvPr/>
        </p:nvSpPr>
        <p:spPr>
          <a:xfrm>
            <a:off x="8476488" y="4572000"/>
            <a:ext cx="2980944" cy="1371600"/>
          </a:xfrm>
          <a:prstGeom prst="rect">
            <a:avLst/>
          </a:prstGeom>
          <a:noFill/>
          <a:ln/>
        </p:spPr>
        <p:txBody>
          <a:bodyPr wrap="square" lIns="0" tIns="0" rIns="0" bIns="0" rtlCol="0" anchor="t"/>
          <a:lstStyle/>
          <a:p>
            <a:pPr indent="0" marL="0">
              <a:lnSpc>
                <a:spcPct val="100000"/>
              </a:lnSpc>
              <a:buNone/>
            </a:pPr>
            <a:r>
              <a:rPr lang="en-US" sz="1100" dirty="0">
                <a:solidFill>
                  <a:srgbClr val="1A1A1A"/>
                </a:solidFill>
                <a:latin typeface="Calibri" pitchFamily="34" charset="0"/>
                <a:ea typeface="Calibri" pitchFamily="34" charset="-122"/>
                <a:cs typeface="Calibri" pitchFamily="34" charset="-120"/>
              </a:rPr>
              <a:t>I first read an earlier ablation as “pretraining contributes nothing”. That flag only reinitialises the unfrozen layers — patch embedding and positional encoding stay pretrained — so it never tested the claim. This control loads no pretrained weights anywhere.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329184"/>
            <a:ext cx="10058400" cy="237744"/>
          </a:xfrm>
          <a:prstGeom prst="rect">
            <a:avLst/>
          </a:prstGeom>
          <a:noFill/>
          <a:ln/>
        </p:spPr>
        <p:txBody>
          <a:bodyPr wrap="square" lIns="0" tIns="0" rIns="0" bIns="0" rtlCol="0" anchor="ctr"/>
          <a:lstStyle/>
          <a:p>
            <a:pPr indent="0" marL="0">
              <a:buNone/>
            </a:pPr>
            <a:r>
              <a:rPr lang="en-US" sz="1150" b="1" spc="120" kern="0" dirty="0">
                <a:solidFill>
                  <a:srgbClr val="1C7293"/>
                </a:solidFill>
                <a:latin typeface="Calibri" pitchFamily="34" charset="0"/>
                <a:ea typeface="Calibri" pitchFamily="34" charset="-122"/>
                <a:cs typeface="Calibri" pitchFamily="34" charset="-120"/>
              </a:rPr>
              <a:t>PART 2 · EXPERIMENT #4</a:t>
            </a:r>
            <a:endParaRPr lang="en-US" sz="1150" dirty="0"/>
          </a:p>
        </p:txBody>
      </p:sp>
      <p:sp>
        <p:nvSpPr>
          <p:cNvPr id="3" name="Text 1"/>
          <p:cNvSpPr/>
          <p:nvPr/>
        </p:nvSpPr>
        <p:spPr>
          <a:xfrm>
            <a:off x="502920" y="566928"/>
            <a:ext cx="11155680" cy="502920"/>
          </a:xfrm>
          <a:prstGeom prst="rect">
            <a:avLst/>
          </a:prstGeom>
          <a:noFill/>
          <a:ln/>
        </p:spPr>
        <p:txBody>
          <a:bodyPr wrap="square" lIns="0" tIns="0" rIns="0" bIns="0" rtlCol="0" anchor="ctr"/>
          <a:lstStyle/>
          <a:p>
            <a:pPr indent="0" marL="0">
              <a:buNone/>
            </a:pPr>
            <a:r>
              <a:rPr lang="en-US" sz="2700" b="1" dirty="0">
                <a:solidFill>
                  <a:srgbClr val="065A82"/>
                </a:solidFill>
                <a:latin typeface="Cambria" pitchFamily="34" charset="0"/>
                <a:ea typeface="Cambria" pitchFamily="34" charset="-122"/>
                <a:cs typeface="Cambria" pitchFamily="34" charset="-120"/>
              </a:rPr>
              <a:t>Experiment #4: the resolution hypothesis, refuted</a:t>
            </a:r>
            <a:endParaRPr lang="en-US" sz="2700" dirty="0"/>
          </a:p>
        </p:txBody>
      </p:sp>
      <p:pic>
        <p:nvPicPr>
          <p:cNvPr id="4" name="Image 0" descr="/home/nmrbox/0012/shasharma/Desktop/NMR_Metabolomics/results/plots/all_datasets_summary_v4/fig9_patch_size_and_pooling.png">    </p:cNvPr>
          <p:cNvPicPr>
            <a:picLocks noChangeAspect="1"/>
          </p:cNvPicPr>
          <p:nvPr/>
        </p:nvPicPr>
        <p:blipFill>
          <a:blip r:embed="rId1"/>
          <a:stretch>
            <a:fillRect/>
          </a:stretch>
        </p:blipFill>
        <p:spPr>
          <a:xfrm>
            <a:off x="1188720" y="1188720"/>
            <a:ext cx="9784080" cy="3529610"/>
          </a:xfrm>
          <a:prstGeom prst="rect">
            <a:avLst/>
          </a:prstGeom>
        </p:spPr>
      </p:pic>
      <p:sp>
        <p:nvSpPr>
          <p:cNvPr id="5" name="Text 2"/>
          <p:cNvSpPr/>
          <p:nvPr/>
        </p:nvSpPr>
        <p:spPr>
          <a:xfrm>
            <a:off x="1188720" y="4764050"/>
            <a:ext cx="9784080" cy="310896"/>
          </a:xfrm>
          <a:prstGeom prst="rect">
            <a:avLst/>
          </a:prstGeom>
          <a:noFill/>
          <a:ln/>
        </p:spPr>
        <p:txBody>
          <a:bodyPr wrap="square" lIns="0" tIns="0" rIns="0" bIns="0" rtlCol="0" anchor="t"/>
          <a:lstStyle/>
          <a:p>
            <a:pPr indent="0" marL="0">
              <a:lnSpc>
                <a:spcPct val="95000"/>
              </a:lnSpc>
              <a:buNone/>
            </a:pPr>
            <a:r>
              <a:rPr lang="en-US" sz="950" i="1" dirty="0">
                <a:solidFill>
                  <a:srgbClr val="5C6670"/>
                </a:solidFill>
                <a:latin typeface="Calibri" pitchFamily="34" charset="0"/>
                <a:ea typeface="Calibri" pitchFamily="34" charset="-122"/>
                <a:cs typeface="Calibri" pitchFamily="34" charset="-120"/>
              </a:rPr>
              <a:t>Left: shrinking the patch does not lift the ceiling — it lowers it. Right: what actually did work.</a:t>
            </a:r>
            <a:endParaRPr lang="en-US" sz="950" dirty="0"/>
          </a:p>
        </p:txBody>
      </p:sp>
      <p:sp>
        <p:nvSpPr>
          <p:cNvPr id="6" name="Shape 3"/>
          <p:cNvSpPr/>
          <p:nvPr/>
        </p:nvSpPr>
        <p:spPr>
          <a:xfrm>
            <a:off x="502920" y="5148098"/>
            <a:ext cx="5532120" cy="1234414"/>
          </a:xfrm>
          <a:prstGeom prst="roundRect">
            <a:avLst>
              <a:gd name="adj" fmla="val 4445"/>
            </a:avLst>
          </a:prstGeom>
          <a:solidFill>
            <a:srgbClr val="FBECEC"/>
          </a:solidFill>
          <a:ln w="6350">
            <a:solidFill>
              <a:srgbClr val="FBECEC"/>
            </a:solidFill>
            <a:prstDash val="solid"/>
          </a:ln>
          <a:effectLst>
            <a:outerShdw sx="100000" sy="100000" kx="0" ky="0" algn="bl" rotWithShape="0" blurRad="76200" dist="12700" dir="5400000">
              <a:srgbClr val="8899A6">
                <a:alpha val="18000"/>
              </a:srgbClr>
            </a:outerShdw>
          </a:effectLst>
        </p:spPr>
      </p:sp>
      <p:sp>
        <p:nvSpPr>
          <p:cNvPr id="7" name="Shape 4"/>
          <p:cNvSpPr/>
          <p:nvPr/>
        </p:nvSpPr>
        <p:spPr>
          <a:xfrm>
            <a:off x="685800" y="5303546"/>
            <a:ext cx="365760" cy="365760"/>
          </a:xfrm>
          <a:prstGeom prst="ellipse">
            <a:avLst/>
          </a:prstGeom>
          <a:solidFill>
            <a:srgbClr val="A32020"/>
          </a:solidFill>
          <a:ln w="6350">
            <a:solidFill>
              <a:srgbClr val="A32020"/>
            </a:solidFill>
            <a:prstDash val="solid"/>
          </a:ln>
        </p:spPr>
      </p:sp>
      <p:sp>
        <p:nvSpPr>
          <p:cNvPr id="8" name="Text 5"/>
          <p:cNvSpPr/>
          <p:nvPr/>
        </p:nvSpPr>
        <p:spPr>
          <a:xfrm>
            <a:off x="685800" y="530354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9" name="Text 6"/>
          <p:cNvSpPr/>
          <p:nvPr/>
        </p:nvSpPr>
        <p:spPr>
          <a:xfrm>
            <a:off x="1161288" y="5294402"/>
            <a:ext cx="469087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Prediction: finer patches → better. Wrong.</a:t>
            </a:r>
            <a:endParaRPr lang="en-US" sz="1300" dirty="0"/>
          </a:p>
        </p:txBody>
      </p:sp>
      <p:sp>
        <p:nvSpPr>
          <p:cNvPr id="10" name="Text 7"/>
          <p:cNvSpPr/>
          <p:nvPr/>
        </p:nvSpPr>
        <p:spPr>
          <a:xfrm>
            <a:off x="704088" y="5715026"/>
            <a:ext cx="5129784" cy="539470"/>
          </a:xfrm>
          <a:prstGeom prst="rect">
            <a:avLst/>
          </a:prstGeom>
          <a:noFill/>
          <a:ln/>
        </p:spPr>
        <p:txBody>
          <a:bodyPr wrap="square" lIns="0" tIns="0" rIns="0" bIns="0" rtlCol="0" anchor="t"/>
          <a:lstStyle/>
          <a:p>
            <a:pPr indent="0" marL="0">
              <a:lnSpc>
                <a:spcPct val="100000"/>
              </a:lnSpc>
              <a:buNone/>
            </a:pPr>
            <a:r>
              <a:rPr lang="en-US" sz="1100" dirty="0">
                <a:solidFill>
                  <a:srgbClr val="1A1A1A"/>
                </a:solidFill>
                <a:latin typeface="Calibri" pitchFamily="34" charset="0"/>
                <a:ea typeface="Calibri" pitchFamily="34" charset="-122"/>
                <a:cs typeface="Calibri" pitchFamily="34" charset="-120"/>
              </a:rPr>
              <a:t>Patch 256 −0.072, patch 128 −0.077. Zero wins out of five targets.</a:t>
            </a:r>
            <a:endParaRPr lang="en-US" sz="1100" dirty="0"/>
          </a:p>
        </p:txBody>
      </p:sp>
      <p:sp>
        <p:nvSpPr>
          <p:cNvPr id="11" name="Shape 8"/>
          <p:cNvSpPr/>
          <p:nvPr/>
        </p:nvSpPr>
        <p:spPr>
          <a:xfrm>
            <a:off x="6263640" y="5148098"/>
            <a:ext cx="5394960" cy="1234414"/>
          </a:xfrm>
          <a:prstGeom prst="roundRect">
            <a:avLst>
              <a:gd name="adj" fmla="val 4445"/>
            </a:avLst>
          </a:prstGeom>
          <a:solidFill>
            <a:srgbClr val="FBF0E8"/>
          </a:solidFill>
          <a:ln w="6350">
            <a:solidFill>
              <a:srgbClr val="FBF0E8"/>
            </a:solidFill>
            <a:prstDash val="solid"/>
          </a:ln>
          <a:effectLst>
            <a:outerShdw sx="100000" sy="100000" kx="0" ky="0" algn="bl" rotWithShape="0" blurRad="76200" dist="12700" dir="5400000">
              <a:srgbClr val="8899A6">
                <a:alpha val="18000"/>
              </a:srgbClr>
            </a:outerShdw>
          </a:effectLst>
        </p:spPr>
      </p:sp>
      <p:sp>
        <p:nvSpPr>
          <p:cNvPr id="12" name="Shape 9"/>
          <p:cNvSpPr/>
          <p:nvPr/>
        </p:nvSpPr>
        <p:spPr>
          <a:xfrm>
            <a:off x="6446520" y="5303546"/>
            <a:ext cx="365760" cy="365760"/>
          </a:xfrm>
          <a:prstGeom prst="ellipse">
            <a:avLst/>
          </a:prstGeom>
          <a:solidFill>
            <a:srgbClr val="B36A00"/>
          </a:solidFill>
          <a:ln w="6350">
            <a:solidFill>
              <a:srgbClr val="B36A00"/>
            </a:solidFill>
            <a:prstDash val="solid"/>
          </a:ln>
        </p:spPr>
      </p:sp>
      <p:sp>
        <p:nvSpPr>
          <p:cNvPr id="13" name="Text 10"/>
          <p:cNvSpPr/>
          <p:nvPr/>
        </p:nvSpPr>
        <p:spPr>
          <a:xfrm>
            <a:off x="6446520" y="530354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4" name="Text 11"/>
          <p:cNvSpPr/>
          <p:nvPr/>
        </p:nvSpPr>
        <p:spPr>
          <a:xfrm>
            <a:off x="6922008" y="5294402"/>
            <a:ext cx="455371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The mechanism — and my reasoning error</a:t>
            </a:r>
            <a:endParaRPr lang="en-US" sz="1300" dirty="0"/>
          </a:p>
        </p:txBody>
      </p:sp>
      <p:sp>
        <p:nvSpPr>
          <p:cNvPr id="15" name="Text 12"/>
          <p:cNvSpPr/>
          <p:nvPr/>
        </p:nvSpPr>
        <p:spPr>
          <a:xfrm>
            <a:off x="6464808" y="5715026"/>
            <a:ext cx="4992624" cy="539470"/>
          </a:xfrm>
          <a:prstGeom prst="rect">
            <a:avLst/>
          </a:prstGeom>
          <a:noFill/>
          <a:ln/>
        </p:spPr>
        <p:txBody>
          <a:bodyPr wrap="square" lIns="0" tIns="0" rIns="0" bIns="0" rtlCol="0" anchor="t"/>
          <a:lstStyle/>
          <a:p>
            <a:pPr indent="0" marL="0">
              <a:lnSpc>
                <a:spcPct val="100000"/>
              </a:lnSpc>
              <a:buNone/>
            </a:pPr>
            <a:r>
              <a:rPr lang="en-US" sz="1100" dirty="0">
                <a:solidFill>
                  <a:srgbClr val="1A1A1A"/>
                </a:solidFill>
                <a:latin typeface="Calibri" pitchFamily="34" charset="0"/>
                <a:ea typeface="Calibri" pitchFamily="34" charset="-122"/>
                <a:cs typeface="Calibri" pitchFamily="34" charset="-120"/>
              </a:rPr>
              <a:t>Reconstruction loss FELL as patches shrank (9.3e-5 → 4.4e-5): a masked 128-point patch is interpolable from its neighbours. I asked what the encoder could represent, not whether the task still forced it to learn.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329184"/>
            <a:ext cx="10058400" cy="237744"/>
          </a:xfrm>
          <a:prstGeom prst="rect">
            <a:avLst/>
          </a:prstGeom>
          <a:noFill/>
          <a:ln/>
        </p:spPr>
        <p:txBody>
          <a:bodyPr wrap="square" lIns="0" tIns="0" rIns="0" bIns="0" rtlCol="0" anchor="ctr"/>
          <a:lstStyle/>
          <a:p>
            <a:pPr indent="0" marL="0">
              <a:buNone/>
            </a:pPr>
            <a:r>
              <a:rPr lang="en-US" sz="1150" b="1" spc="120" kern="0" dirty="0">
                <a:solidFill>
                  <a:srgbClr val="1C7293"/>
                </a:solidFill>
                <a:latin typeface="Calibri" pitchFamily="34" charset="0"/>
                <a:ea typeface="Calibri" pitchFamily="34" charset="-122"/>
                <a:cs typeface="Calibri" pitchFamily="34" charset="-120"/>
              </a:rPr>
              <a:t>PART 2 · THE REAL WIN</a:t>
            </a:r>
            <a:endParaRPr lang="en-US" sz="1150" dirty="0"/>
          </a:p>
        </p:txBody>
      </p:sp>
      <p:sp>
        <p:nvSpPr>
          <p:cNvPr id="3" name="Text 1"/>
          <p:cNvSpPr/>
          <p:nvPr/>
        </p:nvSpPr>
        <p:spPr>
          <a:xfrm>
            <a:off x="502920" y="566928"/>
            <a:ext cx="11155680" cy="502920"/>
          </a:xfrm>
          <a:prstGeom prst="rect">
            <a:avLst/>
          </a:prstGeom>
          <a:noFill/>
          <a:ln/>
        </p:spPr>
        <p:txBody>
          <a:bodyPr wrap="square" lIns="0" tIns="0" rIns="0" bIns="0" rtlCol="0" anchor="ctr"/>
          <a:lstStyle/>
          <a:p>
            <a:pPr indent="0" marL="0">
              <a:buNone/>
            </a:pPr>
            <a:r>
              <a:rPr lang="en-US" sz="2700" b="1" dirty="0">
                <a:solidFill>
                  <a:srgbClr val="065A82"/>
                </a:solidFill>
                <a:latin typeface="Cambria" pitchFamily="34" charset="0"/>
                <a:ea typeface="Cambria" pitchFamily="34" charset="-122"/>
                <a:cs typeface="Cambria" pitchFamily="34" charset="-120"/>
              </a:rPr>
              <a:t>The one intervention that clearly worked: pooling</a:t>
            </a:r>
            <a:endParaRPr lang="en-US" sz="2700" dirty="0"/>
          </a:p>
        </p:txBody>
      </p:sp>
      <p:pic>
        <p:nvPicPr>
          <p:cNvPr id="4" name="Image 0" descr="/home/nmrbox/0012/shasharma/Desktop/NMR_Metabolomics/results/plots/all_datasets_summary_v4/fig10_pooling_sweep.png">    </p:cNvPr>
          <p:cNvPicPr>
            <a:picLocks noChangeAspect="1"/>
          </p:cNvPicPr>
          <p:nvPr/>
        </p:nvPicPr>
        <p:blipFill>
          <a:blip r:embed="rId1"/>
          <a:stretch>
            <a:fillRect/>
          </a:stretch>
        </p:blipFill>
        <p:spPr>
          <a:xfrm>
            <a:off x="1188720" y="1188720"/>
            <a:ext cx="9784080" cy="3544957"/>
          </a:xfrm>
          <a:prstGeom prst="rect">
            <a:avLst/>
          </a:prstGeom>
        </p:spPr>
      </p:pic>
      <p:sp>
        <p:nvSpPr>
          <p:cNvPr id="5" name="Text 2"/>
          <p:cNvSpPr/>
          <p:nvPr/>
        </p:nvSpPr>
        <p:spPr>
          <a:xfrm>
            <a:off x="1188720" y="4779397"/>
            <a:ext cx="9784080" cy="310896"/>
          </a:xfrm>
          <a:prstGeom prst="rect">
            <a:avLst/>
          </a:prstGeom>
          <a:noFill/>
          <a:ln/>
        </p:spPr>
        <p:txBody>
          <a:bodyPr wrap="square" lIns="0" tIns="0" rIns="0" bIns="0" rtlCol="0" anchor="t"/>
          <a:lstStyle/>
          <a:p>
            <a:pPr indent="0" marL="0">
              <a:lnSpc>
                <a:spcPct val="95000"/>
              </a:lnSpc>
              <a:buNone/>
            </a:pPr>
            <a:r>
              <a:rPr lang="en-US" sz="950" i="1" dirty="0">
                <a:solidFill>
                  <a:srgbClr val="5C6670"/>
                </a:solidFill>
                <a:latin typeface="Calibri" pitchFamily="34" charset="0"/>
                <a:ea typeface="Calibri" pitchFamily="34" charset="-122"/>
                <a:cs typeface="Calibri" pitchFamily="34" charset="-120"/>
              </a:rPr>
              <a:t>Regional pooling sweep: G contiguous token groups. G = 1 is mean-pooling, G = 128 is a fully flattened embedding.</a:t>
            </a:r>
            <a:endParaRPr lang="en-US" sz="950" dirty="0"/>
          </a:p>
        </p:txBody>
      </p:sp>
      <p:sp>
        <p:nvSpPr>
          <p:cNvPr id="6" name="Shape 3"/>
          <p:cNvSpPr/>
          <p:nvPr/>
        </p:nvSpPr>
        <p:spPr>
          <a:xfrm>
            <a:off x="502920" y="5163445"/>
            <a:ext cx="3657600" cy="1219067"/>
          </a:xfrm>
          <a:prstGeom prst="roundRect">
            <a:avLst>
              <a:gd name="adj" fmla="val 4500"/>
            </a:avLst>
          </a:prstGeom>
          <a:solidFill>
            <a:srgbClr val="E8F4EC"/>
          </a:solidFill>
          <a:ln w="6350">
            <a:solidFill>
              <a:srgbClr val="E8F4EC"/>
            </a:solidFill>
            <a:prstDash val="solid"/>
          </a:ln>
          <a:effectLst>
            <a:outerShdw sx="100000" sy="100000" kx="0" ky="0" algn="bl" rotWithShape="0" blurRad="76200" dist="12700" dir="5400000">
              <a:srgbClr val="8899A6">
                <a:alpha val="18000"/>
              </a:srgbClr>
            </a:outerShdw>
          </a:effectLst>
        </p:spPr>
      </p:sp>
      <p:sp>
        <p:nvSpPr>
          <p:cNvPr id="7" name="Shape 4"/>
          <p:cNvSpPr/>
          <p:nvPr/>
        </p:nvSpPr>
        <p:spPr>
          <a:xfrm>
            <a:off x="685800" y="5318893"/>
            <a:ext cx="365760" cy="365760"/>
          </a:xfrm>
          <a:prstGeom prst="ellipse">
            <a:avLst/>
          </a:prstGeom>
          <a:solidFill>
            <a:srgbClr val="1B7F4F"/>
          </a:solidFill>
          <a:ln w="6350">
            <a:solidFill>
              <a:srgbClr val="1B7F4F"/>
            </a:solidFill>
            <a:prstDash val="solid"/>
          </a:ln>
        </p:spPr>
      </p:sp>
      <p:sp>
        <p:nvSpPr>
          <p:cNvPr id="8" name="Text 5"/>
          <p:cNvSpPr/>
          <p:nvPr/>
        </p:nvSpPr>
        <p:spPr>
          <a:xfrm>
            <a:off x="685800" y="5318893"/>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9" name="Text 6"/>
          <p:cNvSpPr/>
          <p:nvPr/>
        </p:nvSpPr>
        <p:spPr>
          <a:xfrm>
            <a:off x="1161288" y="5309749"/>
            <a:ext cx="281635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Mean-pooling threw away position</a:t>
            </a:r>
            <a:endParaRPr lang="en-US" sz="1300" dirty="0"/>
          </a:p>
        </p:txBody>
      </p:sp>
      <p:sp>
        <p:nvSpPr>
          <p:cNvPr id="10" name="Text 7"/>
          <p:cNvSpPr/>
          <p:nvPr/>
        </p:nvSpPr>
        <p:spPr>
          <a:xfrm>
            <a:off x="704088" y="5730373"/>
            <a:ext cx="3255264" cy="524123"/>
          </a:xfrm>
          <a:prstGeom prst="rect">
            <a:avLst/>
          </a:prstGeom>
          <a:noFill/>
          <a:ln/>
        </p:spPr>
        <p:txBody>
          <a:bodyPr wrap="square" lIns="0" tIns="0" rIns="0" bIns="0" rtlCol="0" anchor="t"/>
          <a:lstStyle/>
          <a:p>
            <a:pPr indent="0" marL="0">
              <a:lnSpc>
                <a:spcPct val="100000"/>
              </a:lnSpc>
              <a:buNone/>
            </a:pPr>
            <a:r>
              <a:rPr lang="en-US" sz="1100" dirty="0">
                <a:solidFill>
                  <a:srgbClr val="1A1A1A"/>
                </a:solidFill>
                <a:latin typeface="Calibri" pitchFamily="34" charset="0"/>
                <a:ea typeface="Calibri" pitchFamily="34" charset="-122"/>
                <a:cs typeface="Calibri" pitchFamily="34" charset="-120"/>
              </a:rPr>
              <a:t>Chemical-shift position IS the signal in NMR. Averaging tokens destroys it: +0.030 to +0.129 recovered, on 5 of 5.</a:t>
            </a:r>
            <a:endParaRPr lang="en-US" sz="1100" dirty="0"/>
          </a:p>
        </p:txBody>
      </p:sp>
      <p:sp>
        <p:nvSpPr>
          <p:cNvPr id="11" name="Shape 8"/>
          <p:cNvSpPr/>
          <p:nvPr/>
        </p:nvSpPr>
        <p:spPr>
          <a:xfrm>
            <a:off x="4343400" y="5163445"/>
            <a:ext cx="3657600" cy="1219067"/>
          </a:xfrm>
          <a:prstGeom prst="roundRect">
            <a:avLst>
              <a:gd name="adj" fmla="val 4500"/>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12" name="Shape 9"/>
          <p:cNvSpPr/>
          <p:nvPr/>
        </p:nvSpPr>
        <p:spPr>
          <a:xfrm>
            <a:off x="4526280" y="5318893"/>
            <a:ext cx="365760" cy="365760"/>
          </a:xfrm>
          <a:prstGeom prst="ellipse">
            <a:avLst/>
          </a:prstGeom>
          <a:solidFill>
            <a:srgbClr val="1C7293"/>
          </a:solidFill>
          <a:ln w="6350">
            <a:solidFill>
              <a:srgbClr val="1C7293"/>
            </a:solidFill>
            <a:prstDash val="solid"/>
          </a:ln>
        </p:spPr>
      </p:sp>
      <p:sp>
        <p:nvSpPr>
          <p:cNvPr id="13" name="Text 10"/>
          <p:cNvSpPr/>
          <p:nvPr/>
        </p:nvSpPr>
        <p:spPr>
          <a:xfrm>
            <a:off x="4526280" y="5318893"/>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4" name="Text 11"/>
          <p:cNvSpPr/>
          <p:nvPr/>
        </p:nvSpPr>
        <p:spPr>
          <a:xfrm>
            <a:off x="5001768" y="5309749"/>
            <a:ext cx="281635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The optimum is in between</a:t>
            </a:r>
            <a:endParaRPr lang="en-US" sz="1300" dirty="0"/>
          </a:p>
        </p:txBody>
      </p:sp>
      <p:sp>
        <p:nvSpPr>
          <p:cNvPr id="15" name="Text 12"/>
          <p:cNvSpPr/>
          <p:nvPr/>
        </p:nvSpPr>
        <p:spPr>
          <a:xfrm>
            <a:off x="4544568" y="5730373"/>
            <a:ext cx="3255264" cy="524123"/>
          </a:xfrm>
          <a:prstGeom prst="rect">
            <a:avLst/>
          </a:prstGeom>
          <a:noFill/>
          <a:ln/>
        </p:spPr>
        <p:txBody>
          <a:bodyPr wrap="square" lIns="0" tIns="0" rIns="0" bIns="0" rtlCol="0" anchor="t"/>
          <a:lstStyle/>
          <a:p>
            <a:pPr indent="0" marL="0">
              <a:lnSpc>
                <a:spcPct val="100000"/>
              </a:lnSpc>
              <a:buNone/>
            </a:pPr>
            <a:r>
              <a:rPr lang="en-US" sz="1100" dirty="0">
                <a:solidFill>
                  <a:srgbClr val="1A1A1A"/>
                </a:solidFill>
                <a:latin typeface="Calibri" pitchFamily="34" charset="0"/>
                <a:ea typeface="Calibri" pitchFamily="34" charset="-122"/>
                <a:cs typeface="Calibri" pitchFamily="34" charset="-120"/>
              </a:rPr>
              <a:t>G = 16 matches a full flatten with 2,048 features instead of 16,384, and beats both extremes on 4 of 5.</a:t>
            </a:r>
            <a:endParaRPr lang="en-US" sz="1100" dirty="0"/>
          </a:p>
        </p:txBody>
      </p:sp>
      <p:sp>
        <p:nvSpPr>
          <p:cNvPr id="16" name="Shape 13"/>
          <p:cNvSpPr/>
          <p:nvPr/>
        </p:nvSpPr>
        <p:spPr>
          <a:xfrm>
            <a:off x="8183880" y="5163445"/>
            <a:ext cx="3474720" cy="1219067"/>
          </a:xfrm>
          <a:prstGeom prst="roundRect">
            <a:avLst>
              <a:gd name="adj" fmla="val 4500"/>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17" name="Shape 14"/>
          <p:cNvSpPr/>
          <p:nvPr/>
        </p:nvSpPr>
        <p:spPr>
          <a:xfrm>
            <a:off x="8366760" y="5318893"/>
            <a:ext cx="365760" cy="365760"/>
          </a:xfrm>
          <a:prstGeom prst="ellipse">
            <a:avLst/>
          </a:prstGeom>
          <a:solidFill>
            <a:srgbClr val="065A82"/>
          </a:solidFill>
          <a:ln w="6350">
            <a:solidFill>
              <a:srgbClr val="065A82"/>
            </a:solidFill>
            <a:prstDash val="solid"/>
          </a:ln>
        </p:spPr>
      </p:sp>
      <p:sp>
        <p:nvSpPr>
          <p:cNvPr id="18" name="Text 15"/>
          <p:cNvSpPr/>
          <p:nvPr/>
        </p:nvSpPr>
        <p:spPr>
          <a:xfrm>
            <a:off x="8366760" y="5318893"/>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9" name="Text 16"/>
          <p:cNvSpPr/>
          <p:nvPr/>
        </p:nvSpPr>
        <p:spPr>
          <a:xfrm>
            <a:off x="8842248" y="5309749"/>
            <a:ext cx="263347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Why this one is trustworthy</a:t>
            </a:r>
            <a:endParaRPr lang="en-US" sz="1300" dirty="0"/>
          </a:p>
        </p:txBody>
      </p:sp>
      <p:sp>
        <p:nvSpPr>
          <p:cNvPr id="20" name="Text 17"/>
          <p:cNvSpPr/>
          <p:nvPr/>
        </p:nvSpPr>
        <p:spPr>
          <a:xfrm>
            <a:off x="8385048" y="5730373"/>
            <a:ext cx="3072384" cy="524123"/>
          </a:xfrm>
          <a:prstGeom prst="rect">
            <a:avLst/>
          </a:prstGeom>
          <a:noFill/>
          <a:ln/>
        </p:spPr>
        <p:txBody>
          <a:bodyPr wrap="square" lIns="0" tIns="0" rIns="0" bIns="0" rtlCol="0" anchor="t"/>
          <a:lstStyle/>
          <a:p>
            <a:pPr indent="0" marL="0">
              <a:lnSpc>
                <a:spcPct val="100000"/>
              </a:lnSpc>
              <a:buNone/>
            </a:pPr>
            <a:r>
              <a:rPr lang="en-US" sz="1100" dirty="0">
                <a:solidFill>
                  <a:srgbClr val="1A1A1A"/>
                </a:solidFill>
                <a:latin typeface="Calibri" pitchFamily="34" charset="0"/>
                <a:ea typeface="Calibri" pitchFamily="34" charset="-122"/>
                <a:cs typeface="Calibri" pitchFamily="34" charset="-120"/>
              </a:rPr>
              <a:t>It is measured inside a fixed checkpoint, so it is paired — immune to the run-to-run noise in Part 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329184"/>
            <a:ext cx="10058400" cy="237744"/>
          </a:xfrm>
          <a:prstGeom prst="rect">
            <a:avLst/>
          </a:prstGeom>
          <a:noFill/>
          <a:ln/>
        </p:spPr>
        <p:txBody>
          <a:bodyPr wrap="square" lIns="0" tIns="0" rIns="0" bIns="0" rtlCol="0" anchor="ctr"/>
          <a:lstStyle/>
          <a:p>
            <a:pPr indent="0" marL="0">
              <a:buNone/>
            </a:pPr>
            <a:r>
              <a:rPr lang="en-US" sz="1150" b="1" spc="120" kern="0" dirty="0">
                <a:solidFill>
                  <a:srgbClr val="1C7293"/>
                </a:solidFill>
                <a:latin typeface="Calibri" pitchFamily="34" charset="0"/>
                <a:ea typeface="Calibri" pitchFamily="34" charset="-122"/>
                <a:cs typeface="Calibri" pitchFamily="34" charset="-120"/>
              </a:rPr>
              <a:t>PART 2 · WHERE THAT LEAVES US</a:t>
            </a:r>
            <a:endParaRPr lang="en-US" sz="1150" dirty="0"/>
          </a:p>
        </p:txBody>
      </p:sp>
      <p:sp>
        <p:nvSpPr>
          <p:cNvPr id="3" name="Text 1"/>
          <p:cNvSpPr/>
          <p:nvPr/>
        </p:nvSpPr>
        <p:spPr>
          <a:xfrm>
            <a:off x="502920" y="566928"/>
            <a:ext cx="11155680" cy="502920"/>
          </a:xfrm>
          <a:prstGeom prst="rect">
            <a:avLst/>
          </a:prstGeom>
          <a:noFill/>
          <a:ln/>
        </p:spPr>
        <p:txBody>
          <a:bodyPr wrap="square" lIns="0" tIns="0" rIns="0" bIns="0" rtlCol="0" anchor="ctr"/>
          <a:lstStyle/>
          <a:p>
            <a:pPr indent="0" marL="0">
              <a:buNone/>
            </a:pPr>
            <a:r>
              <a:rPr lang="en-US" sz="2700" b="1" dirty="0">
                <a:solidFill>
                  <a:srgbClr val="065A82"/>
                </a:solidFill>
                <a:latin typeface="Cambria" pitchFamily="34" charset="0"/>
                <a:ea typeface="Cambria" pitchFamily="34" charset="-122"/>
                <a:cs typeface="Cambria" pitchFamily="34" charset="-120"/>
              </a:rPr>
              <a:t>Both cheap wins combined — no retraining required</a:t>
            </a:r>
            <a:endParaRPr lang="en-US" sz="27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55680" cy="914400"/>
        </p:xfrm>
        <a:graphic>
          <a:graphicData uri="http://schemas.openxmlformats.org/drawingml/2006/table">
            <a:tbl>
              <a:tblPr/>
              <a:tblGrid>
                <a:gridCol w="2651760"/>
                <a:gridCol w="2194560"/>
                <a:gridCol w="2468880"/>
                <a:gridCol w="1737360"/>
                <a:gridCol w="2103120"/>
              </a:tblGrid>
              <a:tr h="36576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Target</a:t>
                      </a:r>
                      <a:endParaRPr lang="en-US" sz="12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Originally reported</a:t>
                      </a:r>
                      <a:endParaRPr lang="en-US" sz="12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Probe + flatten pooling</a:t>
                      </a:r>
                      <a:endParaRPr lang="en-US" sz="12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Classical</a:t>
                      </a:r>
                      <a:endParaRPr lang="en-US" sz="12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065A8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Verdict</a:t>
                      </a:r>
                      <a:endParaRPr lang="en-US" sz="12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065A82"/>
                    </a:solidFill>
                  </a:tcPr>
                </a:tc>
              </a:tr>
              <a:tr h="36576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Barth</a:t>
                      </a:r>
                      <a:endParaRPr lang="en-US" sz="12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Calibri" pitchFamily="34" charset="0"/>
                          <a:ea typeface="Calibri" pitchFamily="34" charset="-122"/>
                          <a:cs typeface="Calibri" pitchFamily="34" charset="-120"/>
                        </a:rPr>
                        <a:t>0.691</a:t>
                      </a:r>
                      <a:endParaRPr lang="en-US" sz="12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A1A1A"/>
                          </a:solidFill>
                          <a:latin typeface="Calibri" pitchFamily="34" charset="0"/>
                          <a:ea typeface="Calibri" pitchFamily="34" charset="-122"/>
                          <a:cs typeface="Calibri" pitchFamily="34" charset="-120"/>
                        </a:rPr>
                        <a:t>0.806</a:t>
                      </a:r>
                      <a:endParaRPr lang="en-US" sz="12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Calibri" pitchFamily="34" charset="0"/>
                          <a:ea typeface="Calibri" pitchFamily="34" charset="-122"/>
                          <a:cs typeface="Calibri" pitchFamily="34" charset="-120"/>
                        </a:rPr>
                        <a:t>0.705</a:t>
                      </a:r>
                      <a:endParaRPr lang="en-US" sz="12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B7F4F"/>
                          </a:solidFill>
                          <a:latin typeface="Calibri" pitchFamily="34" charset="0"/>
                          <a:ea typeface="Calibri" pitchFamily="34" charset="-122"/>
                          <a:cs typeface="Calibri" pitchFamily="34" charset="-120"/>
                        </a:rPr>
                        <a:t>SSL wins +0.101</a:t>
                      </a:r>
                      <a:endParaRPr lang="en-US" sz="12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MTBLS326</a:t>
                      </a:r>
                      <a:endParaRPr lang="en-US" sz="12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c>
                  <a:txBody>
                    <a:bodyPr/>
                    <a:lstStyle/>
                    <a:p>
                      <a:pPr algn="ctr" indent="0" marL="0">
                        <a:buNone/>
                      </a:pPr>
                      <a:r>
                        <a:rPr lang="en-US" sz="1200" dirty="0">
                          <a:solidFill>
                            <a:srgbClr val="1A1A1A"/>
                          </a:solidFill>
                          <a:latin typeface="Calibri" pitchFamily="34" charset="0"/>
                          <a:ea typeface="Calibri" pitchFamily="34" charset="-122"/>
                          <a:cs typeface="Calibri" pitchFamily="34" charset="-120"/>
                        </a:rPr>
                        <a:t>0.981</a:t>
                      </a:r>
                      <a:endParaRPr lang="en-US" sz="12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c>
                  <a:txBody>
                    <a:bodyPr/>
                    <a:lstStyle/>
                    <a:p>
                      <a:pPr algn="ctr" indent="0" marL="0">
                        <a:buNone/>
                      </a:pPr>
                      <a:r>
                        <a:rPr lang="en-US" sz="1200" b="1" dirty="0">
                          <a:solidFill>
                            <a:srgbClr val="1A1A1A"/>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c>
                  <a:txBody>
                    <a:bodyPr/>
                    <a:lstStyle/>
                    <a:p>
                      <a:pPr algn="ctr" indent="0" marL="0">
                        <a:buNone/>
                      </a:pPr>
                      <a:r>
                        <a:rPr lang="en-US" sz="1200" dirty="0">
                          <a:solidFill>
                            <a:srgbClr val="1A1A1A"/>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c>
                  <a:txBody>
                    <a:bodyPr/>
                    <a:lstStyle/>
                    <a:p>
                      <a:pPr algn="ctr" indent="0" marL="0">
                        <a:buNone/>
                      </a:pPr>
                      <a:r>
                        <a:rPr lang="en-US" sz="1200" b="1" dirty="0">
                          <a:solidFill>
                            <a:srgbClr val="1B7F4F"/>
                          </a:solidFill>
                          <a:latin typeface="Calibri" pitchFamily="34" charset="0"/>
                          <a:ea typeface="Calibri" pitchFamily="34" charset="-122"/>
                          <a:cs typeface="Calibri" pitchFamily="34" charset="-120"/>
                        </a:rPr>
                        <a:t>tie</a:t>
                      </a:r>
                      <a:endParaRPr lang="en-US" sz="12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r>
              <a:tr h="36576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BrC-T2D cancer</a:t>
                      </a:r>
                      <a:endParaRPr lang="en-US" sz="12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Calibri" pitchFamily="34" charset="0"/>
                          <a:ea typeface="Calibri" pitchFamily="34" charset="-122"/>
                          <a:cs typeface="Calibri" pitchFamily="34" charset="-120"/>
                        </a:rPr>
                        <a:t>0.796</a:t>
                      </a:r>
                      <a:endParaRPr lang="en-US" sz="12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Calibri" pitchFamily="34" charset="0"/>
                          <a:ea typeface="Calibri" pitchFamily="34" charset="-122"/>
                          <a:cs typeface="Calibri" pitchFamily="34" charset="-120"/>
                        </a:rPr>
                        <a:t>0.859</a:t>
                      </a:r>
                      <a:endParaRPr lang="en-US" sz="12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A1A1A"/>
                          </a:solidFill>
                          <a:latin typeface="Calibri" pitchFamily="34" charset="0"/>
                          <a:ea typeface="Calibri" pitchFamily="34" charset="-122"/>
                          <a:cs typeface="Calibri" pitchFamily="34" charset="-120"/>
                        </a:rPr>
                        <a:t>0.937</a:t>
                      </a:r>
                      <a:endParaRPr lang="en-US" sz="12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A32020"/>
                          </a:solidFill>
                          <a:latin typeface="Calibri" pitchFamily="34" charset="0"/>
                          <a:ea typeface="Calibri" pitchFamily="34" charset="-122"/>
                          <a:cs typeface="Calibri" pitchFamily="34" charset="-120"/>
                        </a:rPr>
                        <a:t>−0.078</a:t>
                      </a:r>
                      <a:endParaRPr lang="en-US" sz="12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BrC-T2D diabetes</a:t>
                      </a:r>
                      <a:endParaRPr lang="en-US" sz="12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c>
                  <a:txBody>
                    <a:bodyPr/>
                    <a:lstStyle/>
                    <a:p>
                      <a:pPr algn="ctr" indent="0" marL="0">
                        <a:buNone/>
                      </a:pPr>
                      <a:r>
                        <a:rPr lang="en-US" sz="1200" dirty="0">
                          <a:solidFill>
                            <a:srgbClr val="1A1A1A"/>
                          </a:solidFill>
                          <a:latin typeface="Calibri" pitchFamily="34" charset="0"/>
                          <a:ea typeface="Calibri" pitchFamily="34" charset="-122"/>
                          <a:cs typeface="Calibri" pitchFamily="34" charset="-120"/>
                        </a:rPr>
                        <a:t>0.653</a:t>
                      </a:r>
                      <a:endParaRPr lang="en-US" sz="12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c>
                  <a:txBody>
                    <a:bodyPr/>
                    <a:lstStyle/>
                    <a:p>
                      <a:pPr algn="ctr" indent="0" marL="0">
                        <a:buNone/>
                      </a:pPr>
                      <a:r>
                        <a:rPr lang="en-US" sz="1200" dirty="0">
                          <a:solidFill>
                            <a:srgbClr val="1A1A1A"/>
                          </a:solidFill>
                          <a:latin typeface="Calibri" pitchFamily="34" charset="0"/>
                          <a:ea typeface="Calibri" pitchFamily="34" charset="-122"/>
                          <a:cs typeface="Calibri" pitchFamily="34" charset="-120"/>
                        </a:rPr>
                        <a:t>0.783</a:t>
                      </a:r>
                      <a:endParaRPr lang="en-US" sz="12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c>
                  <a:txBody>
                    <a:bodyPr/>
                    <a:lstStyle/>
                    <a:p>
                      <a:pPr algn="ctr" indent="0" marL="0">
                        <a:buNone/>
                      </a:pPr>
                      <a:r>
                        <a:rPr lang="en-US" sz="1200" b="1" dirty="0">
                          <a:solidFill>
                            <a:srgbClr val="1A1A1A"/>
                          </a:solidFill>
                          <a:latin typeface="Calibri" pitchFamily="34" charset="0"/>
                          <a:ea typeface="Calibri" pitchFamily="34" charset="-122"/>
                          <a:cs typeface="Calibri" pitchFamily="34" charset="-120"/>
                        </a:rPr>
                        <a:t>0.829</a:t>
                      </a:r>
                      <a:endParaRPr lang="en-US" sz="12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c>
                  <a:txBody>
                    <a:bodyPr/>
                    <a:lstStyle/>
                    <a:p>
                      <a:pPr algn="ctr" indent="0" marL="0">
                        <a:buNone/>
                      </a:pPr>
                      <a:r>
                        <a:rPr lang="en-US" sz="1200" b="1" dirty="0">
                          <a:solidFill>
                            <a:srgbClr val="A32020"/>
                          </a:solidFill>
                          <a:latin typeface="Calibri" pitchFamily="34" charset="0"/>
                          <a:ea typeface="Calibri" pitchFamily="34" charset="-122"/>
                          <a:cs typeface="Calibri" pitchFamily="34" charset="-120"/>
                        </a:rPr>
                        <a:t>−0.046</a:t>
                      </a:r>
                      <a:endParaRPr lang="en-US" sz="12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r>
              <a:tr h="365760">
                <a:tc>
                  <a:txBody>
                    <a:bodyPr/>
                    <a:lstStyle/>
                    <a:p>
                      <a:pPr algn="l" indent="0" marL="0">
                        <a:buNone/>
                      </a:pPr>
                      <a:r>
                        <a:rPr lang="en-US" sz="1200" dirty="0">
                          <a:solidFill>
                            <a:srgbClr val="1A1A1A"/>
                          </a:solidFill>
                          <a:latin typeface="Calibri" pitchFamily="34" charset="0"/>
                          <a:ea typeface="Calibri" pitchFamily="34" charset="-122"/>
                          <a:cs typeface="Calibri" pitchFamily="34" charset="-120"/>
                        </a:rPr>
                        <a:t>MTBLS563</a:t>
                      </a:r>
                      <a:endParaRPr lang="en-US" sz="12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Calibri" pitchFamily="34" charset="0"/>
                          <a:ea typeface="Calibri" pitchFamily="34" charset="-122"/>
                          <a:cs typeface="Calibri" pitchFamily="34" charset="-120"/>
                        </a:rPr>
                        <a:t>0.558</a:t>
                      </a:r>
                      <a:endParaRPr lang="en-US" sz="12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A1A"/>
                          </a:solidFill>
                          <a:latin typeface="Calibri" pitchFamily="34" charset="0"/>
                          <a:ea typeface="Calibri" pitchFamily="34" charset="-122"/>
                          <a:cs typeface="Calibri" pitchFamily="34" charset="-120"/>
                        </a:rPr>
                        <a:t>0.621</a:t>
                      </a:r>
                      <a:endParaRPr lang="en-US" sz="12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A1A1A"/>
                          </a:solidFill>
                          <a:latin typeface="Calibri" pitchFamily="34" charset="0"/>
                          <a:ea typeface="Calibri" pitchFamily="34" charset="-122"/>
                          <a:cs typeface="Calibri" pitchFamily="34" charset="-120"/>
                        </a:rPr>
                        <a:t>0.721</a:t>
                      </a:r>
                      <a:endParaRPr lang="en-US" sz="12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A32020"/>
                          </a:solidFill>
                          <a:latin typeface="Calibri" pitchFamily="34" charset="0"/>
                          <a:ea typeface="Calibri" pitchFamily="34" charset="-122"/>
                          <a:cs typeface="Calibri" pitchFamily="34" charset="-120"/>
                        </a:rPr>
                        <a:t>−0.100</a:t>
                      </a:r>
                      <a:endParaRPr lang="en-US" sz="12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3794760"/>
            <a:ext cx="3566160" cy="1325880"/>
          </a:xfrm>
          <a:prstGeom prst="roundRect">
            <a:avLst>
              <a:gd name="adj" fmla="val 4138"/>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6" name="Text 3"/>
          <p:cNvSpPr/>
          <p:nvPr/>
        </p:nvSpPr>
        <p:spPr>
          <a:xfrm>
            <a:off x="502920" y="3886200"/>
            <a:ext cx="3566160" cy="609905"/>
          </a:xfrm>
          <a:prstGeom prst="rect">
            <a:avLst/>
          </a:prstGeom>
          <a:noFill/>
          <a:ln/>
        </p:spPr>
        <p:txBody>
          <a:bodyPr wrap="square" lIns="0" tIns="0" rIns="0" bIns="0" rtlCol="0" anchor="ctr"/>
          <a:lstStyle/>
          <a:p>
            <a:pPr algn="ctr" indent="0" marL="0">
              <a:buNone/>
            </a:pPr>
            <a:r>
              <a:rPr lang="en-US" sz="3200" b="1" dirty="0">
                <a:solidFill>
                  <a:srgbClr val="1B7F4F"/>
                </a:solidFill>
                <a:latin typeface="Cambria" pitchFamily="34" charset="0"/>
                <a:ea typeface="Cambria" pitchFamily="34" charset="-122"/>
                <a:cs typeface="Cambria" pitchFamily="34" charset="-120"/>
              </a:rPr>
              <a:t>+0.078</a:t>
            </a:r>
            <a:endParaRPr lang="en-US" sz="3200" dirty="0"/>
          </a:p>
        </p:txBody>
      </p:sp>
      <p:sp>
        <p:nvSpPr>
          <p:cNvPr id="7" name="Text 4"/>
          <p:cNvSpPr/>
          <p:nvPr/>
        </p:nvSpPr>
        <p:spPr>
          <a:xfrm>
            <a:off x="594360" y="4510735"/>
            <a:ext cx="3383280" cy="556870"/>
          </a:xfrm>
          <a:prstGeom prst="rect">
            <a:avLst/>
          </a:prstGeom>
          <a:noFill/>
          <a:ln/>
        </p:spPr>
        <p:txBody>
          <a:bodyPr wrap="square" lIns="0" tIns="0" rIns="0" bIns="0" rtlCol="0" anchor="t"/>
          <a:lstStyle/>
          <a:p>
            <a:pPr algn="ctr" indent="0" marL="0">
              <a:lnSpc>
                <a:spcPct val="93000"/>
              </a:lnSpc>
              <a:buNone/>
            </a:pPr>
            <a:r>
              <a:rPr lang="en-US" sz="950" dirty="0">
                <a:solidFill>
                  <a:srgbClr val="5C6670"/>
                </a:solidFill>
                <a:latin typeface="Calibri" pitchFamily="34" charset="0"/>
                <a:ea typeface="Calibri" pitchFamily="34" charset="-122"/>
                <a:cs typeface="Calibri" pitchFamily="34" charset="-120"/>
              </a:rPr>
              <a:t>mean gain over originally reported numbers</a:t>
            </a:r>
            <a:endParaRPr lang="en-US" sz="950" dirty="0"/>
          </a:p>
        </p:txBody>
      </p:sp>
      <p:sp>
        <p:nvSpPr>
          <p:cNvPr id="8" name="Shape 5"/>
          <p:cNvSpPr/>
          <p:nvPr/>
        </p:nvSpPr>
        <p:spPr>
          <a:xfrm>
            <a:off x="4297680" y="3794760"/>
            <a:ext cx="3566160" cy="1325880"/>
          </a:xfrm>
          <a:prstGeom prst="roundRect">
            <a:avLst>
              <a:gd name="adj" fmla="val 4138"/>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9" name="Text 6"/>
          <p:cNvSpPr/>
          <p:nvPr/>
        </p:nvSpPr>
        <p:spPr>
          <a:xfrm>
            <a:off x="4297680" y="3886200"/>
            <a:ext cx="3566160" cy="609905"/>
          </a:xfrm>
          <a:prstGeom prst="rect">
            <a:avLst/>
          </a:prstGeom>
          <a:noFill/>
          <a:ln/>
        </p:spPr>
        <p:txBody>
          <a:bodyPr wrap="square" lIns="0" tIns="0" rIns="0" bIns="0" rtlCol="0" anchor="ctr"/>
          <a:lstStyle/>
          <a:p>
            <a:pPr algn="ctr" indent="0" marL="0">
              <a:buNone/>
            </a:pPr>
            <a:r>
              <a:rPr lang="en-US" sz="2500" b="1" dirty="0">
                <a:solidFill>
                  <a:srgbClr val="065A82"/>
                </a:solidFill>
                <a:latin typeface="Cambria" pitchFamily="34" charset="0"/>
                <a:ea typeface="Cambria" pitchFamily="34" charset="-122"/>
                <a:cs typeface="Cambria" pitchFamily="34" charset="-120"/>
              </a:rPr>
              <a:t>1 W · 1 T · 3 L</a:t>
            </a:r>
            <a:endParaRPr lang="en-US" sz="2500" dirty="0"/>
          </a:p>
        </p:txBody>
      </p:sp>
      <p:sp>
        <p:nvSpPr>
          <p:cNvPr id="10" name="Text 7"/>
          <p:cNvSpPr/>
          <p:nvPr/>
        </p:nvSpPr>
        <p:spPr>
          <a:xfrm>
            <a:off x="4389120" y="4510735"/>
            <a:ext cx="3383280" cy="556870"/>
          </a:xfrm>
          <a:prstGeom prst="rect">
            <a:avLst/>
          </a:prstGeom>
          <a:noFill/>
          <a:ln/>
        </p:spPr>
        <p:txBody>
          <a:bodyPr wrap="square" lIns="0" tIns="0" rIns="0" bIns="0" rtlCol="0" anchor="t"/>
          <a:lstStyle/>
          <a:p>
            <a:pPr algn="ctr" indent="0" marL="0">
              <a:lnSpc>
                <a:spcPct val="93000"/>
              </a:lnSpc>
              <a:buNone/>
            </a:pPr>
            <a:r>
              <a:rPr lang="en-US" sz="950" dirty="0">
                <a:solidFill>
                  <a:srgbClr val="5C6670"/>
                </a:solidFill>
                <a:latin typeface="Calibri" pitchFamily="34" charset="0"/>
                <a:ea typeface="Calibri" pitchFamily="34" charset="-122"/>
                <a:cs typeface="Calibri" pitchFamily="34" charset="-120"/>
              </a:rPr>
              <a:t>record versus classical, up from 0 W · 0 T · 5 L</a:t>
            </a:r>
            <a:endParaRPr lang="en-US" sz="950" dirty="0"/>
          </a:p>
        </p:txBody>
      </p:sp>
      <p:sp>
        <p:nvSpPr>
          <p:cNvPr id="11" name="Shape 8"/>
          <p:cNvSpPr/>
          <p:nvPr/>
        </p:nvSpPr>
        <p:spPr>
          <a:xfrm>
            <a:off x="8092440" y="3794760"/>
            <a:ext cx="3566160" cy="1325880"/>
          </a:xfrm>
          <a:prstGeom prst="roundRect">
            <a:avLst>
              <a:gd name="adj" fmla="val 4138"/>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12" name="Text 9"/>
          <p:cNvSpPr/>
          <p:nvPr/>
        </p:nvSpPr>
        <p:spPr>
          <a:xfrm>
            <a:off x="8092440" y="3886200"/>
            <a:ext cx="3566160" cy="609905"/>
          </a:xfrm>
          <a:prstGeom prst="rect">
            <a:avLst/>
          </a:prstGeom>
          <a:noFill/>
          <a:ln/>
        </p:spPr>
        <p:txBody>
          <a:bodyPr wrap="square" lIns="0" tIns="0" rIns="0" bIns="0" rtlCol="0" anchor="ctr"/>
          <a:lstStyle/>
          <a:p>
            <a:pPr algn="ctr" indent="0" marL="0">
              <a:buNone/>
            </a:pPr>
            <a:r>
              <a:rPr lang="en-US" sz="2600" b="1" dirty="0">
                <a:solidFill>
                  <a:srgbClr val="1C7293"/>
                </a:solidFill>
                <a:latin typeface="Cambria" pitchFamily="34" charset="0"/>
                <a:ea typeface="Cambria" pitchFamily="34" charset="-122"/>
                <a:cs typeface="Cambria" pitchFamily="34" charset="-120"/>
              </a:rPr>
              <a:t>0 GPU-hours</a:t>
            </a:r>
            <a:endParaRPr lang="en-US" sz="2600" dirty="0"/>
          </a:p>
        </p:txBody>
      </p:sp>
      <p:sp>
        <p:nvSpPr>
          <p:cNvPr id="13" name="Text 10"/>
          <p:cNvSpPr/>
          <p:nvPr/>
        </p:nvSpPr>
        <p:spPr>
          <a:xfrm>
            <a:off x="8183880" y="4510735"/>
            <a:ext cx="3383280" cy="556870"/>
          </a:xfrm>
          <a:prstGeom prst="rect">
            <a:avLst/>
          </a:prstGeom>
          <a:noFill/>
          <a:ln/>
        </p:spPr>
        <p:txBody>
          <a:bodyPr wrap="square" lIns="0" tIns="0" rIns="0" bIns="0" rtlCol="0" anchor="t"/>
          <a:lstStyle/>
          <a:p>
            <a:pPr algn="ctr" indent="0" marL="0">
              <a:lnSpc>
                <a:spcPct val="93000"/>
              </a:lnSpc>
              <a:buNone/>
            </a:pPr>
            <a:r>
              <a:rPr lang="en-US" sz="950" dirty="0">
                <a:solidFill>
                  <a:srgbClr val="5C6670"/>
                </a:solidFill>
                <a:latin typeface="Calibri" pitchFamily="34" charset="0"/>
                <a:ea typeface="Calibri" pitchFamily="34" charset="-122"/>
                <a:cs typeface="Calibri" pitchFamily="34" charset="-120"/>
              </a:rPr>
              <a:t>both fixes are evaluation-side only</a:t>
            </a:r>
            <a:endParaRPr lang="en-US" sz="950" dirty="0"/>
          </a:p>
        </p:txBody>
      </p:sp>
      <p:sp>
        <p:nvSpPr>
          <p:cNvPr id="14" name="Shape 11"/>
          <p:cNvSpPr/>
          <p:nvPr/>
        </p:nvSpPr>
        <p:spPr>
          <a:xfrm>
            <a:off x="502920" y="5285232"/>
            <a:ext cx="11155680" cy="1097280"/>
          </a:xfrm>
          <a:prstGeom prst="roundRect">
            <a:avLst>
              <a:gd name="adj" fmla="val 5000"/>
            </a:avLst>
          </a:prstGeom>
          <a:solidFill>
            <a:srgbClr val="FBF0E8"/>
          </a:solidFill>
          <a:ln w="6350">
            <a:solidFill>
              <a:srgbClr val="FBF0E8"/>
            </a:solidFill>
            <a:prstDash val="solid"/>
          </a:ln>
          <a:effectLst>
            <a:outerShdw sx="100000" sy="100000" kx="0" ky="0" algn="bl" rotWithShape="0" blurRad="76200" dist="12700" dir="5400000">
              <a:srgbClr val="8899A6">
                <a:alpha val="18000"/>
              </a:srgbClr>
            </a:outerShdw>
          </a:effectLst>
        </p:spPr>
      </p:sp>
      <p:sp>
        <p:nvSpPr>
          <p:cNvPr id="15" name="Shape 12"/>
          <p:cNvSpPr/>
          <p:nvPr/>
        </p:nvSpPr>
        <p:spPr>
          <a:xfrm>
            <a:off x="685800" y="5440680"/>
            <a:ext cx="365760" cy="365760"/>
          </a:xfrm>
          <a:prstGeom prst="ellipse">
            <a:avLst/>
          </a:prstGeom>
          <a:solidFill>
            <a:srgbClr val="B36A00"/>
          </a:solidFill>
          <a:ln w="6350">
            <a:solidFill>
              <a:srgbClr val="B36A00"/>
            </a:solidFill>
            <a:prstDash val="solid"/>
          </a:ln>
        </p:spPr>
      </p:sp>
      <p:sp>
        <p:nvSpPr>
          <p:cNvPr id="16" name="Text 13"/>
          <p:cNvSpPr/>
          <p:nvPr/>
        </p:nvSpPr>
        <p:spPr>
          <a:xfrm>
            <a:off x="685800" y="54406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7" name="Text 14"/>
          <p:cNvSpPr/>
          <p:nvPr/>
        </p:nvSpPr>
        <p:spPr>
          <a:xfrm>
            <a:off x="1161288" y="5431536"/>
            <a:ext cx="1031443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A caveat I want to be explicit about</a:t>
            </a:r>
            <a:endParaRPr lang="en-US" sz="1300" dirty="0"/>
          </a:p>
        </p:txBody>
      </p:sp>
      <p:sp>
        <p:nvSpPr>
          <p:cNvPr id="18" name="Text 15"/>
          <p:cNvSpPr/>
          <p:nvPr/>
        </p:nvSpPr>
        <p:spPr>
          <a:xfrm>
            <a:off x="704088" y="5852160"/>
            <a:ext cx="10753344" cy="402336"/>
          </a:xfrm>
          <a:prstGeom prst="rect">
            <a:avLst/>
          </a:prstGeom>
          <a:noFill/>
          <a:ln/>
        </p:spPr>
        <p:txBody>
          <a:bodyPr wrap="square" lIns="0" tIns="0" rIns="0" bIns="0" rtlCol="0" anchor="t"/>
          <a:lstStyle/>
          <a:p>
            <a:pPr indent="0" marL="0">
              <a:lnSpc>
                <a:spcPct val="100000"/>
              </a:lnSpc>
              <a:buNone/>
            </a:pPr>
            <a:r>
              <a:rPr lang="en-US" sz="1100" dirty="0">
                <a:solidFill>
                  <a:srgbClr val="1A1A1A"/>
                </a:solidFill>
                <a:latin typeface="Calibri" pitchFamily="34" charset="0"/>
                <a:ea typeface="Calibri" pitchFamily="34" charset="-122"/>
                <a:cs typeface="Calibri" pitchFamily="34" charset="-120"/>
              </a:rPr>
              <a:t>Pooling G was chosen by inspecting these same datasets. From here on, configuration choices are made on a pre-committed selection subset (MTBLS563 + diabetes) and reported on the held-out three.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204A"/>
        </a:solidFill>
      </p:bgPr>
    </p:bg>
    <p:spTree>
      <p:nvGrpSpPr>
        <p:cNvPr id="1" name=""/>
        <p:cNvGrpSpPr/>
        <p:nvPr/>
      </p:nvGrpSpPr>
      <p:grpSpPr>
        <a:xfrm>
          <a:off x="0" y="0"/>
          <a:ext cx="0" cy="0"/>
          <a:chOff x="0" y="0"/>
          <a:chExt cx="0" cy="0"/>
        </a:xfrm>
      </p:grpSpPr>
      <p:sp>
        <p:nvSpPr>
          <p:cNvPr id="2" name="Shape 0"/>
          <p:cNvSpPr/>
          <p:nvPr/>
        </p:nvSpPr>
        <p:spPr>
          <a:xfrm>
            <a:off x="502920" y="2103120"/>
            <a:ext cx="960120" cy="960120"/>
          </a:xfrm>
          <a:prstGeom prst="ellipse">
            <a:avLst/>
          </a:prstGeom>
          <a:solidFill>
            <a:srgbClr val="1C7293"/>
          </a:solidFill>
          <a:ln w="6350">
            <a:solidFill>
              <a:srgbClr val="1C7293"/>
            </a:solidFill>
            <a:prstDash val="solid"/>
          </a:ln>
        </p:spPr>
      </p:sp>
      <p:sp>
        <p:nvSpPr>
          <p:cNvPr id="3" name="Text 1"/>
          <p:cNvSpPr/>
          <p:nvPr/>
        </p:nvSpPr>
        <p:spPr>
          <a:xfrm>
            <a:off x="502920" y="2103120"/>
            <a:ext cx="960120" cy="96012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3</a:t>
            </a:r>
            <a:endParaRPr lang="en-US" sz="3400" dirty="0"/>
          </a:p>
        </p:txBody>
      </p:sp>
      <p:sp>
        <p:nvSpPr>
          <p:cNvPr id="4" name="Text 2"/>
          <p:cNvSpPr/>
          <p:nvPr/>
        </p:nvSpPr>
        <p:spPr>
          <a:xfrm>
            <a:off x="1828800" y="2066544"/>
            <a:ext cx="9692640" cy="64008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Scaling and the pretext objective</a:t>
            </a:r>
            <a:endParaRPr lang="en-US" sz="3300" dirty="0"/>
          </a:p>
        </p:txBody>
      </p:sp>
      <p:sp>
        <p:nvSpPr>
          <p:cNvPr id="5" name="Text 3"/>
          <p:cNvSpPr/>
          <p:nvPr/>
        </p:nvSpPr>
        <p:spPr>
          <a:xfrm>
            <a:off x="1828800" y="2743200"/>
            <a:ext cx="9509760" cy="457200"/>
          </a:xfrm>
          <a:prstGeom prst="rect">
            <a:avLst/>
          </a:prstGeom>
          <a:noFill/>
          <a:ln/>
        </p:spPr>
        <p:txBody>
          <a:bodyPr wrap="square" lIns="0" tIns="0" rIns="0" bIns="0" rtlCol="0" anchor="t"/>
          <a:lstStyle/>
          <a:p>
            <a:pPr indent="0" marL="0">
              <a:lnSpc>
                <a:spcPct val="105000"/>
              </a:lnSpc>
              <a:buNone/>
            </a:pPr>
            <a:r>
              <a:rPr lang="en-US" sz="1450" dirty="0">
                <a:solidFill>
                  <a:srgbClr val="CBD6E6"/>
                </a:solidFill>
                <a:latin typeface="Calibri" pitchFamily="34" charset="0"/>
                <a:ea typeface="Calibri" pitchFamily="34" charset="-122"/>
                <a:cs typeface="Calibri" pitchFamily="34" charset="-120"/>
              </a:rPr>
              <a:t>Six more interventions. All failed — and the last exposed a problem with how we have been measuring everything.</a:t>
            </a:r>
            <a:endParaRPr lang="en-US" sz="1450" dirty="0"/>
          </a:p>
        </p:txBody>
      </p:sp>
      <p:sp>
        <p:nvSpPr>
          <p:cNvPr id="6" name="Text 4"/>
          <p:cNvSpPr/>
          <p:nvPr/>
        </p:nvSpPr>
        <p:spPr>
          <a:xfrm>
            <a:off x="1828800" y="3429000"/>
            <a:ext cx="9509760" cy="1371600"/>
          </a:xfrm>
          <a:prstGeom prst="rect">
            <a:avLst/>
          </a:prstGeom>
          <a:noFill/>
          <a:ln/>
        </p:spPr>
        <p:txBody>
          <a:bodyPr wrap="square" lIns="0" tIns="0" rIns="0" bIns="0" rtlCol="0" anchor="t"/>
          <a:lstStyle/>
          <a:p>
            <a:pPr marL="342900" indent="-342900">
              <a:lnSpc>
                <a:spcPct val="102000"/>
              </a:lnSpc>
              <a:spcAft>
                <a:spcPts val="700"/>
              </a:spcAft>
              <a:buSzPct val="100000"/>
              <a:buChar char="•"/>
            </a:pPr>
            <a:r>
              <a:rPr lang="en-US" sz="1250" dirty="0">
                <a:solidFill>
                  <a:srgbClr val="9FB2C9"/>
                </a:solidFill>
                <a:latin typeface="Calibri" pitchFamily="34" charset="0"/>
                <a:ea typeface="Calibri" pitchFamily="34" charset="-122"/>
                <a:cs typeface="Calibri" pitchFamily="34" charset="-120"/>
              </a:rPr>
              <a:t>Four capacity experiments: patch 128 / 256 / 2048, and a 2.7× wider-and-deeper backbone</a:t>
            </a:r>
            <a:endParaRPr lang="en-US" sz="1250" dirty="0"/>
          </a:p>
          <a:p>
            <a:pPr marL="342900" indent="-342900">
              <a:lnSpc>
                <a:spcPct val="102000"/>
              </a:lnSpc>
              <a:spcAft>
                <a:spcPts val="700"/>
              </a:spcAft>
              <a:buSzPct val="100000"/>
              <a:buChar char="•"/>
            </a:pPr>
            <a:r>
              <a:rPr lang="en-US" sz="1250" dirty="0">
                <a:solidFill>
                  <a:srgbClr val="9FB2C9"/>
                </a:solidFill>
                <a:latin typeface="Calibri" pitchFamily="34" charset="0"/>
                <a:ea typeface="Calibri" pitchFamily="34" charset="-122"/>
                <a:cs typeface="Calibri" pitchFamily="34" charset="-120"/>
              </a:rPr>
              <a:t>Experiment #7: block masking and peak-weighted reconstruction, as a 2×2 factorial</a:t>
            </a:r>
            <a:endParaRPr lang="en-US" sz="1250" dirty="0"/>
          </a:p>
          <a:p>
            <a:pPr marL="342900" indent="-342900">
              <a:lnSpc>
                <a:spcPct val="102000"/>
              </a:lnSpc>
              <a:spcAft>
                <a:spcPts val="700"/>
              </a:spcAft>
              <a:buSzPct val="100000"/>
              <a:buChar char="•"/>
            </a:pPr>
            <a:r>
              <a:rPr lang="en-US" sz="1250" dirty="0">
                <a:solidFill>
                  <a:srgbClr val="9FB2C9"/>
                </a:solidFill>
                <a:latin typeface="Calibri" pitchFamily="34" charset="0"/>
                <a:ea typeface="Calibri" pitchFamily="34" charset="-122"/>
                <a:cs typeface="Calibri" pitchFamily="34" charset="-120"/>
              </a:rPr>
              <a:t>Experiment #7b: replicates — and a noise floor that invalidates several earlier claims</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329184"/>
            <a:ext cx="10058400" cy="237744"/>
          </a:xfrm>
          <a:prstGeom prst="rect">
            <a:avLst/>
          </a:prstGeom>
          <a:noFill/>
          <a:ln/>
        </p:spPr>
        <p:txBody>
          <a:bodyPr wrap="square" lIns="0" tIns="0" rIns="0" bIns="0" rtlCol="0" anchor="ctr"/>
          <a:lstStyle/>
          <a:p>
            <a:pPr indent="0" marL="0">
              <a:buNone/>
            </a:pPr>
            <a:r>
              <a:rPr lang="en-US" sz="1150" b="1" spc="120" kern="0" dirty="0">
                <a:solidFill>
                  <a:srgbClr val="1C7293"/>
                </a:solidFill>
                <a:latin typeface="Calibri" pitchFamily="34" charset="0"/>
                <a:ea typeface="Calibri" pitchFamily="34" charset="-122"/>
                <a:cs typeface="Calibri" pitchFamily="34" charset="-120"/>
              </a:rPr>
              <a:t>PART 3 · CAPACITY</a:t>
            </a:r>
            <a:endParaRPr lang="en-US" sz="1150" dirty="0"/>
          </a:p>
        </p:txBody>
      </p:sp>
      <p:sp>
        <p:nvSpPr>
          <p:cNvPr id="3" name="Text 1"/>
          <p:cNvSpPr/>
          <p:nvPr/>
        </p:nvSpPr>
        <p:spPr>
          <a:xfrm>
            <a:off x="502920" y="566928"/>
            <a:ext cx="11155680" cy="502920"/>
          </a:xfrm>
          <a:prstGeom prst="rect">
            <a:avLst/>
          </a:prstGeom>
          <a:noFill/>
          <a:ln/>
        </p:spPr>
        <p:txBody>
          <a:bodyPr wrap="square" lIns="0" tIns="0" rIns="0" bIns="0" rtlCol="0" anchor="ctr"/>
          <a:lstStyle/>
          <a:p>
            <a:pPr indent="0" marL="0">
              <a:buNone/>
            </a:pPr>
            <a:r>
              <a:rPr lang="en-US" sz="2700" b="1" dirty="0">
                <a:solidFill>
                  <a:srgbClr val="065A82"/>
                </a:solidFill>
                <a:latin typeface="Cambria" pitchFamily="34" charset="0"/>
                <a:ea typeface="Cambria" pitchFamily="34" charset="-122"/>
                <a:cs typeface="Cambria" pitchFamily="34" charset="-120"/>
              </a:rPr>
              <a:t>Scaling the backbone: four attempts, no gain</a:t>
            </a:r>
            <a:endParaRPr lang="en-US" sz="2700" dirty="0"/>
          </a:p>
        </p:txBody>
      </p:sp>
      <p:pic>
        <p:nvPicPr>
          <p:cNvPr id="4" name="Image 0" descr="/home/nmrbox/0012/shasharma/Desktop/NMR_Metabolomics/results/plots/all_datasets_summary_v4/fig11_backbone_scaling.png">    </p:cNvPr>
          <p:cNvPicPr>
            <a:picLocks noChangeAspect="1"/>
          </p:cNvPicPr>
          <p:nvPr/>
        </p:nvPicPr>
        <p:blipFill>
          <a:blip r:embed="rId1"/>
          <a:stretch>
            <a:fillRect/>
          </a:stretch>
        </p:blipFill>
        <p:spPr>
          <a:xfrm>
            <a:off x="1188720" y="1188720"/>
            <a:ext cx="9784080" cy="3561733"/>
          </a:xfrm>
          <a:prstGeom prst="rect">
            <a:avLst/>
          </a:prstGeom>
        </p:spPr>
      </p:pic>
      <p:sp>
        <p:nvSpPr>
          <p:cNvPr id="5" name="Text 2"/>
          <p:cNvSpPr/>
          <p:nvPr/>
        </p:nvSpPr>
        <p:spPr>
          <a:xfrm>
            <a:off x="1188720" y="4796173"/>
            <a:ext cx="9784080" cy="310896"/>
          </a:xfrm>
          <a:prstGeom prst="rect">
            <a:avLst/>
          </a:prstGeom>
          <a:noFill/>
          <a:ln/>
        </p:spPr>
        <p:txBody>
          <a:bodyPr wrap="square" lIns="0" tIns="0" rIns="0" bIns="0" rtlCol="0" anchor="t"/>
          <a:lstStyle/>
          <a:p>
            <a:pPr indent="0" marL="0">
              <a:lnSpc>
                <a:spcPct val="95000"/>
              </a:lnSpc>
              <a:buNone/>
            </a:pPr>
            <a:r>
              <a:rPr lang="en-US" sz="950" i="1" dirty="0">
                <a:solidFill>
                  <a:srgbClr val="5C6670"/>
                </a:solidFill>
                <a:latin typeface="Calibri" pitchFamily="34" charset="0"/>
                <a:ea typeface="Calibri" pitchFamily="34" charset="-122"/>
                <a:cs typeface="Calibri" pitchFamily="34" charset="-120"/>
              </a:rPr>
              <a:t>Left: no new backbone beats the original 1.89M-parameter model at either pooling. Right: reconstruction loss does not predict transfer.</a:t>
            </a:r>
            <a:endParaRPr lang="en-US" sz="950" dirty="0"/>
          </a:p>
        </p:txBody>
      </p:sp>
      <p:sp>
        <p:nvSpPr>
          <p:cNvPr id="6" name="Shape 3"/>
          <p:cNvSpPr/>
          <p:nvPr/>
        </p:nvSpPr>
        <p:spPr>
          <a:xfrm>
            <a:off x="502920" y="5180221"/>
            <a:ext cx="3566160" cy="1202291"/>
          </a:xfrm>
          <a:prstGeom prst="roundRect">
            <a:avLst>
              <a:gd name="adj" fmla="val 4563"/>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7" name="Shape 4"/>
          <p:cNvSpPr/>
          <p:nvPr/>
        </p:nvSpPr>
        <p:spPr>
          <a:xfrm>
            <a:off x="685800" y="5335669"/>
            <a:ext cx="365760" cy="365760"/>
          </a:xfrm>
          <a:prstGeom prst="ellipse">
            <a:avLst/>
          </a:prstGeom>
          <a:solidFill>
            <a:srgbClr val="1C7293"/>
          </a:solidFill>
          <a:ln w="6350">
            <a:solidFill>
              <a:srgbClr val="1C7293"/>
            </a:solidFill>
            <a:prstDash val="solid"/>
          </a:ln>
        </p:spPr>
      </p:sp>
      <p:sp>
        <p:nvSpPr>
          <p:cNvPr id="8" name="Text 5"/>
          <p:cNvSpPr/>
          <p:nvPr/>
        </p:nvSpPr>
        <p:spPr>
          <a:xfrm>
            <a:off x="685800" y="5335669"/>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9" name="Text 6"/>
          <p:cNvSpPr/>
          <p:nvPr/>
        </p:nvSpPr>
        <p:spPr>
          <a:xfrm>
            <a:off x="1161288" y="5326525"/>
            <a:ext cx="272491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Capacity is not the bottleneck</a:t>
            </a:r>
            <a:endParaRPr lang="en-US" sz="1300" dirty="0"/>
          </a:p>
        </p:txBody>
      </p:sp>
      <p:sp>
        <p:nvSpPr>
          <p:cNvPr id="10" name="Text 7"/>
          <p:cNvSpPr/>
          <p:nvPr/>
        </p:nvSpPr>
        <p:spPr>
          <a:xfrm>
            <a:off x="704088" y="5747149"/>
            <a:ext cx="3163824" cy="507347"/>
          </a:xfrm>
          <a:prstGeom prst="rect">
            <a:avLst/>
          </a:prstGeom>
          <a:noFill/>
          <a:ln/>
        </p:spPr>
        <p:txBody>
          <a:bodyPr wrap="square" lIns="0" tIns="0" rIns="0" bIns="0" rtlCol="0" anchor="t"/>
          <a:lstStyle/>
          <a:p>
            <a:pPr indent="0" marL="0">
              <a:lnSpc>
                <a:spcPct val="100000"/>
              </a:lnSpc>
              <a:buNone/>
            </a:pPr>
            <a:r>
              <a:rPr lang="en-US" sz="1100" dirty="0">
                <a:solidFill>
                  <a:srgbClr val="1A1A1A"/>
                </a:solidFill>
                <a:latin typeface="Calibri" pitchFamily="34" charset="0"/>
                <a:ea typeface="Calibri" pitchFamily="34" charset="-122"/>
                <a:cs typeface="Calibri" pitchFamily="34" charset="-120"/>
              </a:rPr>
              <a:t>A 5.42M-parameter model, 2.9× the baseline, still lost. Capacity papers over bad pooling rather than fixing it.</a:t>
            </a:r>
            <a:endParaRPr lang="en-US" sz="1100" dirty="0"/>
          </a:p>
        </p:txBody>
      </p:sp>
      <p:sp>
        <p:nvSpPr>
          <p:cNvPr id="11" name="Shape 8"/>
          <p:cNvSpPr/>
          <p:nvPr/>
        </p:nvSpPr>
        <p:spPr>
          <a:xfrm>
            <a:off x="4251960" y="5180221"/>
            <a:ext cx="3566160" cy="1202291"/>
          </a:xfrm>
          <a:prstGeom prst="roundRect">
            <a:avLst>
              <a:gd name="adj" fmla="val 4563"/>
            </a:avLst>
          </a:prstGeom>
          <a:solidFill>
            <a:srgbClr val="FBECEC"/>
          </a:solidFill>
          <a:ln w="6350">
            <a:solidFill>
              <a:srgbClr val="FBECEC"/>
            </a:solidFill>
            <a:prstDash val="solid"/>
          </a:ln>
          <a:effectLst>
            <a:outerShdw sx="100000" sy="100000" kx="0" ky="0" algn="bl" rotWithShape="0" blurRad="76200" dist="12700" dir="5400000">
              <a:srgbClr val="8899A6">
                <a:alpha val="18000"/>
              </a:srgbClr>
            </a:outerShdw>
          </a:effectLst>
        </p:spPr>
      </p:sp>
      <p:sp>
        <p:nvSpPr>
          <p:cNvPr id="12" name="Shape 9"/>
          <p:cNvSpPr/>
          <p:nvPr/>
        </p:nvSpPr>
        <p:spPr>
          <a:xfrm>
            <a:off x="4434840" y="5335669"/>
            <a:ext cx="365760" cy="365760"/>
          </a:xfrm>
          <a:prstGeom prst="ellipse">
            <a:avLst/>
          </a:prstGeom>
          <a:solidFill>
            <a:srgbClr val="A32020"/>
          </a:solidFill>
          <a:ln w="6350">
            <a:solidFill>
              <a:srgbClr val="A32020"/>
            </a:solidFill>
            <a:prstDash val="solid"/>
          </a:ln>
        </p:spPr>
      </p:sp>
      <p:sp>
        <p:nvSpPr>
          <p:cNvPr id="13" name="Text 10"/>
          <p:cNvSpPr/>
          <p:nvPr/>
        </p:nvSpPr>
        <p:spPr>
          <a:xfrm>
            <a:off x="4434840" y="5335669"/>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4" name="Text 11"/>
          <p:cNvSpPr/>
          <p:nvPr/>
        </p:nvSpPr>
        <p:spPr>
          <a:xfrm>
            <a:off x="4910328" y="5326525"/>
            <a:ext cx="272491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Reconstruction loss misleads</a:t>
            </a:r>
            <a:endParaRPr lang="en-US" sz="1300" dirty="0"/>
          </a:p>
        </p:txBody>
      </p:sp>
      <p:sp>
        <p:nvSpPr>
          <p:cNvPr id="15" name="Text 12"/>
          <p:cNvSpPr/>
          <p:nvPr/>
        </p:nvSpPr>
        <p:spPr>
          <a:xfrm>
            <a:off x="4453128" y="5747149"/>
            <a:ext cx="3163824" cy="507347"/>
          </a:xfrm>
          <a:prstGeom prst="rect">
            <a:avLst/>
          </a:prstGeom>
          <a:noFill/>
          <a:ln/>
        </p:spPr>
        <p:txBody>
          <a:bodyPr wrap="square" lIns="0" tIns="0" rIns="0" bIns="0" rtlCol="0" anchor="t"/>
          <a:lstStyle/>
          <a:p>
            <a:pPr indent="0" marL="0">
              <a:lnSpc>
                <a:spcPct val="100000"/>
              </a:lnSpc>
              <a:buNone/>
            </a:pPr>
            <a:r>
              <a:rPr lang="en-US" sz="1100" dirty="0">
                <a:solidFill>
                  <a:srgbClr val="1A1A1A"/>
                </a:solidFill>
                <a:latin typeface="Calibri" pitchFamily="34" charset="0"/>
                <a:ea typeface="Calibri" pitchFamily="34" charset="-122"/>
                <a:cs typeface="Calibri" pitchFamily="34" charset="-120"/>
              </a:rPr>
              <a:t>Spearman with held-out accuracy is +0.60 — the wrong sign. Rule adopted: never select on reconstruction loss.</a:t>
            </a:r>
            <a:endParaRPr lang="en-US" sz="1100" dirty="0"/>
          </a:p>
        </p:txBody>
      </p:sp>
      <p:sp>
        <p:nvSpPr>
          <p:cNvPr id="16" name="Shape 13"/>
          <p:cNvSpPr/>
          <p:nvPr/>
        </p:nvSpPr>
        <p:spPr>
          <a:xfrm>
            <a:off x="8001000" y="5180221"/>
            <a:ext cx="3657600" cy="1202291"/>
          </a:xfrm>
          <a:prstGeom prst="roundRect">
            <a:avLst>
              <a:gd name="adj" fmla="val 4563"/>
            </a:avLst>
          </a:prstGeom>
          <a:solidFill>
            <a:srgbClr val="FBF0E8"/>
          </a:solidFill>
          <a:ln w="6350">
            <a:solidFill>
              <a:srgbClr val="FBF0E8"/>
            </a:solidFill>
            <a:prstDash val="solid"/>
          </a:ln>
          <a:effectLst>
            <a:outerShdw sx="100000" sy="100000" kx="0" ky="0" algn="bl" rotWithShape="0" blurRad="76200" dist="12700" dir="5400000">
              <a:srgbClr val="8899A6">
                <a:alpha val="18000"/>
              </a:srgbClr>
            </a:outerShdw>
          </a:effectLst>
        </p:spPr>
      </p:sp>
      <p:sp>
        <p:nvSpPr>
          <p:cNvPr id="17" name="Shape 14"/>
          <p:cNvSpPr/>
          <p:nvPr/>
        </p:nvSpPr>
        <p:spPr>
          <a:xfrm>
            <a:off x="8183880" y="5335669"/>
            <a:ext cx="365760" cy="365760"/>
          </a:xfrm>
          <a:prstGeom prst="ellipse">
            <a:avLst/>
          </a:prstGeom>
          <a:solidFill>
            <a:srgbClr val="B36A00"/>
          </a:solidFill>
          <a:ln w="6350">
            <a:solidFill>
              <a:srgbClr val="B36A00"/>
            </a:solidFill>
            <a:prstDash val="solid"/>
          </a:ln>
        </p:spPr>
      </p:sp>
      <p:sp>
        <p:nvSpPr>
          <p:cNvPr id="18" name="Text 15"/>
          <p:cNvSpPr/>
          <p:nvPr/>
        </p:nvSpPr>
        <p:spPr>
          <a:xfrm>
            <a:off x="8183880" y="5335669"/>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9" name="Text 16"/>
          <p:cNvSpPr/>
          <p:nvPr/>
        </p:nvSpPr>
        <p:spPr>
          <a:xfrm>
            <a:off x="8659368" y="5326525"/>
            <a:ext cx="281635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This slide is partly withdrawn</a:t>
            </a:r>
            <a:endParaRPr lang="en-US" sz="1300" dirty="0"/>
          </a:p>
        </p:txBody>
      </p:sp>
      <p:sp>
        <p:nvSpPr>
          <p:cNvPr id="20" name="Text 17"/>
          <p:cNvSpPr/>
          <p:nvPr/>
        </p:nvSpPr>
        <p:spPr>
          <a:xfrm>
            <a:off x="8202168" y="5747149"/>
            <a:ext cx="3255264" cy="507347"/>
          </a:xfrm>
          <a:prstGeom prst="rect">
            <a:avLst/>
          </a:prstGeom>
          <a:noFill/>
          <a:ln/>
        </p:spPr>
        <p:txBody>
          <a:bodyPr wrap="square" lIns="0" tIns="0" rIns="0" bIns="0" rtlCol="0" anchor="t"/>
          <a:lstStyle/>
          <a:p>
            <a:pPr indent="0" marL="0">
              <a:lnSpc>
                <a:spcPct val="100000"/>
              </a:lnSpc>
              <a:buNone/>
            </a:pPr>
            <a:r>
              <a:rPr lang="en-US" sz="1100" dirty="0">
                <a:solidFill>
                  <a:srgbClr val="1A1A1A"/>
                </a:solidFill>
                <a:latin typeface="Calibri" pitchFamily="34" charset="0"/>
                <a:ea typeface="Calibri" pitchFamily="34" charset="-122"/>
                <a:cs typeface="Calibri" pitchFamily="34" charset="-120"/>
              </a:rPr>
              <a:t>Its reference is a v3-pretrained checkpoint while the comparisons are v4. Two slides on, that turns out to matter more than the effect.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329184"/>
            <a:ext cx="10058400" cy="237744"/>
          </a:xfrm>
          <a:prstGeom prst="rect">
            <a:avLst/>
          </a:prstGeom>
          <a:noFill/>
          <a:ln/>
        </p:spPr>
        <p:txBody>
          <a:bodyPr wrap="square" lIns="0" tIns="0" rIns="0" bIns="0" rtlCol="0" anchor="ctr"/>
          <a:lstStyle/>
          <a:p>
            <a:pPr indent="0" marL="0">
              <a:buNone/>
            </a:pPr>
            <a:r>
              <a:rPr lang="en-US" sz="1150" b="1" spc="120" kern="0" dirty="0">
                <a:solidFill>
                  <a:srgbClr val="1C7293"/>
                </a:solidFill>
                <a:latin typeface="Calibri" pitchFamily="34" charset="0"/>
                <a:ea typeface="Calibri" pitchFamily="34" charset="-122"/>
                <a:cs typeface="Calibri" pitchFamily="34" charset="-120"/>
              </a:rPr>
              <a:t>PART 3 · OBJECTIVE</a:t>
            </a:r>
            <a:endParaRPr lang="en-US" sz="1150" dirty="0"/>
          </a:p>
        </p:txBody>
      </p:sp>
      <p:sp>
        <p:nvSpPr>
          <p:cNvPr id="3" name="Text 1"/>
          <p:cNvSpPr/>
          <p:nvPr/>
        </p:nvSpPr>
        <p:spPr>
          <a:xfrm>
            <a:off x="502920" y="566928"/>
            <a:ext cx="11155680" cy="502920"/>
          </a:xfrm>
          <a:prstGeom prst="rect">
            <a:avLst/>
          </a:prstGeom>
          <a:noFill/>
          <a:ln/>
        </p:spPr>
        <p:txBody>
          <a:bodyPr wrap="square" lIns="0" tIns="0" rIns="0" bIns="0" rtlCol="0" anchor="ctr"/>
          <a:lstStyle/>
          <a:p>
            <a:pPr indent="0" marL="0">
              <a:buNone/>
            </a:pPr>
            <a:r>
              <a:rPr lang="en-US" sz="2700" b="1" dirty="0">
                <a:solidFill>
                  <a:srgbClr val="065A82"/>
                </a:solidFill>
                <a:latin typeface="Cambria" pitchFamily="34" charset="0"/>
                <a:ea typeface="Cambria" pitchFamily="34" charset="-122"/>
                <a:cs typeface="Cambria" pitchFamily="34" charset="-120"/>
              </a:rPr>
              <a:t>Experiment #7: a harder, better-aligned pretext task</a:t>
            </a:r>
            <a:endParaRPr lang="en-US" sz="2700" dirty="0"/>
          </a:p>
        </p:txBody>
      </p:sp>
      <p:pic>
        <p:nvPicPr>
          <p:cNvPr id="4" name="Image 0" descr="/home/nmrbox/0012/shasharma/Desktop/NMR_Metabolomics/results/plots/all_datasets_summary_v4/fig12_exp7_factorial.png">    </p:cNvPr>
          <p:cNvPicPr>
            <a:picLocks noChangeAspect="1"/>
          </p:cNvPicPr>
          <p:nvPr/>
        </p:nvPicPr>
        <p:blipFill>
          <a:blip r:embed="rId1"/>
          <a:stretch>
            <a:fillRect/>
          </a:stretch>
        </p:blipFill>
        <p:spPr>
          <a:xfrm>
            <a:off x="914400" y="1188720"/>
            <a:ext cx="10332720" cy="3555650"/>
          </a:xfrm>
          <a:prstGeom prst="rect">
            <a:avLst/>
          </a:prstGeom>
        </p:spPr>
      </p:pic>
      <p:sp>
        <p:nvSpPr>
          <p:cNvPr id="5" name="Text 2"/>
          <p:cNvSpPr/>
          <p:nvPr/>
        </p:nvSpPr>
        <p:spPr>
          <a:xfrm>
            <a:off x="914400" y="4790090"/>
            <a:ext cx="10332720" cy="310896"/>
          </a:xfrm>
          <a:prstGeom prst="rect">
            <a:avLst/>
          </a:prstGeom>
          <a:noFill/>
          <a:ln/>
        </p:spPr>
        <p:txBody>
          <a:bodyPr wrap="square" lIns="0" tIns="0" rIns="0" bIns="0" rtlCol="0" anchor="t"/>
          <a:lstStyle/>
          <a:p>
            <a:pPr indent="0" marL="0">
              <a:lnSpc>
                <a:spcPct val="95000"/>
              </a:lnSpc>
              <a:buNone/>
            </a:pPr>
            <a:r>
              <a:rPr lang="en-US" sz="950" i="1" dirty="0">
                <a:solidFill>
                  <a:srgbClr val="5C6670"/>
                </a:solidFill>
                <a:latin typeface="Calibri" pitchFamily="34" charset="0"/>
                <a:ea typeface="Calibri" pitchFamily="34" charset="-122"/>
                <a:cs typeface="Calibri" pitchFamily="34" charset="-120"/>
              </a:rPr>
              <a:t>2×2 factorial. Identical geometry and corpus; only the pretext task differs. All four arms early-stopped normally.</a:t>
            </a:r>
            <a:endParaRPr lang="en-US" sz="950" dirty="0"/>
          </a:p>
        </p:txBody>
      </p:sp>
      <p:sp>
        <p:nvSpPr>
          <p:cNvPr id="6" name="Shape 3"/>
          <p:cNvSpPr/>
          <p:nvPr/>
        </p:nvSpPr>
        <p:spPr>
          <a:xfrm>
            <a:off x="502920" y="5174138"/>
            <a:ext cx="3566160" cy="1208374"/>
          </a:xfrm>
          <a:prstGeom prst="roundRect">
            <a:avLst>
              <a:gd name="adj" fmla="val 4540"/>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7" name="Shape 4"/>
          <p:cNvSpPr/>
          <p:nvPr/>
        </p:nvSpPr>
        <p:spPr>
          <a:xfrm>
            <a:off x="685800" y="5329586"/>
            <a:ext cx="365760" cy="365760"/>
          </a:xfrm>
          <a:prstGeom prst="ellipse">
            <a:avLst/>
          </a:prstGeom>
          <a:solidFill>
            <a:srgbClr val="065A82"/>
          </a:solidFill>
          <a:ln w="6350">
            <a:solidFill>
              <a:srgbClr val="065A82"/>
            </a:solidFill>
            <a:prstDash val="solid"/>
          </a:ln>
        </p:spPr>
      </p:sp>
      <p:sp>
        <p:nvSpPr>
          <p:cNvPr id="8" name="Text 5"/>
          <p:cNvSpPr/>
          <p:nvPr/>
        </p:nvSpPr>
        <p:spPr>
          <a:xfrm>
            <a:off x="685800" y="532958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9" name="Text 6"/>
          <p:cNvSpPr/>
          <p:nvPr/>
        </p:nvSpPr>
        <p:spPr>
          <a:xfrm>
            <a:off x="1161288" y="5320442"/>
            <a:ext cx="272491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Block masking: −0.030</a:t>
            </a:r>
            <a:endParaRPr lang="en-US" sz="1300" dirty="0"/>
          </a:p>
        </p:txBody>
      </p:sp>
      <p:sp>
        <p:nvSpPr>
          <p:cNvPr id="10" name="Text 7"/>
          <p:cNvSpPr/>
          <p:nvPr/>
        </p:nvSpPr>
        <p:spPr>
          <a:xfrm>
            <a:off x="704088" y="5741066"/>
            <a:ext cx="3163824" cy="513430"/>
          </a:xfrm>
          <a:prstGeom prst="rect">
            <a:avLst/>
          </a:prstGeom>
          <a:noFill/>
          <a:ln/>
        </p:spPr>
        <p:txBody>
          <a:bodyPr wrap="square" lIns="0" tIns="0" rIns="0" bIns="0" rtlCol="0" anchor="t"/>
          <a:lstStyle/>
          <a:p>
            <a:pPr indent="0" marL="0">
              <a:lnSpc>
                <a:spcPct val="100000"/>
              </a:lnSpc>
              <a:buNone/>
            </a:pPr>
            <a:r>
              <a:rPr lang="en-US" sz="1100" dirty="0">
                <a:solidFill>
                  <a:srgbClr val="1A1A1A"/>
                </a:solidFill>
                <a:latin typeface="Calibri" pitchFamily="34" charset="0"/>
                <a:ea typeface="Calibri" pitchFamily="34" charset="-122"/>
                <a:cs typeface="Calibri" pitchFamily="34" charset="-120"/>
              </a:rPr>
              <a:t>Contiguous 8-patch spans, so neighbour interpolation cannot solve it. It DID make the task 41% harder — and still lost.</a:t>
            </a:r>
            <a:endParaRPr lang="en-US" sz="1100" dirty="0"/>
          </a:p>
        </p:txBody>
      </p:sp>
      <p:sp>
        <p:nvSpPr>
          <p:cNvPr id="11" name="Shape 8"/>
          <p:cNvSpPr/>
          <p:nvPr/>
        </p:nvSpPr>
        <p:spPr>
          <a:xfrm>
            <a:off x="4251960" y="5174138"/>
            <a:ext cx="3566160" cy="1208374"/>
          </a:xfrm>
          <a:prstGeom prst="roundRect">
            <a:avLst>
              <a:gd name="adj" fmla="val 4540"/>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12" name="Shape 9"/>
          <p:cNvSpPr/>
          <p:nvPr/>
        </p:nvSpPr>
        <p:spPr>
          <a:xfrm>
            <a:off x="4434840" y="5329586"/>
            <a:ext cx="365760" cy="365760"/>
          </a:xfrm>
          <a:prstGeom prst="ellipse">
            <a:avLst/>
          </a:prstGeom>
          <a:solidFill>
            <a:srgbClr val="1C7293"/>
          </a:solidFill>
          <a:ln w="6350">
            <a:solidFill>
              <a:srgbClr val="1C7293"/>
            </a:solidFill>
            <a:prstDash val="solid"/>
          </a:ln>
        </p:spPr>
      </p:sp>
      <p:sp>
        <p:nvSpPr>
          <p:cNvPr id="13" name="Text 10"/>
          <p:cNvSpPr/>
          <p:nvPr/>
        </p:nvSpPr>
        <p:spPr>
          <a:xfrm>
            <a:off x="4434840" y="532958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4" name="Text 11"/>
          <p:cNvSpPr/>
          <p:nvPr/>
        </p:nvSpPr>
        <p:spPr>
          <a:xfrm>
            <a:off x="4910328" y="5320442"/>
            <a:ext cx="272491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Peak weighting: +0.011</a:t>
            </a:r>
            <a:endParaRPr lang="en-US" sz="1300" dirty="0"/>
          </a:p>
        </p:txBody>
      </p:sp>
      <p:sp>
        <p:nvSpPr>
          <p:cNvPr id="15" name="Text 12"/>
          <p:cNvSpPr/>
          <p:nvPr/>
        </p:nvSpPr>
        <p:spPr>
          <a:xfrm>
            <a:off x="4453128" y="5741066"/>
            <a:ext cx="3163824" cy="513430"/>
          </a:xfrm>
          <a:prstGeom prst="rect">
            <a:avLst/>
          </a:prstGeom>
          <a:noFill/>
          <a:ln/>
        </p:spPr>
        <p:txBody>
          <a:bodyPr wrap="square" lIns="0" tIns="0" rIns="0" bIns="0" rtlCol="0" anchor="t"/>
          <a:lstStyle/>
          <a:p>
            <a:pPr indent="0" marL="0">
              <a:lnSpc>
                <a:spcPct val="100000"/>
              </a:lnSpc>
              <a:buNone/>
            </a:pPr>
            <a:r>
              <a:rPr lang="en-US" sz="1100" dirty="0">
                <a:solidFill>
                  <a:srgbClr val="1A1A1A"/>
                </a:solidFill>
                <a:latin typeface="Calibri" pitchFamily="34" charset="0"/>
                <a:ea typeface="Calibri" pitchFamily="34" charset="-122"/>
                <a:cs typeface="Calibri" pitchFamily="34" charset="-120"/>
              </a:rPr>
              <a:t>Loss restricted to the top 25% of patches by magnitude. The best arm here — but it reverses on the next slide.</a:t>
            </a:r>
            <a:endParaRPr lang="en-US" sz="1100" dirty="0"/>
          </a:p>
        </p:txBody>
      </p:sp>
      <p:sp>
        <p:nvSpPr>
          <p:cNvPr id="16" name="Shape 13"/>
          <p:cNvSpPr/>
          <p:nvPr/>
        </p:nvSpPr>
        <p:spPr>
          <a:xfrm>
            <a:off x="8001000" y="5174138"/>
            <a:ext cx="3657600" cy="1208374"/>
          </a:xfrm>
          <a:prstGeom prst="roundRect">
            <a:avLst>
              <a:gd name="adj" fmla="val 4540"/>
            </a:avLst>
          </a:prstGeom>
          <a:solidFill>
            <a:srgbClr val="FBECEC"/>
          </a:solidFill>
          <a:ln w="6350">
            <a:solidFill>
              <a:srgbClr val="FBECEC"/>
            </a:solidFill>
            <a:prstDash val="solid"/>
          </a:ln>
          <a:effectLst>
            <a:outerShdw sx="100000" sy="100000" kx="0" ky="0" algn="bl" rotWithShape="0" blurRad="76200" dist="12700" dir="5400000">
              <a:srgbClr val="8899A6">
                <a:alpha val="18000"/>
              </a:srgbClr>
            </a:outerShdw>
          </a:effectLst>
        </p:spPr>
      </p:sp>
      <p:sp>
        <p:nvSpPr>
          <p:cNvPr id="17" name="Shape 14"/>
          <p:cNvSpPr/>
          <p:nvPr/>
        </p:nvSpPr>
        <p:spPr>
          <a:xfrm>
            <a:off x="8183880" y="5329586"/>
            <a:ext cx="365760" cy="365760"/>
          </a:xfrm>
          <a:prstGeom prst="ellipse">
            <a:avLst/>
          </a:prstGeom>
          <a:solidFill>
            <a:srgbClr val="A32020"/>
          </a:solidFill>
          <a:ln w="6350">
            <a:solidFill>
              <a:srgbClr val="A32020"/>
            </a:solidFill>
            <a:prstDash val="solid"/>
          </a:ln>
        </p:spPr>
      </p:sp>
      <p:sp>
        <p:nvSpPr>
          <p:cNvPr id="18" name="Text 15"/>
          <p:cNvSpPr/>
          <p:nvPr/>
        </p:nvSpPr>
        <p:spPr>
          <a:xfrm>
            <a:off x="8183880" y="532958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9" name="Text 16"/>
          <p:cNvSpPr/>
          <p:nvPr/>
        </p:nvSpPr>
        <p:spPr>
          <a:xfrm>
            <a:off x="8659368" y="5320442"/>
            <a:ext cx="281635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No arm reaches classical</a:t>
            </a:r>
            <a:endParaRPr lang="en-US" sz="1300" dirty="0"/>
          </a:p>
        </p:txBody>
      </p:sp>
      <p:sp>
        <p:nvSpPr>
          <p:cNvPr id="20" name="Text 17"/>
          <p:cNvSpPr/>
          <p:nvPr/>
        </p:nvSpPr>
        <p:spPr>
          <a:xfrm>
            <a:off x="8202168" y="5741066"/>
            <a:ext cx="3255264" cy="513430"/>
          </a:xfrm>
          <a:prstGeom prst="rect">
            <a:avLst/>
          </a:prstGeom>
          <a:noFill/>
          <a:ln/>
        </p:spPr>
        <p:txBody>
          <a:bodyPr wrap="square" lIns="0" tIns="0" rIns="0" bIns="0" rtlCol="0" anchor="t"/>
          <a:lstStyle/>
          <a:p>
            <a:pPr indent="0" marL="0">
              <a:lnSpc>
                <a:spcPct val="100000"/>
              </a:lnSpc>
              <a:buNone/>
            </a:pPr>
            <a:r>
              <a:rPr lang="en-US" sz="1100" dirty="0">
                <a:solidFill>
                  <a:srgbClr val="1A1A1A"/>
                </a:solidFill>
                <a:latin typeface="Calibri" pitchFamily="34" charset="0"/>
                <a:ea typeface="Calibri" pitchFamily="34" charset="-122"/>
                <a:cs typeface="Calibri" pitchFamily="34" charset="-120"/>
              </a:rPr>
              <a:t>Best held-out mean 0.834 against 0.881. The factorial's real payoff was its reference arm, which exposed the confound overleaf.</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329184"/>
            <a:ext cx="10058400" cy="237744"/>
          </a:xfrm>
          <a:prstGeom prst="rect">
            <a:avLst/>
          </a:prstGeom>
          <a:noFill/>
          <a:ln/>
        </p:spPr>
        <p:txBody>
          <a:bodyPr wrap="square" lIns="0" tIns="0" rIns="0" bIns="0" rtlCol="0" anchor="ctr"/>
          <a:lstStyle/>
          <a:p>
            <a:pPr indent="0" marL="0">
              <a:buNone/>
            </a:pPr>
            <a:r>
              <a:rPr lang="en-US" sz="1150" b="1" spc="120" kern="0" dirty="0">
                <a:solidFill>
                  <a:srgbClr val="1C7293"/>
                </a:solidFill>
                <a:latin typeface="Calibri" pitchFamily="34" charset="0"/>
                <a:ea typeface="Calibri" pitchFamily="34" charset="-122"/>
                <a:cs typeface="Calibri" pitchFamily="34" charset="-120"/>
              </a:rPr>
              <a:t>PART 3 · EXPERIMENT #7b</a:t>
            </a:r>
            <a:endParaRPr lang="en-US" sz="1150" dirty="0"/>
          </a:p>
        </p:txBody>
      </p:sp>
      <p:sp>
        <p:nvSpPr>
          <p:cNvPr id="3" name="Text 1"/>
          <p:cNvSpPr/>
          <p:nvPr/>
        </p:nvSpPr>
        <p:spPr>
          <a:xfrm>
            <a:off x="502920" y="566928"/>
            <a:ext cx="11155680" cy="502920"/>
          </a:xfrm>
          <a:prstGeom prst="rect">
            <a:avLst/>
          </a:prstGeom>
          <a:noFill/>
          <a:ln/>
        </p:spPr>
        <p:txBody>
          <a:bodyPr wrap="square" lIns="0" tIns="0" rIns="0" bIns="0" rtlCol="0" anchor="ctr"/>
          <a:lstStyle/>
          <a:p>
            <a:pPr indent="0" marL="0">
              <a:buNone/>
            </a:pPr>
            <a:r>
              <a:rPr lang="en-US" sz="2700" b="1" dirty="0">
                <a:solidFill>
                  <a:srgbClr val="065A82"/>
                </a:solidFill>
                <a:latin typeface="Cambria" pitchFamily="34" charset="0"/>
                <a:ea typeface="Cambria" pitchFamily="34" charset="-122"/>
                <a:cs typeface="Cambria" pitchFamily="34" charset="-120"/>
              </a:rPr>
              <a:t>The corpus matters more than the model</a:t>
            </a:r>
            <a:endParaRPr lang="en-US" sz="2700" dirty="0"/>
          </a:p>
        </p:txBody>
      </p:sp>
      <p:pic>
        <p:nvPicPr>
          <p:cNvPr id="4" name="Image 0" descr="/home/nmrbox/0012/shasharma/Desktop/NMR_Metabolomics/results/plots/all_datasets_summary_v4/fig13_exp7_replicates.png">    </p:cNvPr>
          <p:cNvPicPr>
            <a:picLocks noChangeAspect="1"/>
          </p:cNvPicPr>
          <p:nvPr/>
        </p:nvPicPr>
        <p:blipFill>
          <a:blip r:embed="rId1"/>
          <a:stretch>
            <a:fillRect/>
          </a:stretch>
        </p:blipFill>
        <p:spPr>
          <a:xfrm>
            <a:off x="914400" y="1188720"/>
            <a:ext cx="10332720" cy="3590243"/>
          </a:xfrm>
          <a:prstGeom prst="rect">
            <a:avLst/>
          </a:prstGeom>
        </p:spPr>
      </p:pic>
      <p:sp>
        <p:nvSpPr>
          <p:cNvPr id="5" name="Text 2"/>
          <p:cNvSpPr/>
          <p:nvPr/>
        </p:nvSpPr>
        <p:spPr>
          <a:xfrm>
            <a:off x="914400" y="4824683"/>
            <a:ext cx="10332720" cy="310896"/>
          </a:xfrm>
          <a:prstGeom prst="rect">
            <a:avLst/>
          </a:prstGeom>
          <a:noFill/>
          <a:ln/>
        </p:spPr>
        <p:txBody>
          <a:bodyPr wrap="square" lIns="0" tIns="0" rIns="0" bIns="0" rtlCol="0" anchor="t"/>
          <a:lstStyle/>
          <a:p>
            <a:pPr indent="0" marL="0">
              <a:lnSpc>
                <a:spcPct val="95000"/>
              </a:lnSpc>
              <a:buNone/>
            </a:pPr>
            <a:r>
              <a:rPr lang="en-US" sz="950" i="1" dirty="0">
                <a:solidFill>
                  <a:srgbClr val="5C6670"/>
                </a:solidFill>
                <a:latin typeface="Calibri" pitchFamily="34" charset="0"/>
                <a:ea typeface="Calibri" pitchFamily="34" charset="-122"/>
                <a:cs typeface="Calibri" pitchFamily="34" charset="-120"/>
              </a:rPr>
              <a:t>Left: three independent runs of one configuration. Middle: peak weighting judged against a matched corpus. Right: every claim in the record against the measured noise floor.</a:t>
            </a:r>
            <a:endParaRPr lang="en-US" sz="950" dirty="0"/>
          </a:p>
        </p:txBody>
      </p:sp>
      <p:sp>
        <p:nvSpPr>
          <p:cNvPr id="6" name="Shape 3"/>
          <p:cNvSpPr/>
          <p:nvPr/>
        </p:nvSpPr>
        <p:spPr>
          <a:xfrm>
            <a:off x="502920" y="5208731"/>
            <a:ext cx="3566160" cy="1173781"/>
          </a:xfrm>
          <a:prstGeom prst="roundRect">
            <a:avLst>
              <a:gd name="adj" fmla="val 4674"/>
            </a:avLst>
          </a:prstGeom>
          <a:solidFill>
            <a:srgbClr val="FBECEC"/>
          </a:solidFill>
          <a:ln w="6350">
            <a:solidFill>
              <a:srgbClr val="FBECEC"/>
            </a:solidFill>
            <a:prstDash val="solid"/>
          </a:ln>
          <a:effectLst>
            <a:outerShdw sx="100000" sy="100000" kx="0" ky="0" algn="bl" rotWithShape="0" blurRad="76200" dist="12700" dir="5400000">
              <a:srgbClr val="8899A6">
                <a:alpha val="18000"/>
              </a:srgbClr>
            </a:outerShdw>
          </a:effectLst>
        </p:spPr>
      </p:sp>
      <p:sp>
        <p:nvSpPr>
          <p:cNvPr id="7" name="Shape 4"/>
          <p:cNvSpPr/>
          <p:nvPr/>
        </p:nvSpPr>
        <p:spPr>
          <a:xfrm>
            <a:off x="685800" y="5364179"/>
            <a:ext cx="365760" cy="365760"/>
          </a:xfrm>
          <a:prstGeom prst="ellipse">
            <a:avLst/>
          </a:prstGeom>
          <a:solidFill>
            <a:srgbClr val="A32020"/>
          </a:solidFill>
          <a:ln w="6350">
            <a:solidFill>
              <a:srgbClr val="A32020"/>
            </a:solidFill>
            <a:prstDash val="solid"/>
          </a:ln>
        </p:spPr>
      </p:sp>
      <p:sp>
        <p:nvSpPr>
          <p:cNvPr id="8" name="Text 5"/>
          <p:cNvSpPr/>
          <p:nvPr/>
        </p:nvSpPr>
        <p:spPr>
          <a:xfrm>
            <a:off x="685800" y="5364179"/>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p:nvPr/>
        </p:nvSpPr>
        <p:spPr>
          <a:xfrm>
            <a:off x="1161288" y="5355035"/>
            <a:ext cx="272491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v3 → v4 cost us 0.069</a:t>
            </a:r>
            <a:endParaRPr lang="en-US" sz="1300" dirty="0"/>
          </a:p>
        </p:txBody>
      </p:sp>
      <p:sp>
        <p:nvSpPr>
          <p:cNvPr id="10" name="Text 7"/>
          <p:cNvSpPr/>
          <p:nvPr/>
        </p:nvSpPr>
        <p:spPr>
          <a:xfrm>
            <a:off x="704088" y="5775659"/>
            <a:ext cx="3163824" cy="478837"/>
          </a:xfrm>
          <a:prstGeom prst="rect">
            <a:avLst/>
          </a:prstGeom>
          <a:noFill/>
          <a:ln/>
        </p:spPr>
        <p:txBody>
          <a:bodyPr wrap="square" lIns="0" tIns="0" rIns="0" bIns="0" rtlCol="0" anchor="t"/>
          <a:lstStyle/>
          <a:p>
            <a:pPr indent="0" marL="0">
              <a:lnSpc>
                <a:spcPct val="100000"/>
              </a:lnSpc>
              <a:buNone/>
            </a:pPr>
            <a:r>
              <a:rPr lang="en-US" sz="1100" dirty="0">
                <a:solidFill>
                  <a:srgbClr val="1A1A1A"/>
                </a:solidFill>
                <a:latin typeface="Calibri" pitchFamily="34" charset="0"/>
                <a:ea typeface="Calibri" pitchFamily="34" charset="-122"/>
                <a:cs typeface="Calibri" pitchFamily="34" charset="-120"/>
              </a:rPr>
              <a:t>Three replicates on v4 land at 0.820 / 0.823 / 0.816. The v3 reference is 0.888 — above the whole cluster. Our EDTA “fix” hurt transfer.</a:t>
            </a:r>
            <a:endParaRPr lang="en-US" sz="1100" dirty="0"/>
          </a:p>
        </p:txBody>
      </p:sp>
      <p:sp>
        <p:nvSpPr>
          <p:cNvPr id="11" name="Shape 8"/>
          <p:cNvSpPr/>
          <p:nvPr/>
        </p:nvSpPr>
        <p:spPr>
          <a:xfrm>
            <a:off x="4251960" y="5208731"/>
            <a:ext cx="3566160" cy="1173781"/>
          </a:xfrm>
          <a:prstGeom prst="roundRect">
            <a:avLst>
              <a:gd name="adj" fmla="val 4674"/>
            </a:avLst>
          </a:prstGeom>
          <a:solidFill>
            <a:srgbClr val="FBECEC"/>
          </a:solidFill>
          <a:ln w="6350">
            <a:solidFill>
              <a:srgbClr val="FBECEC"/>
            </a:solidFill>
            <a:prstDash val="solid"/>
          </a:ln>
          <a:effectLst>
            <a:outerShdw sx="100000" sy="100000" kx="0" ky="0" algn="bl" rotWithShape="0" blurRad="76200" dist="12700" dir="5400000">
              <a:srgbClr val="8899A6">
                <a:alpha val="18000"/>
              </a:srgbClr>
            </a:outerShdw>
          </a:effectLst>
        </p:spPr>
      </p:sp>
      <p:sp>
        <p:nvSpPr>
          <p:cNvPr id="12" name="Shape 9"/>
          <p:cNvSpPr/>
          <p:nvPr/>
        </p:nvSpPr>
        <p:spPr>
          <a:xfrm>
            <a:off x="4434840" y="5364179"/>
            <a:ext cx="365760" cy="365760"/>
          </a:xfrm>
          <a:prstGeom prst="ellipse">
            <a:avLst/>
          </a:prstGeom>
          <a:solidFill>
            <a:srgbClr val="A32020"/>
          </a:solidFill>
          <a:ln w="6350">
            <a:solidFill>
              <a:srgbClr val="A32020"/>
            </a:solidFill>
            <a:prstDash val="solid"/>
          </a:ln>
        </p:spPr>
      </p:sp>
      <p:sp>
        <p:nvSpPr>
          <p:cNvPr id="13" name="Text 10"/>
          <p:cNvSpPr/>
          <p:nvPr/>
        </p:nvSpPr>
        <p:spPr>
          <a:xfrm>
            <a:off x="4434840" y="5364179"/>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1"/>
          <p:cNvSpPr/>
          <p:nvPr/>
        </p:nvSpPr>
        <p:spPr>
          <a:xfrm>
            <a:off x="4910328" y="5355035"/>
            <a:ext cx="272491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Peak weighting actually loses</a:t>
            </a:r>
            <a:endParaRPr lang="en-US" sz="1300" dirty="0"/>
          </a:p>
        </p:txBody>
      </p:sp>
      <p:sp>
        <p:nvSpPr>
          <p:cNvPr id="15" name="Text 12"/>
          <p:cNvSpPr/>
          <p:nvPr/>
        </p:nvSpPr>
        <p:spPr>
          <a:xfrm>
            <a:off x="4453128" y="5775659"/>
            <a:ext cx="3163824" cy="478837"/>
          </a:xfrm>
          <a:prstGeom prst="rect">
            <a:avLst/>
          </a:prstGeom>
          <a:noFill/>
          <a:ln/>
        </p:spPr>
        <p:txBody>
          <a:bodyPr wrap="square" lIns="0" tIns="0" rIns="0" bIns="0" rtlCol="0" anchor="t"/>
          <a:lstStyle/>
          <a:p>
            <a:pPr indent="0" marL="0">
              <a:lnSpc>
                <a:spcPct val="100000"/>
              </a:lnSpc>
              <a:buNone/>
            </a:pPr>
            <a:r>
              <a:rPr lang="en-US" sz="1100" dirty="0">
                <a:solidFill>
                  <a:srgbClr val="1A1A1A"/>
                </a:solidFill>
                <a:latin typeface="Calibri" pitchFamily="34" charset="0"/>
                <a:ea typeface="Calibri" pitchFamily="34" charset="-122"/>
                <a:cs typeface="Calibri" pitchFamily="34" charset="-120"/>
              </a:rPr>
              <a:t>Matched on v3 it scores −0.039 held-out and −0.142 on diabetes. Its +0.011 was an artefact of a corpus-depressed baseline.</a:t>
            </a:r>
            <a:endParaRPr lang="en-US" sz="1100" dirty="0"/>
          </a:p>
        </p:txBody>
      </p:sp>
      <p:sp>
        <p:nvSpPr>
          <p:cNvPr id="16" name="Shape 13"/>
          <p:cNvSpPr/>
          <p:nvPr/>
        </p:nvSpPr>
        <p:spPr>
          <a:xfrm>
            <a:off x="8001000" y="5208731"/>
            <a:ext cx="3657600" cy="1173781"/>
          </a:xfrm>
          <a:prstGeom prst="roundRect">
            <a:avLst>
              <a:gd name="adj" fmla="val 4674"/>
            </a:avLst>
          </a:prstGeom>
          <a:solidFill>
            <a:srgbClr val="FBF0E8"/>
          </a:solidFill>
          <a:ln w="6350">
            <a:solidFill>
              <a:srgbClr val="FBF0E8"/>
            </a:solidFill>
            <a:prstDash val="solid"/>
          </a:ln>
          <a:effectLst>
            <a:outerShdw sx="100000" sy="100000" kx="0" ky="0" algn="bl" rotWithShape="0" blurRad="76200" dist="12700" dir="5400000">
              <a:srgbClr val="8899A6">
                <a:alpha val="18000"/>
              </a:srgbClr>
            </a:outerShdw>
          </a:effectLst>
        </p:spPr>
      </p:sp>
      <p:sp>
        <p:nvSpPr>
          <p:cNvPr id="17" name="Shape 14"/>
          <p:cNvSpPr/>
          <p:nvPr/>
        </p:nvSpPr>
        <p:spPr>
          <a:xfrm>
            <a:off x="8183880" y="5364179"/>
            <a:ext cx="365760" cy="365760"/>
          </a:xfrm>
          <a:prstGeom prst="ellipse">
            <a:avLst/>
          </a:prstGeom>
          <a:solidFill>
            <a:srgbClr val="B36A00"/>
          </a:solidFill>
          <a:ln w="6350">
            <a:solidFill>
              <a:srgbClr val="B36A00"/>
            </a:solidFill>
            <a:prstDash val="solid"/>
          </a:ln>
        </p:spPr>
      </p:sp>
      <p:sp>
        <p:nvSpPr>
          <p:cNvPr id="18" name="Text 15"/>
          <p:cNvSpPr/>
          <p:nvPr/>
        </p:nvSpPr>
        <p:spPr>
          <a:xfrm>
            <a:off x="8183880" y="5364179"/>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6"/>
          <p:cNvSpPr/>
          <p:nvPr/>
        </p:nvSpPr>
        <p:spPr>
          <a:xfrm>
            <a:off x="8659368" y="5355035"/>
            <a:ext cx="281635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Noise floor: 0.020</a:t>
            </a:r>
            <a:endParaRPr lang="en-US" sz="1300" dirty="0"/>
          </a:p>
        </p:txBody>
      </p:sp>
      <p:sp>
        <p:nvSpPr>
          <p:cNvPr id="20" name="Text 17"/>
          <p:cNvSpPr/>
          <p:nvPr/>
        </p:nvSpPr>
        <p:spPr>
          <a:xfrm>
            <a:off x="8202168" y="5775659"/>
            <a:ext cx="3255264" cy="478837"/>
          </a:xfrm>
          <a:prstGeom prst="rect">
            <a:avLst/>
          </a:prstGeom>
          <a:noFill/>
          <a:ln/>
        </p:spPr>
        <p:txBody>
          <a:bodyPr wrap="square" lIns="0" tIns="0" rIns="0" bIns="0" rtlCol="0" anchor="t"/>
          <a:lstStyle/>
          <a:p>
            <a:pPr indent="0" marL="0">
              <a:lnSpc>
                <a:spcPct val="100000"/>
              </a:lnSpc>
              <a:buNone/>
            </a:pPr>
            <a:r>
              <a:rPr lang="en-US" sz="1100" dirty="0">
                <a:solidFill>
                  <a:srgbClr val="1A1A1A"/>
                </a:solidFill>
                <a:latin typeface="Calibri" pitchFamily="34" charset="0"/>
                <a:ea typeface="Calibri" pitchFamily="34" charset="-122"/>
                <a:cs typeface="Calibri" pitchFamily="34" charset="-120"/>
              </a:rPr>
              <a:t>Per-target run-to-run SD is 0.035. Seeding does not fix it — cuDNN autotuning and mixed precision make GPU training nondeterministic.</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329184"/>
            <a:ext cx="10058400" cy="237744"/>
          </a:xfrm>
          <a:prstGeom prst="rect">
            <a:avLst/>
          </a:prstGeom>
          <a:noFill/>
          <a:ln/>
        </p:spPr>
        <p:txBody>
          <a:bodyPr wrap="square" lIns="0" tIns="0" rIns="0" bIns="0" rtlCol="0" anchor="ctr"/>
          <a:lstStyle/>
          <a:p>
            <a:pPr indent="0" marL="0">
              <a:buNone/>
            </a:pPr>
            <a:r>
              <a:rPr lang="en-US" sz="1150" b="1" spc="120" kern="0" dirty="0">
                <a:solidFill>
                  <a:srgbClr val="1C7293"/>
                </a:solidFill>
                <a:latin typeface="Calibri" pitchFamily="34" charset="0"/>
                <a:ea typeface="Calibri" pitchFamily="34" charset="-122"/>
                <a:cs typeface="Calibri" pitchFamily="34" charset="-120"/>
              </a:rPr>
              <a:t>PART 3 · RECALIBRATION</a:t>
            </a:r>
            <a:endParaRPr lang="en-US" sz="1150" dirty="0"/>
          </a:p>
        </p:txBody>
      </p:sp>
      <p:sp>
        <p:nvSpPr>
          <p:cNvPr id="3" name="Text 1"/>
          <p:cNvSpPr/>
          <p:nvPr/>
        </p:nvSpPr>
        <p:spPr>
          <a:xfrm>
            <a:off x="502920" y="566928"/>
            <a:ext cx="11155680" cy="502920"/>
          </a:xfrm>
          <a:prstGeom prst="rect">
            <a:avLst/>
          </a:prstGeom>
          <a:noFill/>
          <a:ln/>
        </p:spPr>
        <p:txBody>
          <a:bodyPr wrap="square" lIns="0" tIns="0" rIns="0" bIns="0" rtlCol="0" anchor="ctr"/>
          <a:lstStyle/>
          <a:p>
            <a:pPr indent="0" marL="0">
              <a:buNone/>
            </a:pPr>
            <a:r>
              <a:rPr lang="en-US" sz="2700" b="1" dirty="0">
                <a:solidFill>
                  <a:srgbClr val="065A82"/>
                </a:solidFill>
                <a:latin typeface="Cambria" pitchFamily="34" charset="0"/>
                <a:ea typeface="Cambria" pitchFamily="34" charset="-122"/>
                <a:cs typeface="Cambria" pitchFamily="34" charset="-120"/>
              </a:rPr>
              <a:t>Re-reading every claim against the noise floor</a:t>
            </a:r>
            <a:endParaRPr lang="en-US" sz="27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7223760" cy="914400"/>
        </p:xfrm>
        <a:graphic>
          <a:graphicData uri="http://schemas.openxmlformats.org/drawingml/2006/table">
            <a:tbl>
              <a:tblPr/>
              <a:tblGrid>
                <a:gridCol w="3200400"/>
                <a:gridCol w="1371600"/>
                <a:gridCol w="1280160"/>
                <a:gridCol w="1371600"/>
              </a:tblGrid>
              <a:tr h="306324">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Claim</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Effect</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vs 0.020 floor</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065A82"/>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065A82"/>
                    </a:solidFill>
                  </a:tcPr>
                </a:tc>
              </a:tr>
              <a:tr h="306324">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Pretraining corpus v3 vs v4</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7F4F"/>
                          </a:solidFill>
                          <a:latin typeface="Calibri" pitchFamily="34" charset="0"/>
                          <a:ea typeface="Calibri" pitchFamily="34" charset="-122"/>
                          <a:cs typeface="Calibri" pitchFamily="34" charset="-120"/>
                        </a:rPr>
                        <a:t>+0.069</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3.4×</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B7F4F"/>
                          </a:solidFill>
                          <a:latin typeface="Calibri" pitchFamily="34" charset="0"/>
                          <a:ea typeface="Calibri" pitchFamily="34" charset="-122"/>
                          <a:cs typeface="Calibri" pitchFamily="34" charset="-120"/>
                        </a:rPr>
                        <a:t>survives</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r>
              <a:tr h="306324">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Patch 128 vs 1024</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c>
                  <a:txBody>
                    <a:bodyPr/>
                    <a:lstStyle/>
                    <a:p>
                      <a:pPr algn="ctr" indent="0" marL="0">
                        <a:buNone/>
                      </a:pPr>
                      <a:r>
                        <a:rPr lang="en-US" sz="1100" dirty="0">
                          <a:solidFill>
                            <a:srgbClr val="A32020"/>
                          </a:solidFill>
                          <a:latin typeface="Calibri" pitchFamily="34" charset="0"/>
                          <a:ea typeface="Calibri" pitchFamily="34" charset="-122"/>
                          <a:cs typeface="Calibri" pitchFamily="34" charset="-120"/>
                        </a:rPr>
                        <a:t>−0.042</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2.1×</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c>
                  <a:txBody>
                    <a:bodyPr/>
                    <a:lstStyle/>
                    <a:p>
                      <a:pPr algn="ctr" indent="0" marL="0">
                        <a:buNone/>
                      </a:pPr>
                      <a:r>
                        <a:rPr lang="en-US" sz="1100" b="1" dirty="0">
                          <a:solidFill>
                            <a:srgbClr val="1B7F4F"/>
                          </a:solidFill>
                          <a:latin typeface="Calibri" pitchFamily="34" charset="0"/>
                          <a:ea typeface="Calibri" pitchFamily="34" charset="-122"/>
                          <a:cs typeface="Calibri" pitchFamily="34" charset="-120"/>
                        </a:rPr>
                        <a:t>survives</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r>
              <a:tr h="306324">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Peak weighting (matched corpus)</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A32020"/>
                          </a:solidFill>
                          <a:latin typeface="Calibri" pitchFamily="34" charset="0"/>
                          <a:ea typeface="Calibri" pitchFamily="34" charset="-122"/>
                          <a:cs typeface="Calibri" pitchFamily="34" charset="-120"/>
                        </a:rPr>
                        <a:t>−0.039</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B7F4F"/>
                          </a:solidFill>
                          <a:latin typeface="Calibri" pitchFamily="34" charset="0"/>
                          <a:ea typeface="Calibri" pitchFamily="34" charset="-122"/>
                          <a:cs typeface="Calibri" pitchFamily="34" charset="-120"/>
                        </a:rPr>
                        <a:t>survives</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r>
              <a:tr h="306324">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Patch 256 vs 1024</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c>
                  <a:txBody>
                    <a:bodyPr/>
                    <a:lstStyle/>
                    <a:p>
                      <a:pPr algn="ctr" indent="0" marL="0">
                        <a:buNone/>
                      </a:pPr>
                      <a:r>
                        <a:rPr lang="en-US" sz="1100" dirty="0">
                          <a:solidFill>
                            <a:srgbClr val="A32020"/>
                          </a:solidFill>
                          <a:latin typeface="Calibri" pitchFamily="34" charset="0"/>
                          <a:ea typeface="Calibri" pitchFamily="34" charset="-122"/>
                          <a:cs typeface="Calibri" pitchFamily="34" charset="-120"/>
                        </a:rPr>
                        <a:t>−0.034</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1.7×</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c>
                  <a:txBody>
                    <a:bodyPr/>
                    <a:lstStyle/>
                    <a:p>
                      <a:pPr algn="ctr" indent="0" marL="0">
                        <a:buNone/>
                      </a:pPr>
                      <a:r>
                        <a:rPr lang="en-US" sz="1100" b="1" dirty="0">
                          <a:solidFill>
                            <a:srgbClr val="B36A00"/>
                          </a:solidFill>
                          <a:latin typeface="Calibri" pitchFamily="34" charset="0"/>
                          <a:ea typeface="Calibri" pitchFamily="34" charset="-122"/>
                          <a:cs typeface="Calibri" pitchFamily="34" charset="-120"/>
                        </a:rPr>
                        <a:t>marginal</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r>
              <a:tr h="306324">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Block masking</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A32020"/>
                          </a:solidFill>
                          <a:latin typeface="Calibri" pitchFamily="34" charset="0"/>
                          <a:ea typeface="Calibri" pitchFamily="34" charset="-122"/>
                          <a:cs typeface="Calibri" pitchFamily="34" charset="-120"/>
                        </a:rPr>
                        <a:t>−0.030</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B36A00"/>
                          </a:solidFill>
                          <a:latin typeface="Calibri" pitchFamily="34" charset="0"/>
                          <a:ea typeface="Calibri" pitchFamily="34" charset="-122"/>
                          <a:cs typeface="Calibri" pitchFamily="34" charset="-120"/>
                        </a:rPr>
                        <a:t>marginal</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r>
              <a:tr h="306324">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Patch 2048 vs 1024</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c>
                  <a:txBody>
                    <a:bodyPr/>
                    <a:lstStyle/>
                    <a:p>
                      <a:pPr algn="ctr" indent="0" marL="0">
                        <a:buNone/>
                      </a:pPr>
                      <a:r>
                        <a:rPr lang="en-US" sz="1100" dirty="0">
                          <a:solidFill>
                            <a:srgbClr val="1B7F4F"/>
                          </a:solidFill>
                          <a:latin typeface="Calibri" pitchFamily="34" charset="0"/>
                          <a:ea typeface="Calibri" pitchFamily="34" charset="-122"/>
                          <a:cs typeface="Calibri" pitchFamily="34" charset="-120"/>
                        </a:rPr>
                        <a:t>+0.020</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c>
                  <a:txBody>
                    <a:bodyPr/>
                    <a:lstStyle/>
                    <a:p>
                      <a:pPr algn="ctr" indent="0" marL="0">
                        <a:buNone/>
                      </a:pPr>
                      <a:r>
                        <a:rPr lang="en-US" sz="1100" b="1" dirty="0">
                          <a:solidFill>
                            <a:srgbClr val="A32020"/>
                          </a:solidFill>
                          <a:latin typeface="Calibri" pitchFamily="34" charset="0"/>
                          <a:ea typeface="Calibri" pitchFamily="34" charset="-122"/>
                          <a:cs typeface="Calibri" pitchFamily="34" charset="-120"/>
                        </a:rPr>
                        <a:t>within noise</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r>
              <a:tr h="306324">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Peak weighting (unmatched)</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7F4F"/>
                          </a:solidFill>
                          <a:latin typeface="Calibri" pitchFamily="34" charset="0"/>
                          <a:ea typeface="Calibri" pitchFamily="34" charset="-122"/>
                          <a:cs typeface="Calibri" pitchFamily="34" charset="-120"/>
                        </a:rPr>
                        <a:t>+0.011</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0.5×</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A32020"/>
                          </a:solidFill>
                          <a:latin typeface="Calibri" pitchFamily="34" charset="0"/>
                          <a:ea typeface="Calibri" pitchFamily="34" charset="-122"/>
                          <a:cs typeface="Calibri" pitchFamily="34" charset="-120"/>
                        </a:rPr>
                        <a:t>within noise</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FFFFF"/>
                    </a:solidFill>
                  </a:tcPr>
                </a:tc>
              </a:tr>
              <a:tr h="306324">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Wider / deeper backbone</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c>
                  <a:txBody>
                    <a:bodyPr/>
                    <a:lstStyle/>
                    <a:p>
                      <a:pPr algn="ctr" indent="0" marL="0">
                        <a:buNone/>
                      </a:pPr>
                      <a:r>
                        <a:rPr lang="en-US" sz="1100" dirty="0">
                          <a:solidFill>
                            <a:srgbClr val="1B7F4F"/>
                          </a:solidFill>
                          <a:latin typeface="Calibri" pitchFamily="34" charset="0"/>
                          <a:ea typeface="Calibri" pitchFamily="34" charset="-122"/>
                          <a:cs typeface="Calibri" pitchFamily="34" charset="-120"/>
                        </a:rPr>
                        <a:t>+0.006</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c>
                  <a:txBody>
                    <a:bodyPr/>
                    <a:lstStyle/>
                    <a:p>
                      <a:pPr algn="ctr" indent="0" marL="0">
                        <a:buNone/>
                      </a:pPr>
                      <a:r>
                        <a:rPr lang="en-US" sz="1100" dirty="0">
                          <a:solidFill>
                            <a:srgbClr val="1A1A1A"/>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c>
                  <a:txBody>
                    <a:bodyPr/>
                    <a:lstStyle/>
                    <a:p>
                      <a:pPr algn="ctr" indent="0" marL="0">
                        <a:buNone/>
                      </a:pPr>
                      <a:r>
                        <a:rPr lang="en-US" sz="1100" b="1" dirty="0">
                          <a:solidFill>
                            <a:srgbClr val="A32020"/>
                          </a:solidFill>
                          <a:latin typeface="Calibri" pitchFamily="34" charset="0"/>
                          <a:ea typeface="Calibri" pitchFamily="34" charset="-122"/>
                          <a:cs typeface="Calibri" pitchFamily="34" charset="-120"/>
                        </a:rPr>
                        <a:t>within noise</a:t>
                      </a:r>
                      <a:endParaRPr lang="en-US" sz="1100" dirty="0">
                        <a:latin typeface="Calibri" charset="0"/>
                        <a:ea typeface="Calibri" charset="0"/>
                        <a:cs typeface="Calibri" charset="0"/>
                      </a:endParaRPr>
                    </a:p>
                  </a:txBody>
                  <a:tcPr marL="54864" marR="54864" marT="54864" marB="54864" anchor="ctr">
                    <a:lnL w="6350" cap="flat" cmpd="sng" algn="ctr">
                      <a:solidFill>
                        <a:srgbClr val="D8E0E6"/>
                      </a:solidFill>
                      <a:prstDash val="solid"/>
                      <a:round/>
                      <a:headEnd type="none" w="med" len="med"/>
                      <a:tailEnd type="none" w="med" len="med"/>
                    </a:lnL>
                    <a:lnR w="6350" cap="flat" cmpd="sng" algn="ctr">
                      <a:solidFill>
                        <a:srgbClr val="D8E0E6"/>
                      </a:solidFill>
                      <a:prstDash val="solid"/>
                      <a:round/>
                      <a:headEnd type="none" w="med" len="med"/>
                      <a:tailEnd type="none" w="med" len="med"/>
                    </a:lnR>
                    <a:lnT w="6350" cap="flat" cmpd="sng" algn="ctr">
                      <a:solidFill>
                        <a:srgbClr val="D8E0E6"/>
                      </a:solidFill>
                      <a:prstDash val="solid"/>
                      <a:round/>
                      <a:headEnd type="none" w="med" len="med"/>
                      <a:tailEnd type="none" w="med" len="med"/>
                    </a:lnT>
                    <a:lnB w="6350" cap="flat" cmpd="sng" algn="ctr">
                      <a:solidFill>
                        <a:srgbClr val="D8E0E6"/>
                      </a:solidFill>
                      <a:prstDash val="solid"/>
                      <a:round/>
                      <a:headEnd type="none" w="med" len="med"/>
                      <a:tailEnd type="none" w="med" len="med"/>
                    </a:lnB>
                    <a:solidFill>
                      <a:srgbClr val="F7FAFC"/>
                    </a:solidFill>
                  </a:tcPr>
                </a:tc>
              </a:tr>
            </a:tbl>
          </a:graphicData>
        </a:graphic>
      </p:graphicFrame>
      <p:sp>
        <p:nvSpPr>
          <p:cNvPr id="5" name="Shape 2"/>
          <p:cNvSpPr/>
          <p:nvPr/>
        </p:nvSpPr>
        <p:spPr>
          <a:xfrm>
            <a:off x="7909560" y="1280160"/>
            <a:ext cx="3749040" cy="1572768"/>
          </a:xfrm>
          <a:prstGeom prst="roundRect">
            <a:avLst>
              <a:gd name="adj" fmla="val 3488"/>
            </a:avLst>
          </a:prstGeom>
          <a:solidFill>
            <a:srgbClr val="FBECEC"/>
          </a:solidFill>
          <a:ln w="6350">
            <a:solidFill>
              <a:srgbClr val="FBECEC"/>
            </a:solidFill>
            <a:prstDash val="solid"/>
          </a:ln>
          <a:effectLst>
            <a:outerShdw sx="100000" sy="100000" kx="0" ky="0" algn="bl" rotWithShape="0" blurRad="76200" dist="12700" dir="5400000">
              <a:srgbClr val="8899A6">
                <a:alpha val="18000"/>
              </a:srgbClr>
            </a:outerShdw>
          </a:effectLst>
        </p:spPr>
      </p:sp>
      <p:sp>
        <p:nvSpPr>
          <p:cNvPr id="6" name="Shape 3"/>
          <p:cNvSpPr/>
          <p:nvPr/>
        </p:nvSpPr>
        <p:spPr>
          <a:xfrm>
            <a:off x="8092440" y="1435608"/>
            <a:ext cx="365760" cy="365760"/>
          </a:xfrm>
          <a:prstGeom prst="ellipse">
            <a:avLst/>
          </a:prstGeom>
          <a:solidFill>
            <a:srgbClr val="A32020"/>
          </a:solidFill>
          <a:ln w="6350">
            <a:solidFill>
              <a:srgbClr val="A32020"/>
            </a:solidFill>
            <a:prstDash val="solid"/>
          </a:ln>
        </p:spPr>
      </p:sp>
      <p:sp>
        <p:nvSpPr>
          <p:cNvPr id="7" name="Text 4"/>
          <p:cNvSpPr/>
          <p:nvPr/>
        </p:nvSpPr>
        <p:spPr>
          <a:xfrm>
            <a:off x="8092440" y="143560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8" name="Text 5"/>
          <p:cNvSpPr/>
          <p:nvPr/>
        </p:nvSpPr>
        <p:spPr>
          <a:xfrm>
            <a:off x="8567928" y="1426464"/>
            <a:ext cx="290779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What I have withdrawn</a:t>
            </a:r>
            <a:endParaRPr lang="en-US" sz="1300" dirty="0"/>
          </a:p>
        </p:txBody>
      </p:sp>
      <p:sp>
        <p:nvSpPr>
          <p:cNvPr id="9" name="Text 6"/>
          <p:cNvSpPr/>
          <p:nvPr/>
        </p:nvSpPr>
        <p:spPr>
          <a:xfrm>
            <a:off x="8110728" y="1847088"/>
            <a:ext cx="3346704" cy="877824"/>
          </a:xfrm>
          <a:prstGeom prst="rect">
            <a:avLst/>
          </a:prstGeom>
          <a:noFill/>
          <a:ln/>
        </p:spPr>
        <p:txBody>
          <a:bodyPr wrap="square" lIns="0" tIns="0" rIns="0" bIns="0" rtlCol="0" anchor="t"/>
          <a:lstStyle/>
          <a:p>
            <a:pPr indent="0" marL="0">
              <a:lnSpc>
                <a:spcPct val="100000"/>
              </a:lnSpc>
              <a:buNone/>
            </a:pPr>
            <a:r>
              <a:rPr lang="en-US" sz="1100" dirty="0">
                <a:solidFill>
                  <a:srgbClr val="1A1A1A"/>
                </a:solidFill>
                <a:latin typeface="Calibri" pitchFamily="34" charset="0"/>
                <a:ea typeface="Calibri" pitchFamily="34" charset="-122"/>
                <a:cs typeface="Calibri" pitchFamily="34" charset="-120"/>
              </a:rPr>
              <a:t>“Backbone scaling is exhausted” is not supported. Patch 1024, patch 2048 and the wider model are indistinguishable on one run each.</a:t>
            </a:r>
            <a:endParaRPr lang="en-US" sz="1100" dirty="0"/>
          </a:p>
        </p:txBody>
      </p:sp>
      <p:sp>
        <p:nvSpPr>
          <p:cNvPr id="10" name="Shape 7"/>
          <p:cNvSpPr/>
          <p:nvPr/>
        </p:nvSpPr>
        <p:spPr>
          <a:xfrm>
            <a:off x="7909560" y="2999232"/>
            <a:ext cx="3749040" cy="1572768"/>
          </a:xfrm>
          <a:prstGeom prst="roundRect">
            <a:avLst>
              <a:gd name="adj" fmla="val 3488"/>
            </a:avLst>
          </a:prstGeom>
          <a:solidFill>
            <a:srgbClr val="E8F4EC"/>
          </a:solidFill>
          <a:ln w="6350">
            <a:solidFill>
              <a:srgbClr val="E8F4EC"/>
            </a:solidFill>
            <a:prstDash val="solid"/>
          </a:ln>
          <a:effectLst>
            <a:outerShdw sx="100000" sy="100000" kx="0" ky="0" algn="bl" rotWithShape="0" blurRad="76200" dist="12700" dir="5400000">
              <a:srgbClr val="8899A6">
                <a:alpha val="18000"/>
              </a:srgbClr>
            </a:outerShdw>
          </a:effectLst>
        </p:spPr>
      </p:sp>
      <p:sp>
        <p:nvSpPr>
          <p:cNvPr id="11" name="Shape 8"/>
          <p:cNvSpPr/>
          <p:nvPr/>
        </p:nvSpPr>
        <p:spPr>
          <a:xfrm>
            <a:off x="8092440" y="3154680"/>
            <a:ext cx="365760" cy="365760"/>
          </a:xfrm>
          <a:prstGeom prst="ellipse">
            <a:avLst/>
          </a:prstGeom>
          <a:solidFill>
            <a:srgbClr val="1B7F4F"/>
          </a:solidFill>
          <a:ln w="6350">
            <a:solidFill>
              <a:srgbClr val="1B7F4F"/>
            </a:solidFill>
            <a:prstDash val="solid"/>
          </a:ln>
        </p:spPr>
      </p:sp>
      <p:sp>
        <p:nvSpPr>
          <p:cNvPr id="12" name="Text 9"/>
          <p:cNvSpPr/>
          <p:nvPr/>
        </p:nvSpPr>
        <p:spPr>
          <a:xfrm>
            <a:off x="8092440" y="31546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3" name="Text 10"/>
          <p:cNvSpPr/>
          <p:nvPr/>
        </p:nvSpPr>
        <p:spPr>
          <a:xfrm>
            <a:off x="8567928" y="3145536"/>
            <a:ext cx="290779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What is unaffected</a:t>
            </a:r>
            <a:endParaRPr lang="en-US" sz="1300" dirty="0"/>
          </a:p>
        </p:txBody>
      </p:sp>
      <p:sp>
        <p:nvSpPr>
          <p:cNvPr id="14" name="Text 11"/>
          <p:cNvSpPr/>
          <p:nvPr/>
        </p:nvSpPr>
        <p:spPr>
          <a:xfrm>
            <a:off x="8110728" y="3566160"/>
            <a:ext cx="3346704" cy="877824"/>
          </a:xfrm>
          <a:prstGeom prst="rect">
            <a:avLst/>
          </a:prstGeom>
          <a:noFill/>
          <a:ln/>
        </p:spPr>
        <p:txBody>
          <a:bodyPr wrap="square" lIns="0" tIns="0" rIns="0" bIns="0" rtlCol="0" anchor="t"/>
          <a:lstStyle/>
          <a:p>
            <a:pPr indent="0" marL="0">
              <a:lnSpc>
                <a:spcPct val="100000"/>
              </a:lnSpc>
              <a:buNone/>
            </a:pPr>
            <a:r>
              <a:rPr lang="en-US" sz="1100" dirty="0">
                <a:solidFill>
                  <a:srgbClr val="1A1A1A"/>
                </a:solidFill>
                <a:latin typeface="Calibri" pitchFamily="34" charset="0"/>
                <a:ea typeface="Calibri" pitchFamily="34" charset="-122"/>
                <a:cs typeface="Calibri" pitchFamily="34" charset="-120"/>
              </a:rPr>
              <a:t>The head fix and the pooling win are paired within-checkpoint comparisons, so run-to-run noise cannot explain them. They stand.</a:t>
            </a:r>
            <a:endParaRPr lang="en-US" sz="1100" dirty="0"/>
          </a:p>
        </p:txBody>
      </p:sp>
      <p:sp>
        <p:nvSpPr>
          <p:cNvPr id="15" name="Shape 12"/>
          <p:cNvSpPr/>
          <p:nvPr/>
        </p:nvSpPr>
        <p:spPr>
          <a:xfrm>
            <a:off x="7909560" y="4718304"/>
            <a:ext cx="3749040" cy="1572768"/>
          </a:xfrm>
          <a:prstGeom prst="roundRect">
            <a:avLst>
              <a:gd name="adj" fmla="val 3488"/>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16" name="Shape 13"/>
          <p:cNvSpPr/>
          <p:nvPr/>
        </p:nvSpPr>
        <p:spPr>
          <a:xfrm>
            <a:off x="8092440" y="4873752"/>
            <a:ext cx="365760" cy="365760"/>
          </a:xfrm>
          <a:prstGeom prst="ellipse">
            <a:avLst/>
          </a:prstGeom>
          <a:solidFill>
            <a:srgbClr val="1C7293"/>
          </a:solidFill>
          <a:ln w="6350">
            <a:solidFill>
              <a:srgbClr val="1C7293"/>
            </a:solidFill>
            <a:prstDash val="solid"/>
          </a:ln>
        </p:spPr>
      </p:sp>
      <p:sp>
        <p:nvSpPr>
          <p:cNvPr id="17" name="Text 14"/>
          <p:cNvSpPr/>
          <p:nvPr/>
        </p:nvSpPr>
        <p:spPr>
          <a:xfrm>
            <a:off x="8092440" y="487375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8" name="Text 15"/>
          <p:cNvSpPr/>
          <p:nvPr/>
        </p:nvSpPr>
        <p:spPr>
          <a:xfrm>
            <a:off x="8567928" y="4864608"/>
            <a:ext cx="290779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Standing rule adopted</a:t>
            </a:r>
            <a:endParaRPr lang="en-US" sz="1300" dirty="0"/>
          </a:p>
        </p:txBody>
      </p:sp>
      <p:sp>
        <p:nvSpPr>
          <p:cNvPr id="19" name="Text 16"/>
          <p:cNvSpPr/>
          <p:nvPr/>
        </p:nvSpPr>
        <p:spPr>
          <a:xfrm>
            <a:off x="8110728" y="5285232"/>
            <a:ext cx="3346704" cy="877824"/>
          </a:xfrm>
          <a:prstGeom prst="rect">
            <a:avLst/>
          </a:prstGeom>
          <a:noFill/>
          <a:ln/>
        </p:spPr>
        <p:txBody>
          <a:bodyPr wrap="square" lIns="0" tIns="0" rIns="0" bIns="0" rtlCol="0" anchor="t"/>
          <a:lstStyle/>
          <a:p>
            <a:pPr indent="0" marL="0">
              <a:lnSpc>
                <a:spcPct val="100000"/>
              </a:lnSpc>
              <a:buNone/>
            </a:pPr>
            <a:r>
              <a:rPr lang="en-US" sz="1100" dirty="0">
                <a:solidFill>
                  <a:srgbClr val="1A1A1A"/>
                </a:solidFill>
                <a:latin typeface="Calibri" pitchFamily="34" charset="0"/>
                <a:ea typeface="Calibri" pitchFamily="34" charset="-122"/>
                <a:cs typeface="Calibri" pitchFamily="34" charset="-120"/>
              </a:rPr>
              <a:t>No single-run difference below 0.04 is reported as an effect. Either three or more replicates per arm, or a paired comparison.</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6204A"/>
        </a:solidFill>
      </p:bgPr>
    </p:bg>
    <p:spTree>
      <p:nvGrpSpPr>
        <p:cNvPr id="1" name=""/>
        <p:cNvGrpSpPr/>
        <p:nvPr/>
      </p:nvGrpSpPr>
      <p:grpSpPr>
        <a:xfrm>
          <a:off x="0" y="0"/>
          <a:ext cx="0" cy="0"/>
          <a:chOff x="0" y="0"/>
          <a:chExt cx="0" cy="0"/>
        </a:xfrm>
      </p:grpSpPr>
      <p:sp>
        <p:nvSpPr>
          <p:cNvPr id="2" name="Shape 0"/>
          <p:cNvSpPr/>
          <p:nvPr/>
        </p:nvSpPr>
        <p:spPr>
          <a:xfrm>
            <a:off x="502920" y="2103120"/>
            <a:ext cx="960120" cy="960120"/>
          </a:xfrm>
          <a:prstGeom prst="ellipse">
            <a:avLst/>
          </a:prstGeom>
          <a:solidFill>
            <a:srgbClr val="1C7293"/>
          </a:solidFill>
          <a:ln w="6350">
            <a:solidFill>
              <a:srgbClr val="1C7293"/>
            </a:solidFill>
            <a:prstDash val="solid"/>
          </a:ln>
        </p:spPr>
      </p:sp>
      <p:sp>
        <p:nvSpPr>
          <p:cNvPr id="3" name="Text 1"/>
          <p:cNvSpPr/>
          <p:nvPr/>
        </p:nvSpPr>
        <p:spPr>
          <a:xfrm>
            <a:off x="502920" y="2103120"/>
            <a:ext cx="960120" cy="96012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4</a:t>
            </a:r>
            <a:endParaRPr lang="en-US" sz="3400" dirty="0"/>
          </a:p>
        </p:txBody>
      </p:sp>
      <p:sp>
        <p:nvSpPr>
          <p:cNvPr id="4" name="Text 2"/>
          <p:cNvSpPr/>
          <p:nvPr/>
        </p:nvSpPr>
        <p:spPr>
          <a:xfrm>
            <a:off x="1828800" y="2066544"/>
            <a:ext cx="9692640" cy="64008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Where we are on your roadmap</a:t>
            </a:r>
            <a:endParaRPr lang="en-US" sz="3300" dirty="0"/>
          </a:p>
        </p:txBody>
      </p:sp>
      <p:sp>
        <p:nvSpPr>
          <p:cNvPr id="5" name="Text 3"/>
          <p:cNvSpPr/>
          <p:nvPr/>
        </p:nvSpPr>
        <p:spPr>
          <a:xfrm>
            <a:off x="1828800" y="2743200"/>
            <a:ext cx="9509760" cy="457200"/>
          </a:xfrm>
          <a:prstGeom prst="rect">
            <a:avLst/>
          </a:prstGeom>
          <a:noFill/>
          <a:ln/>
        </p:spPr>
        <p:txBody>
          <a:bodyPr wrap="square" lIns="0" tIns="0" rIns="0" bIns="0" rtlCol="0" anchor="t"/>
          <a:lstStyle/>
          <a:p>
            <a:pPr indent="0" marL="0">
              <a:lnSpc>
                <a:spcPct val="105000"/>
              </a:lnSpc>
              <a:buNone/>
            </a:pPr>
            <a:r>
              <a:rPr lang="en-US" sz="1450" dirty="0">
                <a:solidFill>
                  <a:srgbClr val="CBD6E6"/>
                </a:solidFill>
                <a:latin typeface="Calibri" pitchFamily="34" charset="0"/>
                <a:ea typeface="Calibri" pitchFamily="34" charset="-122"/>
                <a:cs typeface="Calibri" pitchFamily="34" charset="-120"/>
              </a:rPr>
              <a:t>Mapping fifteen days of model-side work onto the decision tree you laid out — and what our own data already says about the data question.</a:t>
            </a:r>
            <a:endParaRPr lang="en-US" sz="1450" dirty="0"/>
          </a:p>
        </p:txBody>
      </p:sp>
      <p:sp>
        <p:nvSpPr>
          <p:cNvPr id="6" name="Text 4"/>
          <p:cNvSpPr/>
          <p:nvPr/>
        </p:nvSpPr>
        <p:spPr>
          <a:xfrm>
            <a:off x="1828800" y="3429000"/>
            <a:ext cx="9509760" cy="1371600"/>
          </a:xfrm>
          <a:prstGeom prst="rect">
            <a:avLst/>
          </a:prstGeom>
          <a:noFill/>
          <a:ln/>
        </p:spPr>
        <p:txBody>
          <a:bodyPr wrap="square" lIns="0" tIns="0" rIns="0" bIns="0" rtlCol="0" anchor="t"/>
          <a:lstStyle/>
          <a:p>
            <a:pPr marL="342900" indent="-342900">
              <a:lnSpc>
                <a:spcPct val="102000"/>
              </a:lnSpc>
              <a:spcAft>
                <a:spcPts val="700"/>
              </a:spcAft>
              <a:buSzPct val="100000"/>
              <a:buChar char="•"/>
            </a:pPr>
            <a:r>
              <a:rPr lang="en-US" sz="1250" dirty="0">
                <a:solidFill>
                  <a:srgbClr val="9FB2C9"/>
                </a:solidFill>
                <a:latin typeface="Calibri" pitchFamily="34" charset="0"/>
                <a:ea typeface="Calibri" pitchFamily="34" charset="-122"/>
                <a:cs typeface="Calibri" pitchFamily="34" charset="-120"/>
              </a:rPr>
              <a:t>The bar is set, and “can we better it” has been pursued hard: two wins, six failures</a:t>
            </a:r>
            <a:endParaRPr lang="en-US" sz="1250" dirty="0"/>
          </a:p>
          <a:p>
            <a:pPr marL="342900" indent="-342900">
              <a:lnSpc>
                <a:spcPct val="102000"/>
              </a:lnSpc>
              <a:spcAft>
                <a:spcPts val="700"/>
              </a:spcAft>
              <a:buSzPct val="100000"/>
              <a:buChar char="•"/>
            </a:pPr>
            <a:r>
              <a:rPr lang="en-US" sz="1250" dirty="0">
                <a:solidFill>
                  <a:srgbClr val="9FB2C9"/>
                </a:solidFill>
                <a:latin typeface="Calibri" pitchFamily="34" charset="0"/>
                <a:ea typeface="Calibri" pitchFamily="34" charset="-122"/>
                <a:cs typeface="Calibri" pitchFamily="34" charset="-120"/>
              </a:rPr>
              <a:t>The data question already has an answer we have not been using</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329184"/>
            <a:ext cx="10058400" cy="237744"/>
          </a:xfrm>
          <a:prstGeom prst="rect">
            <a:avLst/>
          </a:prstGeom>
          <a:noFill/>
          <a:ln/>
        </p:spPr>
        <p:txBody>
          <a:bodyPr wrap="square" lIns="0" tIns="0" rIns="0" bIns="0" rtlCol="0" anchor="ctr"/>
          <a:lstStyle/>
          <a:p>
            <a:pPr indent="0" marL="0">
              <a:buNone/>
            </a:pPr>
            <a:r>
              <a:rPr lang="en-US" sz="1150" b="1" spc="120" kern="0" dirty="0">
                <a:solidFill>
                  <a:srgbClr val="1C7293"/>
                </a:solidFill>
                <a:latin typeface="Calibri" pitchFamily="34" charset="0"/>
                <a:ea typeface="Calibri" pitchFamily="34" charset="-122"/>
                <a:cs typeface="Calibri" pitchFamily="34" charset="-120"/>
              </a:rPr>
              <a:t>PART 4 · ROADMAP</a:t>
            </a:r>
            <a:endParaRPr lang="en-US" sz="1150" dirty="0"/>
          </a:p>
        </p:txBody>
      </p:sp>
      <p:sp>
        <p:nvSpPr>
          <p:cNvPr id="3" name="Text 1"/>
          <p:cNvSpPr/>
          <p:nvPr/>
        </p:nvSpPr>
        <p:spPr>
          <a:xfrm>
            <a:off x="502920" y="566928"/>
            <a:ext cx="11155680" cy="502920"/>
          </a:xfrm>
          <a:prstGeom prst="rect">
            <a:avLst/>
          </a:prstGeom>
          <a:noFill/>
          <a:ln/>
        </p:spPr>
        <p:txBody>
          <a:bodyPr wrap="square" lIns="0" tIns="0" rIns="0" bIns="0" rtlCol="0" anchor="ctr"/>
          <a:lstStyle/>
          <a:p>
            <a:pPr indent="0" marL="0">
              <a:buNone/>
            </a:pPr>
            <a:r>
              <a:rPr lang="en-US" sz="2700" b="1" dirty="0">
                <a:solidFill>
                  <a:srgbClr val="065A82"/>
                </a:solidFill>
                <a:latin typeface="Cambria" pitchFamily="34" charset="0"/>
                <a:ea typeface="Cambria" pitchFamily="34" charset="-122"/>
                <a:cs typeface="Cambria" pitchFamily="34" charset="-120"/>
              </a:rPr>
              <a:t>Your decision tree, with status</a:t>
            </a:r>
            <a:endParaRPr lang="en-US" sz="2700" dirty="0"/>
          </a:p>
        </p:txBody>
      </p:sp>
      <p:sp>
        <p:nvSpPr>
          <p:cNvPr id="4" name="Shape 2"/>
          <p:cNvSpPr/>
          <p:nvPr/>
        </p:nvSpPr>
        <p:spPr>
          <a:xfrm>
            <a:off x="502920" y="1188720"/>
            <a:ext cx="3520440" cy="1060704"/>
          </a:xfrm>
          <a:prstGeom prst="roundRect">
            <a:avLst>
              <a:gd name="adj" fmla="val 5172"/>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5" name="Shape 3"/>
          <p:cNvSpPr/>
          <p:nvPr/>
        </p:nvSpPr>
        <p:spPr>
          <a:xfrm>
            <a:off x="2450592" y="1307592"/>
            <a:ext cx="1417320" cy="210312"/>
          </a:xfrm>
          <a:prstGeom prst="roundRect">
            <a:avLst>
              <a:gd name="adj" fmla="val 43478"/>
            </a:avLst>
          </a:prstGeom>
          <a:solidFill>
            <a:srgbClr val="1B7F4F"/>
          </a:solidFill>
          <a:ln w="6350">
            <a:solidFill>
              <a:srgbClr val="1B7F4F"/>
            </a:solidFill>
            <a:prstDash val="solid"/>
          </a:ln>
        </p:spPr>
      </p:sp>
      <p:sp>
        <p:nvSpPr>
          <p:cNvPr id="6" name="Text 4"/>
          <p:cNvSpPr/>
          <p:nvPr/>
        </p:nvSpPr>
        <p:spPr>
          <a:xfrm>
            <a:off x="2450592" y="1307592"/>
            <a:ext cx="1417320" cy="21031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DONE</a:t>
            </a:r>
            <a:endParaRPr lang="en-US" sz="750" dirty="0"/>
          </a:p>
        </p:txBody>
      </p:sp>
      <p:sp>
        <p:nvSpPr>
          <p:cNvPr id="7" name="Text 5"/>
          <p:cNvSpPr/>
          <p:nvPr/>
        </p:nvSpPr>
        <p:spPr>
          <a:xfrm>
            <a:off x="640080" y="1289304"/>
            <a:ext cx="1737360" cy="457200"/>
          </a:xfrm>
          <a:prstGeom prst="rect">
            <a:avLst/>
          </a:prstGeom>
          <a:noFill/>
          <a:ln/>
        </p:spPr>
        <p:txBody>
          <a:bodyPr wrap="square" lIns="0" tIns="0" rIns="0" bIns="0" rtlCol="0" anchor="t"/>
          <a:lstStyle/>
          <a:p>
            <a:pPr indent="0" marL="0">
              <a:lnSpc>
                <a:spcPct val="90000"/>
              </a:lnSpc>
              <a:buNone/>
            </a:pPr>
            <a:r>
              <a:rPr lang="en-US" sz="1050" b="1" dirty="0">
                <a:solidFill>
                  <a:srgbClr val="1A1A1A"/>
                </a:solidFill>
                <a:latin typeface="Calibri" pitchFamily="34" charset="0"/>
                <a:ea typeface="Calibri" pitchFamily="34" charset="-122"/>
                <a:cs typeface="Calibri" pitchFamily="34" charset="-120"/>
              </a:rPr>
              <a:t>Initial trials — masking, jigsaw, joint</a:t>
            </a:r>
            <a:endParaRPr lang="en-US" sz="1050" dirty="0"/>
          </a:p>
        </p:txBody>
      </p:sp>
      <p:sp>
        <p:nvSpPr>
          <p:cNvPr id="8" name="Text 6"/>
          <p:cNvSpPr/>
          <p:nvPr/>
        </p:nvSpPr>
        <p:spPr>
          <a:xfrm>
            <a:off x="640080" y="1773936"/>
            <a:ext cx="3246120" cy="365760"/>
          </a:xfrm>
          <a:prstGeom prst="rect">
            <a:avLst/>
          </a:prstGeom>
          <a:noFill/>
          <a:ln/>
        </p:spPr>
        <p:txBody>
          <a:bodyPr wrap="square" lIns="0" tIns="0" rIns="0" bIns="0" rtlCol="0" anchor="t"/>
          <a:lstStyle/>
          <a:p>
            <a:pPr indent="0" marL="0">
              <a:lnSpc>
                <a:spcPct val="92000"/>
              </a:lnSpc>
              <a:buNone/>
            </a:pPr>
            <a:r>
              <a:rPr lang="en-US" sz="950" dirty="0">
                <a:solidFill>
                  <a:srgbClr val="5C6670"/>
                </a:solidFill>
                <a:latin typeface="Calibri" pitchFamily="34" charset="0"/>
                <a:ea typeface="Calibri" pitchFamily="34" charset="-122"/>
                <a:cs typeface="Calibri" pitchFamily="34" charset="-120"/>
              </a:rPr>
              <a:t>All three pretrained and benchmarked on 5 targets.</a:t>
            </a:r>
            <a:endParaRPr lang="en-US" sz="950" dirty="0"/>
          </a:p>
        </p:txBody>
      </p:sp>
      <p:sp>
        <p:nvSpPr>
          <p:cNvPr id="9" name="Shape 7"/>
          <p:cNvSpPr/>
          <p:nvPr/>
        </p:nvSpPr>
        <p:spPr>
          <a:xfrm>
            <a:off x="502920" y="2359152"/>
            <a:ext cx="3520440" cy="1060704"/>
          </a:xfrm>
          <a:prstGeom prst="roundRect">
            <a:avLst>
              <a:gd name="adj" fmla="val 5172"/>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10" name="Shape 8"/>
          <p:cNvSpPr/>
          <p:nvPr/>
        </p:nvSpPr>
        <p:spPr>
          <a:xfrm>
            <a:off x="2450592" y="2478024"/>
            <a:ext cx="1417320" cy="210312"/>
          </a:xfrm>
          <a:prstGeom prst="roundRect">
            <a:avLst>
              <a:gd name="adj" fmla="val 43478"/>
            </a:avLst>
          </a:prstGeom>
          <a:solidFill>
            <a:srgbClr val="1B7F4F"/>
          </a:solidFill>
          <a:ln w="6350">
            <a:solidFill>
              <a:srgbClr val="1B7F4F"/>
            </a:solidFill>
            <a:prstDash val="solid"/>
          </a:ln>
        </p:spPr>
      </p:sp>
      <p:sp>
        <p:nvSpPr>
          <p:cNvPr id="11" name="Text 9"/>
          <p:cNvSpPr/>
          <p:nvPr/>
        </p:nvSpPr>
        <p:spPr>
          <a:xfrm>
            <a:off x="2450592" y="2478024"/>
            <a:ext cx="1417320" cy="21031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DONE</a:t>
            </a:r>
            <a:endParaRPr lang="en-US" sz="750" dirty="0"/>
          </a:p>
        </p:txBody>
      </p:sp>
      <p:sp>
        <p:nvSpPr>
          <p:cNvPr id="12" name="Text 10"/>
          <p:cNvSpPr/>
          <p:nvPr/>
        </p:nvSpPr>
        <p:spPr>
          <a:xfrm>
            <a:off x="640080" y="2459736"/>
            <a:ext cx="1737360" cy="457200"/>
          </a:xfrm>
          <a:prstGeom prst="rect">
            <a:avLst/>
          </a:prstGeom>
          <a:noFill/>
          <a:ln/>
        </p:spPr>
        <p:txBody>
          <a:bodyPr wrap="square" lIns="0" tIns="0" rIns="0" bIns="0" rtlCol="0" anchor="t"/>
          <a:lstStyle/>
          <a:p>
            <a:pPr indent="0" marL="0">
              <a:lnSpc>
                <a:spcPct val="90000"/>
              </a:lnSpc>
              <a:buNone/>
            </a:pPr>
            <a:r>
              <a:rPr lang="en-US" sz="1050" b="1" dirty="0">
                <a:solidFill>
                  <a:srgbClr val="1A1A1A"/>
                </a:solidFill>
                <a:latin typeface="Calibri" pitchFamily="34" charset="0"/>
                <a:ea typeface="Calibri" pitchFamily="34" charset="-122"/>
                <a:cs typeface="Calibri" pitchFamily="34" charset="-120"/>
              </a:rPr>
              <a:t>ML is better — sets the bar</a:t>
            </a:r>
            <a:endParaRPr lang="en-US" sz="1050" dirty="0"/>
          </a:p>
        </p:txBody>
      </p:sp>
      <p:sp>
        <p:nvSpPr>
          <p:cNvPr id="13" name="Text 11"/>
          <p:cNvSpPr/>
          <p:nvPr/>
        </p:nvSpPr>
        <p:spPr>
          <a:xfrm>
            <a:off x="640080" y="2944368"/>
            <a:ext cx="3246120" cy="365760"/>
          </a:xfrm>
          <a:prstGeom prst="rect">
            <a:avLst/>
          </a:prstGeom>
          <a:noFill/>
          <a:ln/>
        </p:spPr>
        <p:txBody>
          <a:bodyPr wrap="square" lIns="0" tIns="0" rIns="0" bIns="0" rtlCol="0" anchor="t"/>
          <a:lstStyle/>
          <a:p>
            <a:pPr indent="0" marL="0">
              <a:lnSpc>
                <a:spcPct val="92000"/>
              </a:lnSpc>
              <a:buNone/>
            </a:pPr>
            <a:r>
              <a:rPr lang="en-US" sz="950" dirty="0">
                <a:solidFill>
                  <a:srgbClr val="5C6670"/>
                </a:solidFill>
                <a:latin typeface="Calibri" pitchFamily="34" charset="0"/>
                <a:ea typeface="Calibri" pitchFamily="34" charset="-122"/>
                <a:cs typeface="Calibri" pitchFamily="34" charset="-120"/>
              </a:rPr>
              <a:t>Classical LR leads 5/5, confirmed on both v3 and v4.</a:t>
            </a:r>
            <a:endParaRPr lang="en-US" sz="950" dirty="0"/>
          </a:p>
        </p:txBody>
      </p:sp>
      <p:sp>
        <p:nvSpPr>
          <p:cNvPr id="14" name="Shape 12"/>
          <p:cNvSpPr/>
          <p:nvPr/>
        </p:nvSpPr>
        <p:spPr>
          <a:xfrm>
            <a:off x="502920" y="3529584"/>
            <a:ext cx="3520440" cy="1298448"/>
          </a:xfrm>
          <a:prstGeom prst="roundRect">
            <a:avLst>
              <a:gd name="adj" fmla="val 4225"/>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15" name="Shape 13"/>
          <p:cNvSpPr/>
          <p:nvPr/>
        </p:nvSpPr>
        <p:spPr>
          <a:xfrm>
            <a:off x="2450592" y="3648456"/>
            <a:ext cx="1417320" cy="210312"/>
          </a:xfrm>
          <a:prstGeom prst="roundRect">
            <a:avLst>
              <a:gd name="adj" fmla="val 43478"/>
            </a:avLst>
          </a:prstGeom>
          <a:solidFill>
            <a:srgbClr val="B36A00"/>
          </a:solidFill>
          <a:ln w="6350">
            <a:solidFill>
              <a:srgbClr val="B36A00"/>
            </a:solidFill>
            <a:prstDash val="solid"/>
          </a:ln>
        </p:spPr>
      </p:sp>
      <p:sp>
        <p:nvSpPr>
          <p:cNvPr id="16" name="Text 14"/>
          <p:cNvSpPr/>
          <p:nvPr/>
        </p:nvSpPr>
        <p:spPr>
          <a:xfrm>
            <a:off x="2450592" y="3648456"/>
            <a:ext cx="1417320" cy="21031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PURSUED HARD</a:t>
            </a:r>
            <a:endParaRPr lang="en-US" sz="750" dirty="0"/>
          </a:p>
        </p:txBody>
      </p:sp>
      <p:sp>
        <p:nvSpPr>
          <p:cNvPr id="17" name="Text 15"/>
          <p:cNvSpPr/>
          <p:nvPr/>
        </p:nvSpPr>
        <p:spPr>
          <a:xfrm>
            <a:off x="640080" y="3630168"/>
            <a:ext cx="1737360" cy="457200"/>
          </a:xfrm>
          <a:prstGeom prst="rect">
            <a:avLst/>
          </a:prstGeom>
          <a:noFill/>
          <a:ln/>
        </p:spPr>
        <p:txBody>
          <a:bodyPr wrap="square" lIns="0" tIns="0" rIns="0" bIns="0" rtlCol="0" anchor="t"/>
          <a:lstStyle/>
          <a:p>
            <a:pPr indent="0" marL="0">
              <a:lnSpc>
                <a:spcPct val="90000"/>
              </a:lnSpc>
              <a:buNone/>
            </a:pPr>
            <a:r>
              <a:rPr lang="en-US" sz="1050" b="1" dirty="0">
                <a:solidFill>
                  <a:srgbClr val="1A1A1A"/>
                </a:solidFill>
                <a:latin typeface="Calibri" pitchFamily="34" charset="0"/>
                <a:ea typeface="Calibri" pitchFamily="34" charset="-122"/>
                <a:cs typeface="Calibri" pitchFamily="34" charset="-120"/>
              </a:rPr>
              <a:t>Can we better it?</a:t>
            </a:r>
            <a:endParaRPr lang="en-US" sz="1050" dirty="0"/>
          </a:p>
        </p:txBody>
      </p:sp>
      <p:sp>
        <p:nvSpPr>
          <p:cNvPr id="18" name="Text 16"/>
          <p:cNvSpPr/>
          <p:nvPr/>
        </p:nvSpPr>
        <p:spPr>
          <a:xfrm>
            <a:off x="640080" y="4114800"/>
            <a:ext cx="3246120" cy="603504"/>
          </a:xfrm>
          <a:prstGeom prst="rect">
            <a:avLst/>
          </a:prstGeom>
          <a:noFill/>
          <a:ln/>
        </p:spPr>
        <p:txBody>
          <a:bodyPr wrap="square" lIns="0" tIns="0" rIns="0" bIns="0" rtlCol="0" anchor="t"/>
          <a:lstStyle/>
          <a:p>
            <a:pPr indent="0" marL="0">
              <a:lnSpc>
                <a:spcPct val="92000"/>
              </a:lnSpc>
              <a:buNone/>
            </a:pPr>
            <a:r>
              <a:rPr lang="en-US" sz="950" dirty="0">
                <a:solidFill>
                  <a:srgbClr val="5C6670"/>
                </a:solidFill>
                <a:latin typeface="Calibri" pitchFamily="34" charset="0"/>
                <a:ea typeface="Calibri" pitchFamily="34" charset="-122"/>
                <a:cs typeface="Calibri" pitchFamily="34" charset="-120"/>
              </a:rPr>
              <a:t>8 interventions: 2 worked (+0.078, evaluation-side), 6 failed. Record now 1 win / 1 tie / 3 losses.</a:t>
            </a:r>
            <a:endParaRPr lang="en-US" sz="950" dirty="0"/>
          </a:p>
        </p:txBody>
      </p:sp>
      <p:sp>
        <p:nvSpPr>
          <p:cNvPr id="19" name="Shape 17"/>
          <p:cNvSpPr/>
          <p:nvPr/>
        </p:nvSpPr>
        <p:spPr>
          <a:xfrm>
            <a:off x="502920" y="4937760"/>
            <a:ext cx="3520440" cy="1444752"/>
          </a:xfrm>
          <a:prstGeom prst="roundRect">
            <a:avLst>
              <a:gd name="adj" fmla="val 3797"/>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20" name="Shape 18"/>
          <p:cNvSpPr/>
          <p:nvPr/>
        </p:nvSpPr>
        <p:spPr>
          <a:xfrm>
            <a:off x="2450592" y="5056632"/>
            <a:ext cx="1417320" cy="210312"/>
          </a:xfrm>
          <a:prstGeom prst="roundRect">
            <a:avLst>
              <a:gd name="adj" fmla="val 43478"/>
            </a:avLst>
          </a:prstGeom>
          <a:solidFill>
            <a:srgbClr val="1C7293"/>
          </a:solidFill>
          <a:ln w="6350">
            <a:solidFill>
              <a:srgbClr val="1C7293"/>
            </a:solidFill>
            <a:prstDash val="solid"/>
          </a:ln>
        </p:spPr>
      </p:sp>
      <p:sp>
        <p:nvSpPr>
          <p:cNvPr id="21" name="Text 19"/>
          <p:cNvSpPr/>
          <p:nvPr/>
        </p:nvSpPr>
        <p:spPr>
          <a:xfrm>
            <a:off x="2450592" y="5056632"/>
            <a:ext cx="1417320" cy="21031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PARTIAL ANSWER</a:t>
            </a:r>
            <a:endParaRPr lang="en-US" sz="750" dirty="0"/>
          </a:p>
        </p:txBody>
      </p:sp>
      <p:sp>
        <p:nvSpPr>
          <p:cNvPr id="22" name="Text 20"/>
          <p:cNvSpPr/>
          <p:nvPr/>
        </p:nvSpPr>
        <p:spPr>
          <a:xfrm>
            <a:off x="640080" y="5038344"/>
            <a:ext cx="1737360" cy="457200"/>
          </a:xfrm>
          <a:prstGeom prst="rect">
            <a:avLst/>
          </a:prstGeom>
          <a:noFill/>
          <a:ln/>
        </p:spPr>
        <p:txBody>
          <a:bodyPr wrap="square" lIns="0" tIns="0" rIns="0" bIns="0" rtlCol="0" anchor="t"/>
          <a:lstStyle/>
          <a:p>
            <a:pPr indent="0" marL="0">
              <a:lnSpc>
                <a:spcPct val="90000"/>
              </a:lnSpc>
              <a:buNone/>
            </a:pPr>
            <a:r>
              <a:rPr lang="en-US" sz="1050" b="1" dirty="0">
                <a:solidFill>
                  <a:srgbClr val="1A1A1A"/>
                </a:solidFill>
                <a:latin typeface="Calibri" pitchFamily="34" charset="0"/>
                <a:ea typeface="Calibri" pitchFamily="34" charset="-122"/>
                <a:cs typeface="Calibri" pitchFamily="34" charset="-120"/>
              </a:rPr>
              <a:t>Is data limiting?</a:t>
            </a:r>
            <a:endParaRPr lang="en-US" sz="1050" dirty="0"/>
          </a:p>
        </p:txBody>
      </p:sp>
      <p:sp>
        <p:nvSpPr>
          <p:cNvPr id="23" name="Text 21"/>
          <p:cNvSpPr/>
          <p:nvPr/>
        </p:nvSpPr>
        <p:spPr>
          <a:xfrm>
            <a:off x="640080" y="5522976"/>
            <a:ext cx="3246120" cy="749808"/>
          </a:xfrm>
          <a:prstGeom prst="rect">
            <a:avLst/>
          </a:prstGeom>
          <a:noFill/>
          <a:ln/>
        </p:spPr>
        <p:txBody>
          <a:bodyPr wrap="square" lIns="0" tIns="0" rIns="0" bIns="0" rtlCol="0" anchor="t"/>
          <a:lstStyle/>
          <a:p>
            <a:pPr indent="0" marL="0">
              <a:lnSpc>
                <a:spcPct val="92000"/>
              </a:lnSpc>
              <a:buNone/>
            </a:pPr>
            <a:r>
              <a:rPr lang="en-US" sz="950" dirty="0">
                <a:solidFill>
                  <a:srgbClr val="5C6670"/>
                </a:solidFill>
                <a:latin typeface="Calibri" pitchFamily="34" charset="0"/>
                <a:ea typeface="Calibri" pitchFamily="34" charset="-122"/>
                <a:cs typeface="Calibri" pitchFamily="34" charset="-120"/>
              </a:rPr>
              <a:t>Peak-intensity distributions already measured — next slide. Quantity is not the constraint; version and quality are.</a:t>
            </a:r>
            <a:endParaRPr lang="en-US" sz="950" dirty="0"/>
          </a:p>
        </p:txBody>
      </p:sp>
      <p:sp>
        <p:nvSpPr>
          <p:cNvPr id="24" name="Shape 22"/>
          <p:cNvSpPr/>
          <p:nvPr/>
        </p:nvSpPr>
        <p:spPr>
          <a:xfrm>
            <a:off x="4315968" y="1188720"/>
            <a:ext cx="3566160" cy="1572768"/>
          </a:xfrm>
          <a:prstGeom prst="roundRect">
            <a:avLst>
              <a:gd name="adj" fmla="val 3488"/>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25" name="Shape 23"/>
          <p:cNvSpPr/>
          <p:nvPr/>
        </p:nvSpPr>
        <p:spPr>
          <a:xfrm>
            <a:off x="6309360" y="1307592"/>
            <a:ext cx="1417320" cy="210312"/>
          </a:xfrm>
          <a:prstGeom prst="roundRect">
            <a:avLst>
              <a:gd name="adj" fmla="val 43478"/>
            </a:avLst>
          </a:prstGeom>
          <a:solidFill>
            <a:srgbClr val="1B7F4F"/>
          </a:solidFill>
          <a:ln w="6350">
            <a:solidFill>
              <a:srgbClr val="1B7F4F"/>
            </a:solidFill>
            <a:prstDash val="solid"/>
          </a:ln>
        </p:spPr>
      </p:sp>
      <p:sp>
        <p:nvSpPr>
          <p:cNvPr id="26" name="Text 24"/>
          <p:cNvSpPr/>
          <p:nvPr/>
        </p:nvSpPr>
        <p:spPr>
          <a:xfrm>
            <a:off x="6309360" y="1307592"/>
            <a:ext cx="1417320" cy="21031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MEASURED</a:t>
            </a:r>
            <a:endParaRPr lang="en-US" sz="750" dirty="0"/>
          </a:p>
        </p:txBody>
      </p:sp>
      <p:sp>
        <p:nvSpPr>
          <p:cNvPr id="27" name="Text 25"/>
          <p:cNvSpPr/>
          <p:nvPr/>
        </p:nvSpPr>
        <p:spPr>
          <a:xfrm>
            <a:off x="4453128" y="1289304"/>
            <a:ext cx="1783080" cy="457200"/>
          </a:xfrm>
          <a:prstGeom prst="rect">
            <a:avLst/>
          </a:prstGeom>
          <a:noFill/>
          <a:ln/>
        </p:spPr>
        <p:txBody>
          <a:bodyPr wrap="square" lIns="0" tIns="0" rIns="0" bIns="0" rtlCol="0" anchor="t"/>
          <a:lstStyle/>
          <a:p>
            <a:pPr indent="0" marL="0">
              <a:lnSpc>
                <a:spcPct val="90000"/>
              </a:lnSpc>
              <a:buNone/>
            </a:pPr>
            <a:r>
              <a:rPr lang="en-US" sz="1050" b="1" dirty="0">
                <a:solidFill>
                  <a:srgbClr val="1A1A1A"/>
                </a:solidFill>
                <a:latin typeface="Calibri" pitchFamily="34" charset="0"/>
                <a:ea typeface="Calibri" pitchFamily="34" charset="-122"/>
                <a:cs typeface="Calibri" pitchFamily="34" charset="-120"/>
              </a:rPr>
              <a:t>Peak-intensity distributions vs increasing data</a:t>
            </a:r>
            <a:endParaRPr lang="en-US" sz="1050" dirty="0"/>
          </a:p>
        </p:txBody>
      </p:sp>
      <p:sp>
        <p:nvSpPr>
          <p:cNvPr id="28" name="Text 26"/>
          <p:cNvSpPr/>
          <p:nvPr/>
        </p:nvSpPr>
        <p:spPr>
          <a:xfrm>
            <a:off x="4453128" y="1773936"/>
            <a:ext cx="3291840" cy="877824"/>
          </a:xfrm>
          <a:prstGeom prst="rect">
            <a:avLst/>
          </a:prstGeom>
          <a:noFill/>
          <a:ln/>
        </p:spPr>
        <p:txBody>
          <a:bodyPr wrap="square" lIns="0" tIns="0" rIns="0" bIns="0" rtlCol="0" anchor="t"/>
          <a:lstStyle/>
          <a:p>
            <a:pPr indent="0" marL="0">
              <a:lnSpc>
                <a:spcPct val="92000"/>
              </a:lnSpc>
              <a:buNone/>
            </a:pPr>
            <a:r>
              <a:rPr lang="en-US" sz="950" dirty="0">
                <a:solidFill>
                  <a:srgbClr val="5C6670"/>
                </a:solidFill>
                <a:latin typeface="Calibri" pitchFamily="34" charset="0"/>
                <a:ea typeface="Calibri" pitchFamily="34" charset="-122"/>
                <a:cs typeface="Calibri" pitchFamily="34" charset="-120"/>
              </a:rPr>
              <a:t>60 canonical peaks across 9,670 spectra. Distributions converge at a median of 364 spectra.</a:t>
            </a:r>
            <a:endParaRPr lang="en-US" sz="950" dirty="0"/>
          </a:p>
        </p:txBody>
      </p:sp>
      <p:sp>
        <p:nvSpPr>
          <p:cNvPr id="29" name="Shape 27"/>
          <p:cNvSpPr/>
          <p:nvPr/>
        </p:nvSpPr>
        <p:spPr>
          <a:xfrm>
            <a:off x="4315968" y="2871216"/>
            <a:ext cx="3566160" cy="1572768"/>
          </a:xfrm>
          <a:prstGeom prst="roundRect">
            <a:avLst>
              <a:gd name="adj" fmla="val 3488"/>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30" name="Shape 28"/>
          <p:cNvSpPr/>
          <p:nvPr/>
        </p:nvSpPr>
        <p:spPr>
          <a:xfrm>
            <a:off x="6309360" y="2990088"/>
            <a:ext cx="1417320" cy="210312"/>
          </a:xfrm>
          <a:prstGeom prst="roundRect">
            <a:avLst>
              <a:gd name="adj" fmla="val 43478"/>
            </a:avLst>
          </a:prstGeom>
          <a:solidFill>
            <a:srgbClr val="B36A00"/>
          </a:solidFill>
          <a:ln w="6350">
            <a:solidFill>
              <a:srgbClr val="B36A00"/>
            </a:solidFill>
            <a:prstDash val="solid"/>
          </a:ln>
        </p:spPr>
      </p:sp>
      <p:sp>
        <p:nvSpPr>
          <p:cNvPr id="31" name="Text 29"/>
          <p:cNvSpPr/>
          <p:nvPr/>
        </p:nvSpPr>
        <p:spPr>
          <a:xfrm>
            <a:off x="6309360" y="2990088"/>
            <a:ext cx="1417320" cy="21031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PARTIAL</a:t>
            </a:r>
            <a:endParaRPr lang="en-US" sz="750" dirty="0"/>
          </a:p>
        </p:txBody>
      </p:sp>
      <p:sp>
        <p:nvSpPr>
          <p:cNvPr id="32" name="Text 30"/>
          <p:cNvSpPr/>
          <p:nvPr/>
        </p:nvSpPr>
        <p:spPr>
          <a:xfrm>
            <a:off x="4453128" y="2971800"/>
            <a:ext cx="1783080" cy="457200"/>
          </a:xfrm>
          <a:prstGeom prst="rect">
            <a:avLst/>
          </a:prstGeom>
          <a:noFill/>
          <a:ln/>
        </p:spPr>
        <p:txBody>
          <a:bodyPr wrap="square" lIns="0" tIns="0" rIns="0" bIns="0" rtlCol="0" anchor="t"/>
          <a:lstStyle/>
          <a:p>
            <a:pPr indent="0" marL="0">
              <a:lnSpc>
                <a:spcPct val="90000"/>
              </a:lnSpc>
              <a:buNone/>
            </a:pPr>
            <a:r>
              <a:rPr lang="en-US" sz="1050" b="1" dirty="0">
                <a:solidFill>
                  <a:srgbClr val="1A1A1A"/>
                </a:solidFill>
                <a:latin typeface="Calibri" pitchFamily="34" charset="0"/>
                <a:ea typeface="Calibri" pitchFamily="34" charset="-122"/>
                <a:cs typeface="Calibri" pitchFamily="34" charset="-120"/>
              </a:rPr>
              <a:t>Experimental y-distribution defined at all x?</a:t>
            </a:r>
            <a:endParaRPr lang="en-US" sz="1050" dirty="0"/>
          </a:p>
        </p:txBody>
      </p:sp>
      <p:sp>
        <p:nvSpPr>
          <p:cNvPr id="33" name="Text 31"/>
          <p:cNvSpPr/>
          <p:nvPr/>
        </p:nvSpPr>
        <p:spPr>
          <a:xfrm>
            <a:off x="4453128" y="3456432"/>
            <a:ext cx="3291840" cy="877824"/>
          </a:xfrm>
          <a:prstGeom prst="rect">
            <a:avLst/>
          </a:prstGeom>
          <a:noFill/>
          <a:ln/>
        </p:spPr>
        <p:txBody>
          <a:bodyPr wrap="square" lIns="0" tIns="0" rIns="0" bIns="0" rtlCol="0" anchor="t"/>
          <a:lstStyle/>
          <a:p>
            <a:pPr indent="0" marL="0">
              <a:lnSpc>
                <a:spcPct val="92000"/>
              </a:lnSpc>
              <a:buNone/>
            </a:pPr>
            <a:r>
              <a:rPr lang="en-US" sz="950" dirty="0">
                <a:solidFill>
                  <a:srgbClr val="5C6670"/>
                </a:solidFill>
                <a:latin typeface="Calibri" pitchFamily="34" charset="0"/>
                <a:ea typeface="Calibri" pitchFamily="34" charset="-122"/>
                <a:cs typeface="Calibri" pitchFamily="34" charset="-120"/>
              </a:rPr>
              <a:t>Yes at the 60 detected peaks; not across all 131,072 points. This is the open gate.</a:t>
            </a:r>
            <a:endParaRPr lang="en-US" sz="950" dirty="0"/>
          </a:p>
        </p:txBody>
      </p:sp>
      <p:sp>
        <p:nvSpPr>
          <p:cNvPr id="34" name="Shape 32"/>
          <p:cNvSpPr/>
          <p:nvPr/>
        </p:nvSpPr>
        <p:spPr>
          <a:xfrm>
            <a:off x="4315968" y="4553712"/>
            <a:ext cx="3566160" cy="1828800"/>
          </a:xfrm>
          <a:prstGeom prst="roundRect">
            <a:avLst>
              <a:gd name="adj" fmla="val 3000"/>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35" name="Shape 33"/>
          <p:cNvSpPr/>
          <p:nvPr/>
        </p:nvSpPr>
        <p:spPr>
          <a:xfrm>
            <a:off x="6309360" y="4672584"/>
            <a:ext cx="1417320" cy="210312"/>
          </a:xfrm>
          <a:prstGeom prst="roundRect">
            <a:avLst>
              <a:gd name="adj" fmla="val 43478"/>
            </a:avLst>
          </a:prstGeom>
          <a:solidFill>
            <a:srgbClr val="A32020"/>
          </a:solidFill>
          <a:ln w="6350">
            <a:solidFill>
              <a:srgbClr val="A32020"/>
            </a:solidFill>
            <a:prstDash val="solid"/>
          </a:ln>
        </p:spPr>
      </p:sp>
      <p:sp>
        <p:nvSpPr>
          <p:cNvPr id="36" name="Text 34"/>
          <p:cNvSpPr/>
          <p:nvPr/>
        </p:nvSpPr>
        <p:spPr>
          <a:xfrm>
            <a:off x="6309360" y="4672584"/>
            <a:ext cx="1417320" cy="21031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NOT STARTED</a:t>
            </a:r>
            <a:endParaRPr lang="en-US" sz="750" dirty="0"/>
          </a:p>
        </p:txBody>
      </p:sp>
      <p:sp>
        <p:nvSpPr>
          <p:cNvPr id="37" name="Text 35"/>
          <p:cNvSpPr/>
          <p:nvPr/>
        </p:nvSpPr>
        <p:spPr>
          <a:xfrm>
            <a:off x="4453128" y="4654296"/>
            <a:ext cx="1783080" cy="457200"/>
          </a:xfrm>
          <a:prstGeom prst="rect">
            <a:avLst/>
          </a:prstGeom>
          <a:noFill/>
          <a:ln/>
        </p:spPr>
        <p:txBody>
          <a:bodyPr wrap="square" lIns="0" tIns="0" rIns="0" bIns="0" rtlCol="0" anchor="t"/>
          <a:lstStyle/>
          <a:p>
            <a:pPr indent="0" marL="0">
              <a:lnSpc>
                <a:spcPct val="90000"/>
              </a:lnSpc>
              <a:buNone/>
            </a:pPr>
            <a:r>
              <a:rPr lang="en-US" sz="1050" b="1" dirty="0">
                <a:solidFill>
                  <a:srgbClr val="1A1A1A"/>
                </a:solidFill>
                <a:latin typeface="Calibri" pitchFamily="34" charset="0"/>
                <a:ea typeface="Calibri" pitchFamily="34" charset="-122"/>
                <a:cs typeface="Calibri" pitchFamily="34" charset="-120"/>
              </a:rPr>
              <a:t>Use synthetic data (generative, or metabolite sums)</a:t>
            </a:r>
            <a:endParaRPr lang="en-US" sz="1050" dirty="0"/>
          </a:p>
        </p:txBody>
      </p:sp>
      <p:sp>
        <p:nvSpPr>
          <p:cNvPr id="38" name="Text 36"/>
          <p:cNvSpPr/>
          <p:nvPr/>
        </p:nvSpPr>
        <p:spPr>
          <a:xfrm>
            <a:off x="4453128" y="5138928"/>
            <a:ext cx="3291840" cy="1133856"/>
          </a:xfrm>
          <a:prstGeom prst="rect">
            <a:avLst/>
          </a:prstGeom>
          <a:noFill/>
          <a:ln/>
        </p:spPr>
        <p:txBody>
          <a:bodyPr wrap="square" lIns="0" tIns="0" rIns="0" bIns="0" rtlCol="0" anchor="t"/>
          <a:lstStyle/>
          <a:p>
            <a:pPr indent="0" marL="0">
              <a:lnSpc>
                <a:spcPct val="92000"/>
              </a:lnSpc>
              <a:buNone/>
            </a:pPr>
            <a:r>
              <a:rPr lang="en-US" sz="950" dirty="0">
                <a:solidFill>
                  <a:srgbClr val="5C6670"/>
                </a:solidFill>
                <a:latin typeface="Calibri" pitchFamily="34" charset="0"/>
                <a:ea typeface="Calibri" pitchFamily="34" charset="-122"/>
                <a:cs typeface="Calibri" pitchFamily="34" charset="-120"/>
              </a:rPr>
              <a:t>A VAE (60 epochs) and a diffusion U-Net with sampler exist and are smoke-tested, but nothing generated has entered pretraining or evaluation.</a:t>
            </a:r>
            <a:endParaRPr lang="en-US" sz="950" dirty="0"/>
          </a:p>
        </p:txBody>
      </p:sp>
      <p:sp>
        <p:nvSpPr>
          <p:cNvPr id="39" name="Shape 37"/>
          <p:cNvSpPr/>
          <p:nvPr/>
        </p:nvSpPr>
        <p:spPr>
          <a:xfrm>
            <a:off x="7973568" y="1188720"/>
            <a:ext cx="3685032" cy="1572768"/>
          </a:xfrm>
          <a:prstGeom prst="roundRect">
            <a:avLst>
              <a:gd name="adj" fmla="val 3488"/>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40" name="Shape 38"/>
          <p:cNvSpPr/>
          <p:nvPr/>
        </p:nvSpPr>
        <p:spPr>
          <a:xfrm>
            <a:off x="10085832" y="1307592"/>
            <a:ext cx="1417320" cy="210312"/>
          </a:xfrm>
          <a:prstGeom prst="roundRect">
            <a:avLst>
              <a:gd name="adj" fmla="val 43478"/>
            </a:avLst>
          </a:prstGeom>
          <a:solidFill>
            <a:srgbClr val="A32020"/>
          </a:solidFill>
          <a:ln w="6350">
            <a:solidFill>
              <a:srgbClr val="A32020"/>
            </a:solidFill>
            <a:prstDash val="solid"/>
          </a:ln>
        </p:spPr>
      </p:sp>
      <p:sp>
        <p:nvSpPr>
          <p:cNvPr id="41" name="Text 39"/>
          <p:cNvSpPr/>
          <p:nvPr/>
        </p:nvSpPr>
        <p:spPr>
          <a:xfrm>
            <a:off x="10085832" y="1307592"/>
            <a:ext cx="1417320" cy="21031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UNTESTED</a:t>
            </a:r>
            <a:endParaRPr lang="en-US" sz="750" dirty="0"/>
          </a:p>
        </p:txBody>
      </p:sp>
      <p:sp>
        <p:nvSpPr>
          <p:cNvPr id="42" name="Text 40"/>
          <p:cNvSpPr/>
          <p:nvPr/>
        </p:nvSpPr>
        <p:spPr>
          <a:xfrm>
            <a:off x="8110728" y="1289304"/>
            <a:ext cx="1901952" cy="457200"/>
          </a:xfrm>
          <a:prstGeom prst="rect">
            <a:avLst/>
          </a:prstGeom>
          <a:noFill/>
          <a:ln/>
        </p:spPr>
        <p:txBody>
          <a:bodyPr wrap="square" lIns="0" tIns="0" rIns="0" bIns="0" rtlCol="0" anchor="t"/>
          <a:lstStyle/>
          <a:p>
            <a:pPr indent="0" marL="0">
              <a:lnSpc>
                <a:spcPct val="90000"/>
              </a:lnSpc>
              <a:buNone/>
            </a:pPr>
            <a:r>
              <a:rPr lang="en-US" sz="1050" b="1" dirty="0">
                <a:solidFill>
                  <a:srgbClr val="1A1A1A"/>
                </a:solidFill>
                <a:latin typeface="Calibri" pitchFamily="34" charset="0"/>
                <a:ea typeface="Calibri" pitchFamily="34" charset="-122"/>
                <a:cs typeface="Calibri" pitchFamily="34" charset="-120"/>
              </a:rPr>
              <a:t>Does synthetic data help?</a:t>
            </a:r>
            <a:endParaRPr lang="en-US" sz="1050" dirty="0"/>
          </a:p>
        </p:txBody>
      </p:sp>
      <p:sp>
        <p:nvSpPr>
          <p:cNvPr id="43" name="Text 41"/>
          <p:cNvSpPr/>
          <p:nvPr/>
        </p:nvSpPr>
        <p:spPr>
          <a:xfrm>
            <a:off x="8110728" y="1773936"/>
            <a:ext cx="3410712" cy="877824"/>
          </a:xfrm>
          <a:prstGeom prst="rect">
            <a:avLst/>
          </a:prstGeom>
          <a:noFill/>
          <a:ln/>
        </p:spPr>
        <p:txBody>
          <a:bodyPr wrap="square" lIns="0" tIns="0" rIns="0" bIns="0" rtlCol="0" anchor="t"/>
          <a:lstStyle/>
          <a:p>
            <a:pPr indent="0" marL="0">
              <a:lnSpc>
                <a:spcPct val="92000"/>
              </a:lnSpc>
              <a:buNone/>
            </a:pPr>
            <a:r>
              <a:rPr lang="en-US" sz="950" dirty="0">
                <a:solidFill>
                  <a:srgbClr val="5C6670"/>
                </a:solidFill>
                <a:latin typeface="Calibri" pitchFamily="34" charset="0"/>
                <a:ea typeface="Calibri" pitchFamily="34" charset="-122"/>
                <a:cs typeface="Calibri" pitchFamily="34" charset="-120"/>
              </a:rPr>
              <a:t>The decisive experiment in your tree — and the one we have not run.</a:t>
            </a:r>
            <a:endParaRPr lang="en-US" sz="950" dirty="0"/>
          </a:p>
        </p:txBody>
      </p:sp>
      <p:sp>
        <p:nvSpPr>
          <p:cNvPr id="44" name="Shape 42"/>
          <p:cNvSpPr/>
          <p:nvPr/>
        </p:nvSpPr>
        <p:spPr>
          <a:xfrm>
            <a:off x="7973568" y="2871216"/>
            <a:ext cx="3685032" cy="1572768"/>
          </a:xfrm>
          <a:prstGeom prst="roundRect">
            <a:avLst>
              <a:gd name="adj" fmla="val 3488"/>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45" name="Shape 43"/>
          <p:cNvSpPr/>
          <p:nvPr/>
        </p:nvSpPr>
        <p:spPr>
          <a:xfrm>
            <a:off x="10085832" y="2990088"/>
            <a:ext cx="1417320" cy="210312"/>
          </a:xfrm>
          <a:prstGeom prst="roundRect">
            <a:avLst>
              <a:gd name="adj" fmla="val 43478"/>
            </a:avLst>
          </a:prstGeom>
          <a:solidFill>
            <a:srgbClr val="B36A00"/>
          </a:solidFill>
          <a:ln w="6350">
            <a:solidFill>
              <a:srgbClr val="B36A00"/>
            </a:solidFill>
            <a:prstDash val="solid"/>
          </a:ln>
        </p:spPr>
      </p:sp>
      <p:sp>
        <p:nvSpPr>
          <p:cNvPr id="46" name="Text 44"/>
          <p:cNvSpPr/>
          <p:nvPr/>
        </p:nvSpPr>
        <p:spPr>
          <a:xfrm>
            <a:off x="10085832" y="2990088"/>
            <a:ext cx="1417320" cy="21031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ALREADY BURNED</a:t>
            </a:r>
            <a:endParaRPr lang="en-US" sz="750" dirty="0"/>
          </a:p>
        </p:txBody>
      </p:sp>
      <p:sp>
        <p:nvSpPr>
          <p:cNvPr id="47" name="Text 45"/>
          <p:cNvSpPr/>
          <p:nvPr/>
        </p:nvSpPr>
        <p:spPr>
          <a:xfrm>
            <a:off x="8110728" y="2971800"/>
            <a:ext cx="1901952" cy="457200"/>
          </a:xfrm>
          <a:prstGeom prst="rect">
            <a:avLst/>
          </a:prstGeom>
          <a:noFill/>
          <a:ln/>
        </p:spPr>
        <p:txBody>
          <a:bodyPr wrap="square" lIns="0" tIns="0" rIns="0" bIns="0" rtlCol="0" anchor="t"/>
          <a:lstStyle/>
          <a:p>
            <a:pPr indent="0" marL="0">
              <a:lnSpc>
                <a:spcPct val="90000"/>
              </a:lnSpc>
              <a:buNone/>
            </a:pPr>
            <a:r>
              <a:rPr lang="en-US" sz="1050" b="1" dirty="0">
                <a:solidFill>
                  <a:srgbClr val="1A1A1A"/>
                </a:solidFill>
                <a:latin typeface="Calibri" pitchFamily="34" charset="0"/>
                <a:ea typeface="Calibri" pitchFamily="34" charset="-122"/>
                <a:cs typeface="Calibri" pitchFamily="34" charset="-120"/>
              </a:rPr>
              <a:t>If no → more parameters</a:t>
            </a:r>
            <a:endParaRPr lang="en-US" sz="1050" dirty="0"/>
          </a:p>
        </p:txBody>
      </p:sp>
      <p:sp>
        <p:nvSpPr>
          <p:cNvPr id="48" name="Text 46"/>
          <p:cNvSpPr/>
          <p:nvPr/>
        </p:nvSpPr>
        <p:spPr>
          <a:xfrm>
            <a:off x="8110728" y="3456432"/>
            <a:ext cx="3410712" cy="877824"/>
          </a:xfrm>
          <a:prstGeom prst="rect">
            <a:avLst/>
          </a:prstGeom>
          <a:noFill/>
          <a:ln/>
        </p:spPr>
        <p:txBody>
          <a:bodyPr wrap="square" lIns="0" tIns="0" rIns="0" bIns="0" rtlCol="0" anchor="t"/>
          <a:lstStyle/>
          <a:p>
            <a:pPr indent="0" marL="0">
              <a:lnSpc>
                <a:spcPct val="92000"/>
              </a:lnSpc>
              <a:buNone/>
            </a:pPr>
            <a:r>
              <a:rPr lang="en-US" sz="950" dirty="0">
                <a:solidFill>
                  <a:srgbClr val="5C6670"/>
                </a:solidFill>
                <a:latin typeface="Calibri" pitchFamily="34" charset="0"/>
                <a:ea typeface="Calibri" pitchFamily="34" charset="-122"/>
                <a:cs typeface="Calibri" pitchFamily="34" charset="-120"/>
              </a:rPr>
              <a:t>Tested out of order. Four capacity experiments, all at or below the noise floor.</a:t>
            </a:r>
            <a:endParaRPr lang="en-US" sz="950" dirty="0"/>
          </a:p>
        </p:txBody>
      </p:sp>
      <p:sp>
        <p:nvSpPr>
          <p:cNvPr id="49" name="Shape 47"/>
          <p:cNvSpPr/>
          <p:nvPr/>
        </p:nvSpPr>
        <p:spPr>
          <a:xfrm>
            <a:off x="7973568" y="4553712"/>
            <a:ext cx="3685032" cy="1828800"/>
          </a:xfrm>
          <a:prstGeom prst="roundRect">
            <a:avLst>
              <a:gd name="adj" fmla="val 3000"/>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50" name="Shape 48"/>
          <p:cNvSpPr/>
          <p:nvPr/>
        </p:nvSpPr>
        <p:spPr>
          <a:xfrm>
            <a:off x="10085832" y="4672584"/>
            <a:ext cx="1417320" cy="210312"/>
          </a:xfrm>
          <a:prstGeom prst="roundRect">
            <a:avLst>
              <a:gd name="adj" fmla="val 43478"/>
            </a:avLst>
          </a:prstGeom>
          <a:solidFill>
            <a:srgbClr val="1C7293"/>
          </a:solidFill>
          <a:ln w="6350">
            <a:solidFill>
              <a:srgbClr val="1C7293"/>
            </a:solidFill>
            <a:prstDash val="solid"/>
          </a:ln>
        </p:spPr>
      </p:sp>
      <p:sp>
        <p:nvSpPr>
          <p:cNvPr id="51" name="Text 49"/>
          <p:cNvSpPr/>
          <p:nvPr/>
        </p:nvSpPr>
        <p:spPr>
          <a:xfrm>
            <a:off x="10085832" y="4672584"/>
            <a:ext cx="1417320" cy="21031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PREMATURE</a:t>
            </a:r>
            <a:endParaRPr lang="en-US" sz="750" dirty="0"/>
          </a:p>
        </p:txBody>
      </p:sp>
      <p:sp>
        <p:nvSpPr>
          <p:cNvPr id="52" name="Text 50"/>
          <p:cNvSpPr/>
          <p:nvPr/>
        </p:nvSpPr>
        <p:spPr>
          <a:xfrm>
            <a:off x="8110728" y="4654296"/>
            <a:ext cx="1901952" cy="457200"/>
          </a:xfrm>
          <a:prstGeom prst="rect">
            <a:avLst/>
          </a:prstGeom>
          <a:noFill/>
          <a:ln/>
        </p:spPr>
        <p:txBody>
          <a:bodyPr wrap="square" lIns="0" tIns="0" rIns="0" bIns="0" rtlCol="0" anchor="t"/>
          <a:lstStyle/>
          <a:p>
            <a:pPr indent="0" marL="0">
              <a:lnSpc>
                <a:spcPct val="90000"/>
              </a:lnSpc>
              <a:buNone/>
            </a:pPr>
            <a:r>
              <a:rPr lang="en-US" sz="1050" b="1" dirty="0">
                <a:solidFill>
                  <a:srgbClr val="1A1A1A"/>
                </a:solidFill>
                <a:latin typeface="Calibri" pitchFamily="34" charset="0"/>
                <a:ea typeface="Calibri" pitchFamily="34" charset="-122"/>
                <a:cs typeface="Calibri" pitchFamily="34" charset="-120"/>
              </a:rPr>
              <a:t>If no → we have hit a limit on these tasks</a:t>
            </a:r>
            <a:endParaRPr lang="en-US" sz="1050" dirty="0"/>
          </a:p>
        </p:txBody>
      </p:sp>
      <p:sp>
        <p:nvSpPr>
          <p:cNvPr id="53" name="Text 51"/>
          <p:cNvSpPr/>
          <p:nvPr/>
        </p:nvSpPr>
        <p:spPr>
          <a:xfrm>
            <a:off x="8110728" y="5138928"/>
            <a:ext cx="3410712" cy="1133856"/>
          </a:xfrm>
          <a:prstGeom prst="rect">
            <a:avLst/>
          </a:prstGeom>
          <a:noFill/>
          <a:ln/>
        </p:spPr>
        <p:txBody>
          <a:bodyPr wrap="square" lIns="0" tIns="0" rIns="0" bIns="0" rtlCol="0" anchor="t"/>
          <a:lstStyle/>
          <a:p>
            <a:pPr indent="0" marL="0">
              <a:lnSpc>
                <a:spcPct val="92000"/>
              </a:lnSpc>
              <a:buNone/>
            </a:pPr>
            <a:r>
              <a:rPr lang="en-US" sz="950" dirty="0">
                <a:solidFill>
                  <a:srgbClr val="5C6670"/>
                </a:solidFill>
                <a:latin typeface="Calibri" pitchFamily="34" charset="0"/>
                <a:ea typeface="Calibri" pitchFamily="34" charset="-122"/>
                <a:cs typeface="Calibri" pitchFamily="34" charset="-120"/>
              </a:rPr>
              <a:t>Not concludable yet: the synthetic branch is untried, and n = 37–113 against a 0.035 noise floor may simply be too small to resolve differences.</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329184"/>
            <a:ext cx="10058400" cy="237744"/>
          </a:xfrm>
          <a:prstGeom prst="rect">
            <a:avLst/>
          </a:prstGeom>
          <a:noFill/>
          <a:ln/>
        </p:spPr>
        <p:txBody>
          <a:bodyPr wrap="square" lIns="0" tIns="0" rIns="0" bIns="0" rtlCol="0" anchor="ctr"/>
          <a:lstStyle/>
          <a:p>
            <a:pPr indent="0" marL="0">
              <a:buNone/>
            </a:pPr>
            <a:r>
              <a:rPr lang="en-US" sz="1150" b="1" spc="120" kern="0" dirty="0">
                <a:solidFill>
                  <a:srgbClr val="1C7293"/>
                </a:solidFill>
                <a:latin typeface="Calibri" pitchFamily="34" charset="0"/>
                <a:ea typeface="Calibri" pitchFamily="34" charset="-122"/>
                <a:cs typeface="Calibri" pitchFamily="34" charset="-120"/>
              </a:rPr>
              <a:t>PART 4 · THE DATA QUESTION</a:t>
            </a:r>
            <a:endParaRPr lang="en-US" sz="1150" dirty="0"/>
          </a:p>
        </p:txBody>
      </p:sp>
      <p:sp>
        <p:nvSpPr>
          <p:cNvPr id="3" name="Text 1"/>
          <p:cNvSpPr/>
          <p:nvPr/>
        </p:nvSpPr>
        <p:spPr>
          <a:xfrm>
            <a:off x="502920" y="566928"/>
            <a:ext cx="11155680" cy="502920"/>
          </a:xfrm>
          <a:prstGeom prst="rect">
            <a:avLst/>
          </a:prstGeom>
          <a:noFill/>
          <a:ln/>
        </p:spPr>
        <p:txBody>
          <a:bodyPr wrap="square" lIns="0" tIns="0" rIns="0" bIns="0" rtlCol="0" anchor="ctr"/>
          <a:lstStyle/>
          <a:p>
            <a:pPr indent="0" marL="0">
              <a:buNone/>
            </a:pPr>
            <a:r>
              <a:rPr lang="en-US" sz="2700" b="1" dirty="0">
                <a:solidFill>
                  <a:srgbClr val="065A82"/>
                </a:solidFill>
                <a:latin typeface="Cambria" pitchFamily="34" charset="0"/>
                <a:ea typeface="Cambria" pitchFamily="34" charset="-122"/>
                <a:cs typeface="Cambria" pitchFamily="34" charset="-120"/>
              </a:rPr>
              <a:t>“Is data limiting?” — what our own corpus says</a:t>
            </a:r>
            <a:endParaRPr lang="en-US" sz="2700" dirty="0"/>
          </a:p>
        </p:txBody>
      </p:sp>
      <p:pic>
        <p:nvPicPr>
          <p:cNvPr id="4" name="Image 0" descr="/home/nmrbox/0012/shasharma/Desktop/NMR_Metabolomics/results/analysis/peak_saturation_full_nw/saturation_ratio_summary.png">    </p:cNvPr>
          <p:cNvPicPr>
            <a:picLocks noChangeAspect="1"/>
          </p:cNvPicPr>
          <p:nvPr/>
        </p:nvPicPr>
        <p:blipFill>
          <a:blip r:embed="rId1"/>
          <a:stretch>
            <a:fillRect/>
          </a:stretch>
        </p:blipFill>
        <p:spPr>
          <a:xfrm>
            <a:off x="1600200" y="1188720"/>
            <a:ext cx="8961120" cy="2667000"/>
          </a:xfrm>
          <a:prstGeom prst="rect">
            <a:avLst/>
          </a:prstGeom>
        </p:spPr>
      </p:pic>
      <p:sp>
        <p:nvSpPr>
          <p:cNvPr id="5" name="Text 2"/>
          <p:cNvSpPr/>
          <p:nvPr/>
        </p:nvSpPr>
        <p:spPr>
          <a:xfrm>
            <a:off x="1600200" y="3901440"/>
            <a:ext cx="8961120" cy="310896"/>
          </a:xfrm>
          <a:prstGeom prst="rect">
            <a:avLst/>
          </a:prstGeom>
          <a:noFill/>
          <a:ln/>
        </p:spPr>
        <p:txBody>
          <a:bodyPr wrap="square" lIns="0" tIns="0" rIns="0" bIns="0" rtlCol="0" anchor="t"/>
          <a:lstStyle/>
          <a:p>
            <a:pPr indent="0" marL="0">
              <a:lnSpc>
                <a:spcPct val="95000"/>
              </a:lnSpc>
              <a:buNone/>
            </a:pPr>
            <a:r>
              <a:rPr lang="en-US" sz="950" i="1" dirty="0">
                <a:solidFill>
                  <a:srgbClr val="5C6670"/>
                </a:solidFill>
                <a:latin typeface="Calibri" pitchFamily="34" charset="0"/>
                <a:ea typeface="Calibri" pitchFamily="34" charset="-122"/>
                <a:cs typeface="Calibri" pitchFamily="34" charset="-120"/>
              </a:rPr>
              <a:t>KS saturation ratio per canonical peak: the fraction of the corpus needed before that peak's intensity distribution stops changing. All 60 peaks sit below 0.30; none is unsaturated.</a:t>
            </a:r>
            <a:endParaRPr lang="en-US" sz="950" dirty="0"/>
          </a:p>
        </p:txBody>
      </p:sp>
      <p:sp>
        <p:nvSpPr>
          <p:cNvPr id="6" name="Shape 3"/>
          <p:cNvSpPr/>
          <p:nvPr/>
        </p:nvSpPr>
        <p:spPr>
          <a:xfrm>
            <a:off x="502920" y="4285488"/>
            <a:ext cx="2697480" cy="1097280"/>
          </a:xfrm>
          <a:prstGeom prst="roundRect">
            <a:avLst>
              <a:gd name="adj" fmla="val 5000"/>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7" name="Text 4"/>
          <p:cNvSpPr/>
          <p:nvPr/>
        </p:nvSpPr>
        <p:spPr>
          <a:xfrm>
            <a:off x="502920" y="4376928"/>
            <a:ext cx="2697480" cy="504749"/>
          </a:xfrm>
          <a:prstGeom prst="rect">
            <a:avLst/>
          </a:prstGeom>
          <a:noFill/>
          <a:ln/>
        </p:spPr>
        <p:txBody>
          <a:bodyPr wrap="square" lIns="0" tIns="0" rIns="0" bIns="0" rtlCol="0" anchor="ctr"/>
          <a:lstStyle/>
          <a:p>
            <a:pPr algn="ctr" indent="0" marL="0">
              <a:buNone/>
            </a:pPr>
            <a:r>
              <a:rPr lang="en-US" sz="2700" b="1" dirty="0">
                <a:solidFill>
                  <a:srgbClr val="065A82"/>
                </a:solidFill>
                <a:latin typeface="Cambria" pitchFamily="34" charset="0"/>
                <a:ea typeface="Cambria" pitchFamily="34" charset="-122"/>
                <a:cs typeface="Cambria" pitchFamily="34" charset="-120"/>
              </a:rPr>
              <a:t>364</a:t>
            </a:r>
            <a:endParaRPr lang="en-US" sz="2700" dirty="0"/>
          </a:p>
        </p:txBody>
      </p:sp>
      <p:sp>
        <p:nvSpPr>
          <p:cNvPr id="8" name="Text 5"/>
          <p:cNvSpPr/>
          <p:nvPr/>
        </p:nvSpPr>
        <p:spPr>
          <a:xfrm>
            <a:off x="594360" y="4878019"/>
            <a:ext cx="2514600" cy="460858"/>
          </a:xfrm>
          <a:prstGeom prst="rect">
            <a:avLst/>
          </a:prstGeom>
          <a:noFill/>
          <a:ln/>
        </p:spPr>
        <p:txBody>
          <a:bodyPr wrap="square" lIns="0" tIns="0" rIns="0" bIns="0" rtlCol="0" anchor="t"/>
          <a:lstStyle/>
          <a:p>
            <a:pPr algn="ctr" indent="0" marL="0">
              <a:lnSpc>
                <a:spcPct val="93000"/>
              </a:lnSpc>
              <a:buNone/>
            </a:pPr>
            <a:r>
              <a:rPr lang="en-US" sz="950" dirty="0">
                <a:solidFill>
                  <a:srgbClr val="5C6670"/>
                </a:solidFill>
                <a:latin typeface="Calibri" pitchFamily="34" charset="0"/>
                <a:ea typeface="Calibri" pitchFamily="34" charset="-122"/>
                <a:cs typeface="Calibri" pitchFamily="34" charset="-120"/>
              </a:rPr>
              <a:t>median spectra to converge, of 9,670</a:t>
            </a:r>
            <a:endParaRPr lang="en-US" sz="950" dirty="0"/>
          </a:p>
        </p:txBody>
      </p:sp>
      <p:sp>
        <p:nvSpPr>
          <p:cNvPr id="9" name="Shape 6"/>
          <p:cNvSpPr/>
          <p:nvPr/>
        </p:nvSpPr>
        <p:spPr>
          <a:xfrm>
            <a:off x="3429000" y="4285488"/>
            <a:ext cx="2697480" cy="1097280"/>
          </a:xfrm>
          <a:prstGeom prst="roundRect">
            <a:avLst>
              <a:gd name="adj" fmla="val 5000"/>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10" name="Text 7"/>
          <p:cNvSpPr/>
          <p:nvPr/>
        </p:nvSpPr>
        <p:spPr>
          <a:xfrm>
            <a:off x="3429000" y="4376928"/>
            <a:ext cx="2697480" cy="504749"/>
          </a:xfrm>
          <a:prstGeom prst="rect">
            <a:avLst/>
          </a:prstGeom>
          <a:noFill/>
          <a:ln/>
        </p:spPr>
        <p:txBody>
          <a:bodyPr wrap="square" lIns="0" tIns="0" rIns="0" bIns="0" rtlCol="0" anchor="ctr"/>
          <a:lstStyle/>
          <a:p>
            <a:pPr algn="ctr" indent="0" marL="0">
              <a:buNone/>
            </a:pPr>
            <a:r>
              <a:rPr lang="en-US" sz="2500" b="1" dirty="0">
                <a:solidFill>
                  <a:srgbClr val="1B7F4F"/>
                </a:solidFill>
                <a:latin typeface="Cambria" pitchFamily="34" charset="0"/>
                <a:ea typeface="Cambria" pitchFamily="34" charset="-122"/>
                <a:cs typeface="Cambria" pitchFamily="34" charset="-120"/>
              </a:rPr>
              <a:t>60 / 60</a:t>
            </a:r>
            <a:endParaRPr lang="en-US" sz="2500" dirty="0"/>
          </a:p>
        </p:txBody>
      </p:sp>
      <p:sp>
        <p:nvSpPr>
          <p:cNvPr id="11" name="Text 8"/>
          <p:cNvSpPr/>
          <p:nvPr/>
        </p:nvSpPr>
        <p:spPr>
          <a:xfrm>
            <a:off x="3520440" y="4878019"/>
            <a:ext cx="2514600" cy="460858"/>
          </a:xfrm>
          <a:prstGeom prst="rect">
            <a:avLst/>
          </a:prstGeom>
          <a:noFill/>
          <a:ln/>
        </p:spPr>
        <p:txBody>
          <a:bodyPr wrap="square" lIns="0" tIns="0" rIns="0" bIns="0" rtlCol="0" anchor="t"/>
          <a:lstStyle/>
          <a:p>
            <a:pPr algn="ctr" indent="0" marL="0">
              <a:lnSpc>
                <a:spcPct val="93000"/>
              </a:lnSpc>
              <a:buNone/>
            </a:pPr>
            <a:r>
              <a:rPr lang="en-US" sz="950" dirty="0">
                <a:solidFill>
                  <a:srgbClr val="5C6670"/>
                </a:solidFill>
                <a:latin typeface="Calibri" pitchFamily="34" charset="0"/>
                <a:ea typeface="Calibri" pitchFamily="34" charset="-122"/>
                <a:cs typeface="Calibri" pitchFamily="34" charset="-120"/>
              </a:rPr>
              <a:t>peaks already under 5% relative SEM</a:t>
            </a:r>
            <a:endParaRPr lang="en-US" sz="950" dirty="0"/>
          </a:p>
        </p:txBody>
      </p:sp>
      <p:sp>
        <p:nvSpPr>
          <p:cNvPr id="12" name="Shape 9"/>
          <p:cNvSpPr/>
          <p:nvPr/>
        </p:nvSpPr>
        <p:spPr>
          <a:xfrm>
            <a:off x="6355080" y="4285488"/>
            <a:ext cx="2697480" cy="1097280"/>
          </a:xfrm>
          <a:prstGeom prst="roundRect">
            <a:avLst>
              <a:gd name="adj" fmla="val 5000"/>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13" name="Text 10"/>
          <p:cNvSpPr/>
          <p:nvPr/>
        </p:nvSpPr>
        <p:spPr>
          <a:xfrm>
            <a:off x="6355080" y="4376928"/>
            <a:ext cx="2697480" cy="504749"/>
          </a:xfrm>
          <a:prstGeom prst="rect">
            <a:avLst/>
          </a:prstGeom>
          <a:noFill/>
          <a:ln/>
        </p:spPr>
        <p:txBody>
          <a:bodyPr wrap="square" lIns="0" tIns="0" rIns="0" bIns="0" rtlCol="0" anchor="ctr"/>
          <a:lstStyle/>
          <a:p>
            <a:pPr algn="ctr" indent="0" marL="0">
              <a:buNone/>
            </a:pPr>
            <a:r>
              <a:rPr lang="en-US" sz="2500" b="1" dirty="0">
                <a:solidFill>
                  <a:srgbClr val="1B7F4F"/>
                </a:solidFill>
                <a:latin typeface="Cambria" pitchFamily="34" charset="0"/>
                <a:ea typeface="Cambria" pitchFamily="34" charset="-122"/>
                <a:cs typeface="Cambria" pitchFamily="34" charset="-120"/>
              </a:rPr>
              <a:t>0 / 60</a:t>
            </a:r>
            <a:endParaRPr lang="en-US" sz="2500" dirty="0"/>
          </a:p>
        </p:txBody>
      </p:sp>
      <p:sp>
        <p:nvSpPr>
          <p:cNvPr id="14" name="Text 11"/>
          <p:cNvSpPr/>
          <p:nvPr/>
        </p:nvSpPr>
        <p:spPr>
          <a:xfrm>
            <a:off x="6446520" y="4878019"/>
            <a:ext cx="2514600" cy="460858"/>
          </a:xfrm>
          <a:prstGeom prst="rect">
            <a:avLst/>
          </a:prstGeom>
          <a:noFill/>
          <a:ln/>
        </p:spPr>
        <p:txBody>
          <a:bodyPr wrap="square" lIns="0" tIns="0" rIns="0" bIns="0" rtlCol="0" anchor="t"/>
          <a:lstStyle/>
          <a:p>
            <a:pPr algn="ctr" indent="0" marL="0">
              <a:lnSpc>
                <a:spcPct val="93000"/>
              </a:lnSpc>
              <a:buNone/>
            </a:pPr>
            <a:r>
              <a:rPr lang="en-US" sz="950" dirty="0">
                <a:solidFill>
                  <a:srgbClr val="5C6670"/>
                </a:solidFill>
                <a:latin typeface="Calibri" pitchFamily="34" charset="0"/>
                <a:ea typeface="Calibri" pitchFamily="34" charset="-122"/>
                <a:cs typeface="Calibri" pitchFamily="34" charset="-120"/>
              </a:rPr>
              <a:t>peaks needing more than 9,670</a:t>
            </a:r>
            <a:endParaRPr lang="en-US" sz="950" dirty="0"/>
          </a:p>
        </p:txBody>
      </p:sp>
      <p:sp>
        <p:nvSpPr>
          <p:cNvPr id="15" name="Shape 12"/>
          <p:cNvSpPr/>
          <p:nvPr/>
        </p:nvSpPr>
        <p:spPr>
          <a:xfrm>
            <a:off x="9281160" y="4285488"/>
            <a:ext cx="2377440" cy="1097280"/>
          </a:xfrm>
          <a:prstGeom prst="roundRect">
            <a:avLst>
              <a:gd name="adj" fmla="val 5000"/>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16" name="Text 13"/>
          <p:cNvSpPr/>
          <p:nvPr/>
        </p:nvSpPr>
        <p:spPr>
          <a:xfrm>
            <a:off x="9281160" y="4376928"/>
            <a:ext cx="2377440" cy="504749"/>
          </a:xfrm>
          <a:prstGeom prst="rect">
            <a:avLst/>
          </a:prstGeom>
          <a:noFill/>
          <a:ln/>
        </p:spPr>
        <p:txBody>
          <a:bodyPr wrap="square" lIns="0" tIns="0" rIns="0" bIns="0" rtlCol="0" anchor="ctr"/>
          <a:lstStyle/>
          <a:p>
            <a:pPr algn="ctr" indent="0" marL="0">
              <a:buNone/>
            </a:pPr>
            <a:r>
              <a:rPr lang="en-US" sz="2700" b="1" dirty="0">
                <a:solidFill>
                  <a:srgbClr val="1C7293"/>
                </a:solidFill>
                <a:latin typeface="Cambria" pitchFamily="34" charset="0"/>
                <a:ea typeface="Cambria" pitchFamily="34" charset="-122"/>
                <a:cs typeface="Cambria" pitchFamily="34" charset="-120"/>
              </a:rPr>
              <a:t>9%</a:t>
            </a:r>
            <a:endParaRPr lang="en-US" sz="2700" dirty="0"/>
          </a:p>
        </p:txBody>
      </p:sp>
      <p:sp>
        <p:nvSpPr>
          <p:cNvPr id="17" name="Text 14"/>
          <p:cNvSpPr/>
          <p:nvPr/>
        </p:nvSpPr>
        <p:spPr>
          <a:xfrm>
            <a:off x="9372600" y="4878019"/>
            <a:ext cx="2194560" cy="460858"/>
          </a:xfrm>
          <a:prstGeom prst="rect">
            <a:avLst/>
          </a:prstGeom>
          <a:noFill/>
          <a:ln/>
        </p:spPr>
        <p:txBody>
          <a:bodyPr wrap="square" lIns="0" tIns="0" rIns="0" bIns="0" rtlCol="0" anchor="t"/>
          <a:lstStyle/>
          <a:p>
            <a:pPr algn="ctr" indent="0" marL="0">
              <a:lnSpc>
                <a:spcPct val="93000"/>
              </a:lnSpc>
              <a:buNone/>
            </a:pPr>
            <a:r>
              <a:rPr lang="en-US" sz="950" dirty="0">
                <a:solidFill>
                  <a:srgbClr val="5C6670"/>
                </a:solidFill>
                <a:latin typeface="Calibri" pitchFamily="34" charset="0"/>
                <a:ea typeface="Calibri" pitchFamily="34" charset="-122"/>
                <a:cs typeface="Calibri" pitchFamily="34" charset="-120"/>
              </a:rPr>
              <a:t>of the corpus is enough</a:t>
            </a:r>
            <a:endParaRPr lang="en-US" sz="950" dirty="0"/>
          </a:p>
        </p:txBody>
      </p:sp>
      <p:sp>
        <p:nvSpPr>
          <p:cNvPr id="18" name="Shape 15"/>
          <p:cNvSpPr/>
          <p:nvPr/>
        </p:nvSpPr>
        <p:spPr>
          <a:xfrm>
            <a:off x="502920" y="5492496"/>
            <a:ext cx="5532120" cy="890016"/>
          </a:xfrm>
          <a:prstGeom prst="roundRect">
            <a:avLst>
              <a:gd name="adj" fmla="val 6164"/>
            </a:avLst>
          </a:prstGeom>
          <a:solidFill>
            <a:srgbClr val="E8F4EC"/>
          </a:solidFill>
          <a:ln w="6350">
            <a:solidFill>
              <a:srgbClr val="E8F4EC"/>
            </a:solidFill>
            <a:prstDash val="solid"/>
          </a:ln>
          <a:effectLst>
            <a:outerShdw sx="100000" sy="100000" kx="0" ky="0" algn="bl" rotWithShape="0" blurRad="76200" dist="12700" dir="5400000">
              <a:srgbClr val="8899A6">
                <a:alpha val="18000"/>
              </a:srgbClr>
            </a:outerShdw>
          </a:effectLst>
        </p:spPr>
      </p:sp>
      <p:sp>
        <p:nvSpPr>
          <p:cNvPr id="19" name="Shape 16"/>
          <p:cNvSpPr/>
          <p:nvPr/>
        </p:nvSpPr>
        <p:spPr>
          <a:xfrm>
            <a:off x="685800" y="5647944"/>
            <a:ext cx="365760" cy="365760"/>
          </a:xfrm>
          <a:prstGeom prst="ellipse">
            <a:avLst/>
          </a:prstGeom>
          <a:solidFill>
            <a:srgbClr val="1B7F4F"/>
          </a:solidFill>
          <a:ln w="6350">
            <a:solidFill>
              <a:srgbClr val="1B7F4F"/>
            </a:solidFill>
            <a:prstDash val="solid"/>
          </a:ln>
        </p:spPr>
      </p:sp>
      <p:sp>
        <p:nvSpPr>
          <p:cNvPr id="20" name="Text 17"/>
          <p:cNvSpPr/>
          <p:nvPr/>
        </p:nvSpPr>
        <p:spPr>
          <a:xfrm>
            <a:off x="685800" y="56479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1" name="Text 18"/>
          <p:cNvSpPr/>
          <p:nvPr/>
        </p:nvSpPr>
        <p:spPr>
          <a:xfrm>
            <a:off x="1161288" y="5638800"/>
            <a:ext cx="469087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More of the same data will not help</a:t>
            </a:r>
            <a:endParaRPr lang="en-US" sz="1300" dirty="0"/>
          </a:p>
        </p:txBody>
      </p:sp>
      <p:sp>
        <p:nvSpPr>
          <p:cNvPr id="22" name="Text 19"/>
          <p:cNvSpPr/>
          <p:nvPr/>
        </p:nvSpPr>
        <p:spPr>
          <a:xfrm>
            <a:off x="704088" y="6059424"/>
            <a:ext cx="5129784" cy="195072"/>
          </a:xfrm>
          <a:prstGeom prst="rect">
            <a:avLst/>
          </a:prstGeom>
          <a:noFill/>
          <a:ln/>
        </p:spPr>
        <p:txBody>
          <a:bodyPr wrap="square" lIns="0" tIns="0" rIns="0" bIns="0" rtlCol="0" anchor="t"/>
          <a:lstStyle/>
          <a:p>
            <a:pPr indent="0" marL="0">
              <a:lnSpc>
                <a:spcPct val="100000"/>
              </a:lnSpc>
              <a:buNone/>
            </a:pPr>
            <a:r>
              <a:rPr lang="en-US" sz="1050" dirty="0">
                <a:solidFill>
                  <a:srgbClr val="1A1A1A"/>
                </a:solidFill>
                <a:latin typeface="Calibri" pitchFamily="34" charset="0"/>
                <a:ea typeface="Calibri" pitchFamily="34" charset="-122"/>
                <a:cs typeface="Calibri" pitchFamily="34" charset="-120"/>
              </a:rPr>
              <a:t>Saturated by a wide margin — more public spectra of this kind should not change them.</a:t>
            </a:r>
            <a:endParaRPr lang="en-US" sz="1050" dirty="0"/>
          </a:p>
        </p:txBody>
      </p:sp>
      <p:sp>
        <p:nvSpPr>
          <p:cNvPr id="23" name="Shape 20"/>
          <p:cNvSpPr/>
          <p:nvPr/>
        </p:nvSpPr>
        <p:spPr>
          <a:xfrm>
            <a:off x="6263640" y="5492496"/>
            <a:ext cx="5394960" cy="890016"/>
          </a:xfrm>
          <a:prstGeom prst="roundRect">
            <a:avLst>
              <a:gd name="adj" fmla="val 6164"/>
            </a:avLst>
          </a:prstGeom>
          <a:solidFill>
            <a:srgbClr val="FBF0E8"/>
          </a:solidFill>
          <a:ln w="6350">
            <a:solidFill>
              <a:srgbClr val="FBF0E8"/>
            </a:solidFill>
            <a:prstDash val="solid"/>
          </a:ln>
          <a:effectLst>
            <a:outerShdw sx="100000" sy="100000" kx="0" ky="0" algn="bl" rotWithShape="0" blurRad="76200" dist="12700" dir="5400000">
              <a:srgbClr val="8899A6">
                <a:alpha val="18000"/>
              </a:srgbClr>
            </a:outerShdw>
          </a:effectLst>
        </p:spPr>
      </p:sp>
      <p:sp>
        <p:nvSpPr>
          <p:cNvPr id="24" name="Shape 21"/>
          <p:cNvSpPr/>
          <p:nvPr/>
        </p:nvSpPr>
        <p:spPr>
          <a:xfrm>
            <a:off x="6446520" y="5647944"/>
            <a:ext cx="365760" cy="365760"/>
          </a:xfrm>
          <a:prstGeom prst="ellipse">
            <a:avLst/>
          </a:prstGeom>
          <a:solidFill>
            <a:srgbClr val="B36A00"/>
          </a:solidFill>
          <a:ln w="6350">
            <a:solidFill>
              <a:srgbClr val="B36A00"/>
            </a:solidFill>
            <a:prstDash val="solid"/>
          </a:ln>
        </p:spPr>
      </p:sp>
      <p:sp>
        <p:nvSpPr>
          <p:cNvPr id="25" name="Text 22"/>
          <p:cNvSpPr/>
          <p:nvPr/>
        </p:nvSpPr>
        <p:spPr>
          <a:xfrm>
            <a:off x="6446520" y="56479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6" name="Text 23"/>
          <p:cNvSpPr/>
          <p:nvPr/>
        </p:nvSpPr>
        <p:spPr>
          <a:xfrm>
            <a:off x="6922008" y="5638800"/>
            <a:ext cx="4553712" cy="384048"/>
          </a:xfrm>
          <a:prstGeom prst="rect">
            <a:avLst/>
          </a:prstGeom>
          <a:noFill/>
          <a:ln/>
        </p:spPr>
        <p:txBody>
          <a:bodyPr wrap="square" lIns="0" tIns="0" rIns="0" bIns="0" rtlCol="0" anchor="ctr"/>
          <a:lstStyle/>
          <a:p>
            <a:pPr indent="0" marL="0">
              <a:lnSpc>
                <a:spcPct val="92000"/>
              </a:lnSpc>
              <a:buNone/>
            </a:pPr>
            <a:r>
              <a:rPr lang="en-US" sz="1300" b="1" dirty="0">
                <a:solidFill>
                  <a:srgbClr val="1A1A1A"/>
                </a:solidFill>
                <a:latin typeface="Calibri" pitchFamily="34" charset="0"/>
                <a:ea typeface="Calibri" pitchFamily="34" charset="-122"/>
                <a:cs typeface="Calibri" pitchFamily="34" charset="-120"/>
              </a:rPr>
              <a:t>Two caveats before we lean on it</a:t>
            </a:r>
            <a:endParaRPr lang="en-US" sz="1300" dirty="0"/>
          </a:p>
        </p:txBody>
      </p:sp>
      <p:sp>
        <p:nvSpPr>
          <p:cNvPr id="27" name="Text 24"/>
          <p:cNvSpPr/>
          <p:nvPr/>
        </p:nvSpPr>
        <p:spPr>
          <a:xfrm>
            <a:off x="6464808" y="6059424"/>
            <a:ext cx="4992624" cy="195072"/>
          </a:xfrm>
          <a:prstGeom prst="rect">
            <a:avLst/>
          </a:prstGeom>
          <a:noFill/>
          <a:ln/>
        </p:spPr>
        <p:txBody>
          <a:bodyPr wrap="square" lIns="0" tIns="0" rIns="0" bIns="0" rtlCol="0" anchor="t"/>
          <a:lstStyle/>
          <a:p>
            <a:pPr indent="0" marL="0">
              <a:lnSpc>
                <a:spcPct val="100000"/>
              </a:lnSpc>
              <a:buNone/>
            </a:pPr>
            <a:r>
              <a:rPr lang="en-US" sz="1050" dirty="0">
                <a:solidFill>
                  <a:srgbClr val="1A1A1A"/>
                </a:solidFill>
                <a:latin typeface="Calibri" pitchFamily="34" charset="0"/>
                <a:ea typeface="Calibri" pitchFamily="34" charset="-122"/>
                <a:cs typeface="Calibri" pitchFamily="34" charset="-120"/>
              </a:rPr>
              <a:t>Covers 60 detected peaks, not all 131,072 points — and was computed on the pre-v3 corpus.</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02920" y="329184"/>
            <a:ext cx="10058400" cy="237744"/>
          </a:xfrm>
          <a:prstGeom prst="rect">
            <a:avLst/>
          </a:prstGeom>
          <a:noFill/>
          <a:ln/>
        </p:spPr>
        <p:txBody>
          <a:bodyPr wrap="square" lIns="0" tIns="0" rIns="0" bIns="0" rtlCol="0" anchor="ctr"/>
          <a:lstStyle/>
          <a:p>
            <a:pPr indent="0" marL="0">
              <a:buNone/>
            </a:pPr>
            <a:r>
              <a:rPr lang="en-US" sz="1150" b="1" spc="120" kern="0" dirty="0">
                <a:solidFill>
                  <a:srgbClr val="1C7293"/>
                </a:solidFill>
                <a:latin typeface="Calibri" pitchFamily="34" charset="0"/>
                <a:ea typeface="Calibri" pitchFamily="34" charset="-122"/>
                <a:cs typeface="Calibri" pitchFamily="34" charset="-120"/>
              </a:rPr>
              <a:t>PART 4 · NEXT GATE</a:t>
            </a:r>
            <a:endParaRPr lang="en-US" sz="1150" dirty="0"/>
          </a:p>
        </p:txBody>
      </p:sp>
      <p:sp>
        <p:nvSpPr>
          <p:cNvPr id="3" name="Text 1"/>
          <p:cNvSpPr/>
          <p:nvPr/>
        </p:nvSpPr>
        <p:spPr>
          <a:xfrm>
            <a:off x="502920" y="566928"/>
            <a:ext cx="11155680" cy="502920"/>
          </a:xfrm>
          <a:prstGeom prst="rect">
            <a:avLst/>
          </a:prstGeom>
          <a:noFill/>
          <a:ln/>
        </p:spPr>
        <p:txBody>
          <a:bodyPr wrap="square" lIns="0" tIns="0" rIns="0" bIns="0" rtlCol="0" anchor="ctr"/>
          <a:lstStyle/>
          <a:p>
            <a:pPr indent="0" marL="0">
              <a:buNone/>
            </a:pPr>
            <a:r>
              <a:rPr lang="en-US" sz="2700" b="1" dirty="0">
                <a:solidFill>
                  <a:srgbClr val="065A82"/>
                </a:solidFill>
                <a:latin typeface="Cambria" pitchFamily="34" charset="0"/>
                <a:ea typeface="Cambria" pitchFamily="34" charset="-122"/>
                <a:cs typeface="Cambria" pitchFamily="34" charset="-120"/>
              </a:rPr>
              <a:t>The synthetic-data branch: what exists, what is missing</a:t>
            </a:r>
            <a:endParaRPr lang="en-US" sz="2700" dirty="0"/>
          </a:p>
        </p:txBody>
      </p:sp>
      <p:sp>
        <p:nvSpPr>
          <p:cNvPr id="4" name="Shape 2"/>
          <p:cNvSpPr/>
          <p:nvPr/>
        </p:nvSpPr>
        <p:spPr>
          <a:xfrm>
            <a:off x="502920" y="1280160"/>
            <a:ext cx="5532120" cy="4343400"/>
          </a:xfrm>
          <a:prstGeom prst="roundRect">
            <a:avLst>
              <a:gd name="adj" fmla="val 1263"/>
            </a:avLst>
          </a:prstGeom>
          <a:solidFill>
            <a:srgbClr val="E8F4EC"/>
          </a:solidFill>
          <a:ln w="6350">
            <a:solidFill>
              <a:srgbClr val="E8F4EC"/>
            </a:solidFill>
            <a:prstDash val="solid"/>
          </a:ln>
          <a:effectLst>
            <a:outerShdw sx="100000" sy="100000" kx="0" ky="0" algn="bl" rotWithShape="0" blurRad="76200" dist="12700" dir="5400000">
              <a:srgbClr val="8899A6">
                <a:alpha val="18000"/>
              </a:srgbClr>
            </a:outerShdw>
          </a:effectLst>
        </p:spPr>
      </p:sp>
      <p:sp>
        <p:nvSpPr>
          <p:cNvPr id="5" name="Text 3"/>
          <p:cNvSpPr/>
          <p:nvPr/>
        </p:nvSpPr>
        <p:spPr>
          <a:xfrm>
            <a:off x="731520" y="1417320"/>
            <a:ext cx="5029200" cy="292608"/>
          </a:xfrm>
          <a:prstGeom prst="rect">
            <a:avLst/>
          </a:prstGeom>
          <a:noFill/>
          <a:ln/>
        </p:spPr>
        <p:txBody>
          <a:bodyPr wrap="square" lIns="0" tIns="0" rIns="0" bIns="0" rtlCol="0" anchor="ctr"/>
          <a:lstStyle/>
          <a:p>
            <a:pPr indent="0" marL="0">
              <a:buNone/>
            </a:pPr>
            <a:r>
              <a:rPr lang="en-US" sz="1450" b="1" dirty="0">
                <a:solidFill>
                  <a:srgbClr val="1B7F4F"/>
                </a:solidFill>
                <a:latin typeface="Calibri" pitchFamily="34" charset="0"/>
                <a:ea typeface="Calibri" pitchFamily="34" charset="-122"/>
                <a:cs typeface="Calibri" pitchFamily="34" charset="-120"/>
              </a:rPr>
              <a:t>Already built</a:t>
            </a:r>
            <a:endParaRPr lang="en-US" sz="1450" dirty="0"/>
          </a:p>
        </p:txBody>
      </p:sp>
      <p:sp>
        <p:nvSpPr>
          <p:cNvPr id="6" name="Text 4"/>
          <p:cNvSpPr/>
          <p:nvPr/>
        </p:nvSpPr>
        <p:spPr>
          <a:xfrm>
            <a:off x="731520" y="1810512"/>
            <a:ext cx="5074920" cy="3657600"/>
          </a:xfrm>
          <a:prstGeom prst="rect">
            <a:avLst/>
          </a:prstGeom>
          <a:noFill/>
          <a:ln/>
        </p:spPr>
        <p:txBody>
          <a:bodyPr wrap="square" lIns="0" tIns="0" rIns="0" bIns="0" rtlCol="0" anchor="t"/>
          <a:lstStyle/>
          <a:p>
            <a:pPr marL="342900" indent="-342900">
              <a:lnSpc>
                <a:spcPct val="102000"/>
              </a:lnSpc>
              <a:spcAft>
                <a:spcPts val="900"/>
              </a:spcAft>
              <a:buSzPct val="100000"/>
              <a:buChar char="•"/>
            </a:pPr>
            <a:r>
              <a:rPr lang="en-US" sz="1200" dirty="0">
                <a:solidFill>
                  <a:srgbClr val="1A1A1A"/>
                </a:solidFill>
                <a:latin typeface="Calibri" pitchFamily="34" charset="0"/>
                <a:ea typeface="Calibri" pitchFamily="34" charset="-122"/>
                <a:cs typeface="Calibri" pitchFamily="34" charset="-120"/>
              </a:rPr>
              <a:t>1D VAE (encoder / decoder / loss) trained 60 epochs, with reconstruction previews every 5 epochs</a:t>
            </a:r>
            <a:endParaRPr lang="en-US" sz="1200" dirty="0"/>
          </a:p>
          <a:p>
            <a:pPr marL="342900" indent="-342900">
              <a:lnSpc>
                <a:spcPct val="102000"/>
              </a:lnSpc>
              <a:spcAft>
                <a:spcPts val="900"/>
              </a:spcAft>
              <a:buSzPct val="100000"/>
              <a:buChar char="•"/>
            </a:pPr>
            <a:r>
              <a:rPr lang="en-US" sz="1200" dirty="0">
                <a:solidFill>
                  <a:srgbClr val="1A1A1A"/>
                </a:solidFill>
                <a:latin typeface="Calibri" pitchFamily="34" charset="0"/>
                <a:ea typeface="Calibri" pitchFamily="34" charset="-122"/>
                <a:cs typeface="Calibri" pitchFamily="34" charset="-120"/>
              </a:rPr>
              <a:t>Diffusion U-Net plus a Gaussian diffusion process, written and smoke-tested end to end</a:t>
            </a:r>
            <a:endParaRPr lang="en-US" sz="1200" dirty="0"/>
          </a:p>
          <a:p>
            <a:pPr marL="342900" indent="-342900">
              <a:lnSpc>
                <a:spcPct val="102000"/>
              </a:lnSpc>
              <a:spcAft>
                <a:spcPts val="900"/>
              </a:spcAft>
              <a:buSzPct val="100000"/>
              <a:buChar char="•"/>
            </a:pPr>
            <a:r>
              <a:rPr lang="en-US" sz="1200" dirty="0">
                <a:solidFill>
                  <a:srgbClr val="1A1A1A"/>
                </a:solidFill>
                <a:latin typeface="Calibri" pitchFamily="34" charset="0"/>
                <a:ea typeface="Calibri" pitchFamily="34" charset="-122"/>
                <a:cs typeface="Calibri" pitchFamily="34" charset="-120"/>
              </a:rPr>
              <a:t>generate_spectra.py sampling CLI</a:t>
            </a:r>
            <a:endParaRPr lang="en-US" sz="1200" dirty="0"/>
          </a:p>
          <a:p>
            <a:pPr marL="342900" indent="-342900">
              <a:lnSpc>
                <a:spcPct val="102000"/>
              </a:lnSpc>
              <a:spcAft>
                <a:spcPts val="900"/>
              </a:spcAft>
              <a:buSzPct val="100000"/>
              <a:buChar char="•"/>
            </a:pPr>
            <a:r>
              <a:rPr lang="en-US" sz="1200" dirty="0">
                <a:solidFill>
                  <a:srgbClr val="1A1A1A"/>
                </a:solidFill>
                <a:latin typeface="Calibri" pitchFamily="34" charset="0"/>
                <a:ea typeface="Calibri" pitchFamily="34" charset="-122"/>
                <a:cs typeface="Calibri" pitchFamily="34" charset="-120"/>
              </a:rPr>
              <a:t>A suppression-aware dataset loader, so generated spectra can respect the same artefact windows</a:t>
            </a:r>
            <a:endParaRPr lang="en-US" sz="1200" dirty="0"/>
          </a:p>
          <a:p>
            <a:pPr marL="342900" indent="-342900">
              <a:lnSpc>
                <a:spcPct val="102000"/>
              </a:lnSpc>
              <a:spcAft>
                <a:spcPts val="900"/>
              </a:spcAft>
              <a:buSzPct val="100000"/>
              <a:buChar char="•"/>
            </a:pPr>
            <a:r>
              <a:rPr lang="en-US" sz="1200" dirty="0">
                <a:solidFill>
                  <a:srgbClr val="1A1A1A"/>
                </a:solidFill>
                <a:latin typeface="Calibri" pitchFamily="34" charset="0"/>
                <a:ea typeface="Calibri" pitchFamily="34" charset="-122"/>
                <a:cs typeface="Calibri" pitchFamily="34" charset="-120"/>
              </a:rPr>
              <a:t>Peak extraction and Needleman–Wunsch peak-list alignment, giving canonical positions to condition on</a:t>
            </a:r>
            <a:endParaRPr lang="en-US" sz="1200" dirty="0"/>
          </a:p>
        </p:txBody>
      </p:sp>
      <p:sp>
        <p:nvSpPr>
          <p:cNvPr id="7" name="Shape 5"/>
          <p:cNvSpPr/>
          <p:nvPr/>
        </p:nvSpPr>
        <p:spPr>
          <a:xfrm>
            <a:off x="6263640" y="1280160"/>
            <a:ext cx="5394960" cy="4343400"/>
          </a:xfrm>
          <a:prstGeom prst="roundRect">
            <a:avLst>
              <a:gd name="adj" fmla="val 1263"/>
            </a:avLst>
          </a:prstGeom>
          <a:solidFill>
            <a:srgbClr val="FBECEC"/>
          </a:solidFill>
          <a:ln w="6350">
            <a:solidFill>
              <a:srgbClr val="FBECEC"/>
            </a:solidFill>
            <a:prstDash val="solid"/>
          </a:ln>
          <a:effectLst>
            <a:outerShdw sx="100000" sy="100000" kx="0" ky="0" algn="bl" rotWithShape="0" blurRad="76200" dist="12700" dir="5400000">
              <a:srgbClr val="8899A6">
                <a:alpha val="18000"/>
              </a:srgbClr>
            </a:outerShdw>
          </a:effectLst>
        </p:spPr>
      </p:sp>
      <p:sp>
        <p:nvSpPr>
          <p:cNvPr id="8" name="Text 6"/>
          <p:cNvSpPr/>
          <p:nvPr/>
        </p:nvSpPr>
        <p:spPr>
          <a:xfrm>
            <a:off x="6492240" y="1417320"/>
            <a:ext cx="4937760" cy="292608"/>
          </a:xfrm>
          <a:prstGeom prst="rect">
            <a:avLst/>
          </a:prstGeom>
          <a:noFill/>
          <a:ln/>
        </p:spPr>
        <p:txBody>
          <a:bodyPr wrap="square" lIns="0" tIns="0" rIns="0" bIns="0" rtlCol="0" anchor="ctr"/>
          <a:lstStyle/>
          <a:p>
            <a:pPr indent="0" marL="0">
              <a:buNone/>
            </a:pPr>
            <a:r>
              <a:rPr lang="en-US" sz="1450" b="1" dirty="0">
                <a:solidFill>
                  <a:srgbClr val="A32020"/>
                </a:solidFill>
                <a:latin typeface="Calibri" pitchFamily="34" charset="0"/>
                <a:ea typeface="Calibri" pitchFamily="34" charset="-122"/>
                <a:cs typeface="Calibri" pitchFamily="34" charset="-120"/>
              </a:rPr>
              <a:t>Missing before the gate can be answered</a:t>
            </a:r>
            <a:endParaRPr lang="en-US" sz="1450" dirty="0"/>
          </a:p>
        </p:txBody>
      </p:sp>
      <p:sp>
        <p:nvSpPr>
          <p:cNvPr id="9" name="Text 7"/>
          <p:cNvSpPr/>
          <p:nvPr/>
        </p:nvSpPr>
        <p:spPr>
          <a:xfrm>
            <a:off x="6492240" y="1810512"/>
            <a:ext cx="4937760" cy="3657600"/>
          </a:xfrm>
          <a:prstGeom prst="rect">
            <a:avLst/>
          </a:prstGeom>
          <a:noFill/>
          <a:ln/>
        </p:spPr>
        <p:txBody>
          <a:bodyPr wrap="square" lIns="0" tIns="0" rIns="0" bIns="0" rtlCol="0" anchor="t"/>
          <a:lstStyle/>
          <a:p>
            <a:pPr marL="342900" indent="-342900">
              <a:lnSpc>
                <a:spcPct val="102000"/>
              </a:lnSpc>
              <a:spcAft>
                <a:spcPts val="1100"/>
              </a:spcAft>
              <a:buSzPct val="100000"/>
              <a:buChar char="•"/>
            </a:pPr>
            <a:r>
              <a:rPr lang="en-US" sz="1200" dirty="0">
                <a:solidFill>
                  <a:srgbClr val="1A1A1A"/>
                </a:solidFill>
                <a:latin typeface="Calibri" pitchFamily="34" charset="0"/>
                <a:ea typeface="Calibri" pitchFamily="34" charset="-122"/>
                <a:cs typeface="Calibri" pitchFamily="34" charset="-120"/>
              </a:rPr>
              <a:t>No generated spectrum has ever entered SSL pretraining or evaluation — the pipeline stops at sampling</a:t>
            </a:r>
            <a:endParaRPr lang="en-US" sz="1200" dirty="0"/>
          </a:p>
          <a:p>
            <a:pPr marL="342900" indent="-342900">
              <a:lnSpc>
                <a:spcPct val="102000"/>
              </a:lnSpc>
              <a:spcAft>
                <a:spcPts val="1100"/>
              </a:spcAft>
              <a:buSzPct val="100000"/>
              <a:buChar char="•"/>
            </a:pPr>
            <a:r>
              <a:rPr lang="en-US" sz="1200" dirty="0">
                <a:solidFill>
                  <a:srgbClr val="1A1A1A"/>
                </a:solidFill>
                <a:latin typeface="Calibri" pitchFamily="34" charset="0"/>
                <a:ea typeface="Calibri" pitchFamily="34" charset="-122"/>
                <a:cs typeface="Calibri" pitchFamily="34" charset="-120"/>
              </a:rPr>
              <a:t>No fidelity metric: we cannot yet say whether a generated spectrum's intensity distribution matches the experimental one</a:t>
            </a:r>
            <a:endParaRPr lang="en-US" sz="1200" dirty="0"/>
          </a:p>
          <a:p>
            <a:pPr marL="342900" indent="-342900">
              <a:lnSpc>
                <a:spcPct val="102000"/>
              </a:lnSpc>
              <a:spcAft>
                <a:spcPts val="1100"/>
              </a:spcAft>
              <a:buSzPct val="100000"/>
              <a:buChar char="•"/>
            </a:pPr>
            <a:r>
              <a:rPr lang="en-US" sz="1200" dirty="0">
                <a:solidFill>
                  <a:srgbClr val="1A1A1A"/>
                </a:solidFill>
                <a:latin typeface="Calibri" pitchFamily="34" charset="0"/>
                <a:ea typeface="Calibri" pitchFamily="34" charset="-122"/>
                <a:cs typeface="Calibri" pitchFamily="34" charset="-120"/>
              </a:rPr>
              <a:t>The linear-combination route (sums of pure metabolite spectra) is not implemented, and is the more physically defensible option</a:t>
            </a:r>
            <a:endParaRPr lang="en-US" sz="1200" dirty="0"/>
          </a:p>
          <a:p>
            <a:pPr marL="342900" indent="-342900">
              <a:lnSpc>
                <a:spcPct val="102000"/>
              </a:lnSpc>
              <a:spcAft>
                <a:spcPts val="1100"/>
              </a:spcAft>
              <a:buSzPct val="100000"/>
              <a:buChar char="•"/>
            </a:pPr>
            <a:r>
              <a:rPr lang="en-US" sz="1200" dirty="0">
                <a:solidFill>
                  <a:srgbClr val="1A1A1A"/>
                </a:solidFill>
                <a:latin typeface="Calibri" pitchFamily="34" charset="0"/>
                <a:ea typeface="Calibri" pitchFamily="34" charset="-122"/>
                <a:cs typeface="Calibri" pitchFamily="34" charset="-120"/>
              </a:rPr>
              <a:t>No agreed criterion, set in advance, for “does synthetic data help”</a:t>
            </a:r>
            <a:endParaRPr lang="en-US" sz="1200" dirty="0"/>
          </a:p>
        </p:txBody>
      </p:sp>
      <p:sp>
        <p:nvSpPr>
          <p:cNvPr id="10" name="Shape 8"/>
          <p:cNvSpPr/>
          <p:nvPr/>
        </p:nvSpPr>
        <p:spPr>
          <a:xfrm>
            <a:off x="502920" y="5715000"/>
            <a:ext cx="11155680" cy="667512"/>
          </a:xfrm>
          <a:prstGeom prst="roundRect">
            <a:avLst>
              <a:gd name="adj" fmla="val 8219"/>
            </a:avLst>
          </a:prstGeom>
          <a:solidFill>
            <a:srgbClr val="F1F5F8"/>
          </a:solidFill>
          <a:ln w="6350">
            <a:solidFill>
              <a:srgbClr val="F1F5F8"/>
            </a:solidFill>
            <a:prstDash val="solid"/>
          </a:ln>
          <a:effectLst>
            <a:outerShdw sx="100000" sy="100000" kx="0" ky="0" algn="bl" rotWithShape="0" blurRad="76200" dist="12700" dir="5400000">
              <a:srgbClr val="8899A6">
                <a:alpha val="18000"/>
              </a:srgbClr>
            </a:outerShdw>
          </a:effectLst>
        </p:spPr>
      </p:sp>
      <p:sp>
        <p:nvSpPr>
          <p:cNvPr id="11" name="Shape 9"/>
          <p:cNvSpPr/>
          <p:nvPr/>
        </p:nvSpPr>
        <p:spPr>
          <a:xfrm>
            <a:off x="685800" y="5870448"/>
            <a:ext cx="365760" cy="365760"/>
          </a:xfrm>
          <a:prstGeom prst="ellipse">
            <a:avLst/>
          </a:prstGeom>
          <a:solidFill>
            <a:srgbClr val="1C7293"/>
          </a:solidFill>
          <a:ln w="6350">
            <a:solidFill>
              <a:srgbClr val="1C7293"/>
            </a:solidFill>
            <a:prstDash val="solid"/>
          </a:ln>
        </p:spPr>
      </p:sp>
      <p:sp>
        <p:nvSpPr>
          <p:cNvPr id="12" name="Text 10"/>
          <p:cNvSpPr/>
          <p:nvPr/>
        </p:nvSpPr>
        <p:spPr>
          <a:xfrm>
            <a:off x="685800" y="587044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3" name="Text 11"/>
          <p:cNvSpPr/>
          <p:nvPr/>
        </p:nvSpPr>
        <p:spPr>
          <a:xfrm>
            <a:off x="1161288" y="5861304"/>
            <a:ext cx="10314432" cy="384048"/>
          </a:xfrm>
          <a:prstGeom prst="rect">
            <a:avLst/>
          </a:prstGeom>
          <a:noFill/>
          <a:ln/>
        </p:spPr>
        <p:txBody>
          <a:bodyPr wrap="square" lIns="0" tIns="0" rIns="0" bIns="0" rtlCol="0" anchor="ctr"/>
          <a:lstStyle/>
          <a:p>
            <a:pPr indent="0" marL="0">
              <a:lnSpc>
                <a:spcPct val="92000"/>
              </a:lnSpc>
              <a:buNone/>
            </a:pPr>
            <a:r>
              <a:rPr lang="en-US" sz="1150" b="1" dirty="0">
                <a:solidFill>
                  <a:srgbClr val="1A1A1A"/>
                </a:solidFill>
                <a:latin typeface="Calibri" pitchFamily="34" charset="0"/>
                <a:ea typeface="Calibri" pitchFamily="34" charset="-122"/>
                <a:cs typeface="Calibri" pitchFamily="34" charset="-120"/>
              </a:rPr>
              <a:t>Low infrastructure debt — the missing pieces are the connection to pretraining and an agreed success criterion.</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6204A"/>
        </a:solidFill>
      </p:bgPr>
    </p:bg>
    <p:spTree>
      <p:nvGrpSpPr>
        <p:cNvPr id="1" name=""/>
        <p:cNvGrpSpPr/>
        <p:nvPr/>
      </p:nvGrpSpPr>
      <p:grpSpPr>
        <a:xfrm>
          <a:off x="0" y="0"/>
          <a:ext cx="0" cy="0"/>
          <a:chOff x="0" y="0"/>
          <a:chExt cx="0" cy="0"/>
        </a:xfrm>
      </p:grpSpPr>
      <p:sp>
        <p:nvSpPr>
          <p:cNvPr id="2" name="Text 0"/>
          <p:cNvSpPr/>
          <p:nvPr/>
        </p:nvSpPr>
        <p:spPr>
          <a:xfrm>
            <a:off x="502920" y="457200"/>
            <a:ext cx="10058400" cy="256032"/>
          </a:xfrm>
          <a:prstGeom prst="rect">
            <a:avLst/>
          </a:prstGeom>
          <a:noFill/>
          <a:ln/>
        </p:spPr>
        <p:txBody>
          <a:bodyPr wrap="square" lIns="0" tIns="0" rIns="0" bIns="0" rtlCol="0" anchor="ctr"/>
          <a:lstStyle/>
          <a:p>
            <a:pPr indent="0" marL="0">
              <a:buNone/>
            </a:pPr>
            <a:r>
              <a:rPr lang="en-US" sz="1150" b="1" spc="130" kern="0" dirty="0">
                <a:solidFill>
                  <a:srgbClr val="1C7293"/>
                </a:solidFill>
                <a:latin typeface="Calibri" pitchFamily="34" charset="0"/>
                <a:ea typeface="Calibri" pitchFamily="34" charset="-122"/>
                <a:cs typeface="Calibri" pitchFamily="34" charset="-120"/>
              </a:rPr>
              <a:t>PROPOSED NEXT TWO WEEKS</a:t>
            </a:r>
            <a:endParaRPr lang="en-US" sz="1150" dirty="0"/>
          </a:p>
        </p:txBody>
      </p:sp>
      <p:sp>
        <p:nvSpPr>
          <p:cNvPr id="3" name="Text 1"/>
          <p:cNvSpPr/>
          <p:nvPr/>
        </p:nvSpPr>
        <p:spPr>
          <a:xfrm>
            <a:off x="502920" y="777240"/>
            <a:ext cx="109728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Ranked by evidence, not by novelty</a:t>
            </a:r>
            <a:endParaRPr lang="en-US" sz="3000" dirty="0"/>
          </a:p>
        </p:txBody>
      </p:sp>
      <p:sp>
        <p:nvSpPr>
          <p:cNvPr id="4" name="Shape 2"/>
          <p:cNvSpPr/>
          <p:nvPr/>
        </p:nvSpPr>
        <p:spPr>
          <a:xfrm>
            <a:off x="502920" y="1481328"/>
            <a:ext cx="7680960" cy="859536"/>
          </a:xfrm>
          <a:prstGeom prst="roundRect">
            <a:avLst>
              <a:gd name="adj" fmla="val 6383"/>
            </a:avLst>
          </a:prstGeom>
          <a:solidFill>
            <a:srgbClr val="1E2A57"/>
          </a:solidFill>
          <a:ln w="12700">
            <a:solidFill>
              <a:srgbClr val="33436F"/>
            </a:solidFill>
            <a:prstDash val="solid"/>
          </a:ln>
        </p:spPr>
      </p:sp>
      <p:sp>
        <p:nvSpPr>
          <p:cNvPr id="5" name="Shape 3"/>
          <p:cNvSpPr/>
          <p:nvPr/>
        </p:nvSpPr>
        <p:spPr>
          <a:xfrm>
            <a:off x="667512" y="1700784"/>
            <a:ext cx="420624" cy="420624"/>
          </a:xfrm>
          <a:prstGeom prst="ellipse">
            <a:avLst/>
          </a:prstGeom>
          <a:solidFill>
            <a:srgbClr val="1B7F4F"/>
          </a:solidFill>
          <a:ln w="6350">
            <a:solidFill>
              <a:srgbClr val="1B7F4F"/>
            </a:solidFill>
            <a:prstDash val="solid"/>
          </a:ln>
        </p:spPr>
      </p:sp>
      <p:sp>
        <p:nvSpPr>
          <p:cNvPr id="6" name="Text 4"/>
          <p:cNvSpPr/>
          <p:nvPr/>
        </p:nvSpPr>
        <p:spPr>
          <a:xfrm>
            <a:off x="667512" y="17007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234440" y="1563624"/>
            <a:ext cx="676656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Resolve the corpus regression</a:t>
            </a:r>
            <a:endParaRPr lang="en-US" sz="1250" dirty="0"/>
          </a:p>
        </p:txBody>
      </p:sp>
      <p:sp>
        <p:nvSpPr>
          <p:cNvPr id="8" name="Text 6"/>
          <p:cNvSpPr/>
          <p:nvPr/>
        </p:nvSpPr>
        <p:spPr>
          <a:xfrm>
            <a:off x="1234440" y="1828800"/>
            <a:ext cx="6766560" cy="438912"/>
          </a:xfrm>
          <a:prstGeom prst="rect">
            <a:avLst/>
          </a:prstGeom>
          <a:noFill/>
          <a:ln/>
        </p:spPr>
        <p:txBody>
          <a:bodyPr wrap="square" lIns="0" tIns="0" rIns="0" bIns="0" rtlCol="0" anchor="t"/>
          <a:lstStyle/>
          <a:p>
            <a:pPr indent="0" marL="0">
              <a:lnSpc>
                <a:spcPct val="95000"/>
              </a:lnSpc>
              <a:buNone/>
            </a:pPr>
            <a:r>
              <a:rPr lang="en-US" sz="950" dirty="0">
                <a:solidFill>
                  <a:srgbClr val="9FB2C9"/>
                </a:solidFill>
                <a:latin typeface="Calibri" pitchFamily="34" charset="0"/>
                <a:ea typeface="Calibri" pitchFamily="34" charset="-122"/>
                <a:cs typeface="Calibri" pitchFamily="34" charset="-120"/>
              </a:rPr>
              <a:t>Re-read every v4 arm against v3, and diagnose why the harsher v3 suppression pretrains better. Largest measured effect in the project, and it needs no new training.</a:t>
            </a:r>
            <a:endParaRPr lang="en-US" sz="950" dirty="0"/>
          </a:p>
        </p:txBody>
      </p:sp>
      <p:sp>
        <p:nvSpPr>
          <p:cNvPr id="9" name="Shape 7"/>
          <p:cNvSpPr/>
          <p:nvPr/>
        </p:nvSpPr>
        <p:spPr>
          <a:xfrm>
            <a:off x="502920" y="2450592"/>
            <a:ext cx="7680960" cy="859536"/>
          </a:xfrm>
          <a:prstGeom prst="roundRect">
            <a:avLst>
              <a:gd name="adj" fmla="val 6383"/>
            </a:avLst>
          </a:prstGeom>
          <a:solidFill>
            <a:srgbClr val="1E2A57"/>
          </a:solidFill>
          <a:ln w="12700">
            <a:solidFill>
              <a:srgbClr val="33436F"/>
            </a:solidFill>
            <a:prstDash val="solid"/>
          </a:ln>
        </p:spPr>
      </p:sp>
      <p:sp>
        <p:nvSpPr>
          <p:cNvPr id="10" name="Shape 8"/>
          <p:cNvSpPr/>
          <p:nvPr/>
        </p:nvSpPr>
        <p:spPr>
          <a:xfrm>
            <a:off x="667512" y="2670048"/>
            <a:ext cx="420624" cy="420624"/>
          </a:xfrm>
          <a:prstGeom prst="ellipse">
            <a:avLst/>
          </a:prstGeom>
          <a:solidFill>
            <a:srgbClr val="1C7293"/>
          </a:solidFill>
          <a:ln w="6350">
            <a:solidFill>
              <a:srgbClr val="1C7293"/>
            </a:solidFill>
            <a:prstDash val="solid"/>
          </a:ln>
        </p:spPr>
      </p:sp>
      <p:sp>
        <p:nvSpPr>
          <p:cNvPr id="11" name="Text 9"/>
          <p:cNvSpPr/>
          <p:nvPr/>
        </p:nvSpPr>
        <p:spPr>
          <a:xfrm>
            <a:off x="667512" y="267004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234440" y="2532888"/>
            <a:ext cx="676656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Re-run peak saturation on v3, beyond 60 peaks</a:t>
            </a:r>
            <a:endParaRPr lang="en-US" sz="1250" dirty="0"/>
          </a:p>
        </p:txBody>
      </p:sp>
      <p:sp>
        <p:nvSpPr>
          <p:cNvPr id="13" name="Text 11"/>
          <p:cNvSpPr/>
          <p:nvPr/>
        </p:nvSpPr>
        <p:spPr>
          <a:xfrm>
            <a:off x="1234440" y="2798064"/>
            <a:ext cx="6766560" cy="438912"/>
          </a:xfrm>
          <a:prstGeom prst="rect">
            <a:avLst/>
          </a:prstGeom>
          <a:noFill/>
          <a:ln/>
        </p:spPr>
        <p:txBody>
          <a:bodyPr wrap="square" lIns="0" tIns="0" rIns="0" bIns="0" rtlCol="0" anchor="t"/>
          <a:lstStyle/>
          <a:p>
            <a:pPr indent="0" marL="0">
              <a:lnSpc>
                <a:spcPct val="95000"/>
              </a:lnSpc>
              <a:buNone/>
            </a:pPr>
            <a:r>
              <a:rPr lang="en-US" sz="950" dirty="0">
                <a:solidFill>
                  <a:srgbClr val="9FB2C9"/>
                </a:solidFill>
                <a:latin typeface="Calibri" pitchFamily="34" charset="0"/>
                <a:ea typeface="Calibri" pitchFamily="34" charset="-122"/>
                <a:cs typeface="Calibri" pitchFamily="34" charset="-120"/>
              </a:rPr>
              <a:t>Answers your “at all x” directly, and on the corpus we would actually pretrain on.</a:t>
            </a:r>
            <a:endParaRPr lang="en-US" sz="950" dirty="0"/>
          </a:p>
        </p:txBody>
      </p:sp>
      <p:sp>
        <p:nvSpPr>
          <p:cNvPr id="14" name="Shape 12"/>
          <p:cNvSpPr/>
          <p:nvPr/>
        </p:nvSpPr>
        <p:spPr>
          <a:xfrm>
            <a:off x="502920" y="3419856"/>
            <a:ext cx="7680960" cy="859536"/>
          </a:xfrm>
          <a:prstGeom prst="roundRect">
            <a:avLst>
              <a:gd name="adj" fmla="val 6383"/>
            </a:avLst>
          </a:prstGeom>
          <a:solidFill>
            <a:srgbClr val="1E2A57"/>
          </a:solidFill>
          <a:ln w="12700">
            <a:solidFill>
              <a:srgbClr val="33436F"/>
            </a:solidFill>
            <a:prstDash val="solid"/>
          </a:ln>
        </p:spPr>
      </p:sp>
      <p:sp>
        <p:nvSpPr>
          <p:cNvPr id="15" name="Shape 13"/>
          <p:cNvSpPr/>
          <p:nvPr/>
        </p:nvSpPr>
        <p:spPr>
          <a:xfrm>
            <a:off x="667512" y="3639312"/>
            <a:ext cx="420624" cy="420624"/>
          </a:xfrm>
          <a:prstGeom prst="ellipse">
            <a:avLst/>
          </a:prstGeom>
          <a:solidFill>
            <a:srgbClr val="1C7293"/>
          </a:solidFill>
          <a:ln w="6350">
            <a:solidFill>
              <a:srgbClr val="1C7293"/>
            </a:solidFill>
            <a:prstDash val="solid"/>
          </a:ln>
        </p:spPr>
      </p:sp>
      <p:sp>
        <p:nvSpPr>
          <p:cNvPr id="16" name="Text 14"/>
          <p:cNvSpPr/>
          <p:nvPr/>
        </p:nvSpPr>
        <p:spPr>
          <a:xfrm>
            <a:off x="667512" y="36393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234440" y="3502152"/>
            <a:ext cx="676656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Close the synthetic loop, with a criterion agreed first</a:t>
            </a:r>
            <a:endParaRPr lang="en-US" sz="1250" dirty="0"/>
          </a:p>
        </p:txBody>
      </p:sp>
      <p:sp>
        <p:nvSpPr>
          <p:cNvPr id="18" name="Text 16"/>
          <p:cNvSpPr/>
          <p:nvPr/>
        </p:nvSpPr>
        <p:spPr>
          <a:xfrm>
            <a:off x="1234440" y="3767328"/>
            <a:ext cx="6766560" cy="438912"/>
          </a:xfrm>
          <a:prstGeom prst="rect">
            <a:avLst/>
          </a:prstGeom>
          <a:noFill/>
          <a:ln/>
        </p:spPr>
        <p:txBody>
          <a:bodyPr wrap="square" lIns="0" tIns="0" rIns="0" bIns="0" rtlCol="0" anchor="t"/>
          <a:lstStyle/>
          <a:p>
            <a:pPr indent="0" marL="0">
              <a:lnSpc>
                <a:spcPct val="95000"/>
              </a:lnSpc>
              <a:buNone/>
            </a:pPr>
            <a:r>
              <a:rPr lang="en-US" sz="950" dirty="0">
                <a:solidFill>
                  <a:srgbClr val="9FB2C9"/>
                </a:solidFill>
                <a:latin typeface="Calibri" pitchFamily="34" charset="0"/>
                <a:ea typeface="Calibri" pitchFamily="34" charset="-122"/>
                <a:cs typeface="Calibri" pitchFamily="34" charset="-120"/>
              </a:rPr>
              <a:t>Generate, compare intensity distributions against experimental, then pretrain on real + synthetic and evaluate.</a:t>
            </a:r>
            <a:endParaRPr lang="en-US" sz="950" dirty="0"/>
          </a:p>
        </p:txBody>
      </p:sp>
      <p:sp>
        <p:nvSpPr>
          <p:cNvPr id="19" name="Shape 17"/>
          <p:cNvSpPr/>
          <p:nvPr/>
        </p:nvSpPr>
        <p:spPr>
          <a:xfrm>
            <a:off x="502920" y="4389120"/>
            <a:ext cx="7680960" cy="859536"/>
          </a:xfrm>
          <a:prstGeom prst="roundRect">
            <a:avLst>
              <a:gd name="adj" fmla="val 6383"/>
            </a:avLst>
          </a:prstGeom>
          <a:solidFill>
            <a:srgbClr val="1E2A57"/>
          </a:solidFill>
          <a:ln w="12700">
            <a:solidFill>
              <a:srgbClr val="33436F"/>
            </a:solidFill>
            <a:prstDash val="solid"/>
          </a:ln>
        </p:spPr>
      </p:sp>
      <p:sp>
        <p:nvSpPr>
          <p:cNvPr id="20" name="Shape 18"/>
          <p:cNvSpPr/>
          <p:nvPr/>
        </p:nvSpPr>
        <p:spPr>
          <a:xfrm>
            <a:off x="667512" y="4608576"/>
            <a:ext cx="420624" cy="420624"/>
          </a:xfrm>
          <a:prstGeom prst="ellipse">
            <a:avLst/>
          </a:prstGeom>
          <a:solidFill>
            <a:srgbClr val="B36A00"/>
          </a:solidFill>
          <a:ln w="6350">
            <a:solidFill>
              <a:srgbClr val="B36A00"/>
            </a:solidFill>
            <a:prstDash val="solid"/>
          </a:ln>
        </p:spPr>
      </p:sp>
      <p:sp>
        <p:nvSpPr>
          <p:cNvPr id="21" name="Text 19"/>
          <p:cNvSpPr/>
          <p:nvPr/>
        </p:nvSpPr>
        <p:spPr>
          <a:xfrm>
            <a:off x="667512" y="460857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1234440" y="4471416"/>
            <a:ext cx="676656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Make single runs trustworthy</a:t>
            </a:r>
            <a:endParaRPr lang="en-US" sz="1250" dirty="0"/>
          </a:p>
        </p:txBody>
      </p:sp>
      <p:sp>
        <p:nvSpPr>
          <p:cNvPr id="23" name="Text 21"/>
          <p:cNvSpPr/>
          <p:nvPr/>
        </p:nvSpPr>
        <p:spPr>
          <a:xfrm>
            <a:off x="1234440" y="4736592"/>
            <a:ext cx="6766560" cy="438912"/>
          </a:xfrm>
          <a:prstGeom prst="rect">
            <a:avLst/>
          </a:prstGeom>
          <a:noFill/>
          <a:ln/>
        </p:spPr>
        <p:txBody>
          <a:bodyPr wrap="square" lIns="0" tIns="0" rIns="0" bIns="0" rtlCol="0" anchor="t"/>
          <a:lstStyle/>
          <a:p>
            <a:pPr indent="0" marL="0">
              <a:lnSpc>
                <a:spcPct val="95000"/>
              </a:lnSpc>
              <a:buNone/>
            </a:pPr>
            <a:r>
              <a:rPr lang="en-US" sz="950" dirty="0">
                <a:solidFill>
                  <a:srgbClr val="9FB2C9"/>
                </a:solidFill>
                <a:latin typeface="Calibri" pitchFamily="34" charset="0"/>
                <a:ea typeface="Calibri" pitchFamily="34" charset="-122"/>
                <a:cs typeface="Calibri" pitchFamily="34" charset="-120"/>
              </a:rPr>
              <a:t>Opt-in deterministic mode, plus three replicates as standard for any new arm. Without it every comparison needs triplicates anyway.</a:t>
            </a:r>
            <a:endParaRPr lang="en-US" sz="950" dirty="0"/>
          </a:p>
        </p:txBody>
      </p:sp>
      <p:sp>
        <p:nvSpPr>
          <p:cNvPr id="24" name="Shape 22"/>
          <p:cNvSpPr/>
          <p:nvPr/>
        </p:nvSpPr>
        <p:spPr>
          <a:xfrm>
            <a:off x="8549640" y="1481328"/>
            <a:ext cx="3108960" cy="3822192"/>
          </a:xfrm>
          <a:prstGeom prst="roundRect">
            <a:avLst>
              <a:gd name="adj" fmla="val 1765"/>
            </a:avLst>
          </a:prstGeom>
          <a:solidFill>
            <a:srgbClr val="22305F"/>
          </a:solidFill>
          <a:ln w="12700">
            <a:solidFill>
              <a:srgbClr val="3B4C7C"/>
            </a:solidFill>
            <a:prstDash val="solid"/>
          </a:ln>
        </p:spPr>
      </p:sp>
      <p:sp>
        <p:nvSpPr>
          <p:cNvPr id="25" name="Text 23"/>
          <p:cNvSpPr/>
          <p:nvPr/>
        </p:nvSpPr>
        <p:spPr>
          <a:xfrm>
            <a:off x="8759952" y="1645920"/>
            <a:ext cx="2697480" cy="502920"/>
          </a:xfrm>
          <a:prstGeom prst="rect">
            <a:avLst/>
          </a:prstGeom>
          <a:noFill/>
          <a:ln/>
        </p:spPr>
        <p:txBody>
          <a:bodyPr wrap="square" lIns="0" tIns="0" rIns="0" bIns="0" rtlCol="0" anchor="ctr"/>
          <a:lstStyle/>
          <a:p>
            <a:pPr indent="0" marL="0">
              <a:lnSpc>
                <a:spcPct val="95000"/>
              </a:lnSpc>
              <a:buNone/>
            </a:pPr>
            <a:r>
              <a:rPr lang="en-US" sz="1300" b="1" dirty="0">
                <a:solidFill>
                  <a:srgbClr val="FFFFFF"/>
                </a:solidFill>
                <a:latin typeface="Calibri" pitchFamily="34" charset="0"/>
                <a:ea typeface="Calibri" pitchFamily="34" charset="-122"/>
                <a:cs typeface="Calibri" pitchFamily="34" charset="-120"/>
              </a:rPr>
              <a:t>Three things I would like your view on</a:t>
            </a:r>
            <a:endParaRPr lang="en-US" sz="1300" dirty="0"/>
          </a:p>
        </p:txBody>
      </p:sp>
      <p:sp>
        <p:nvSpPr>
          <p:cNvPr id="26" name="Text 24"/>
          <p:cNvSpPr/>
          <p:nvPr/>
        </p:nvSpPr>
        <p:spPr>
          <a:xfrm>
            <a:off x="8759952" y="2240280"/>
            <a:ext cx="2697480" cy="2926080"/>
          </a:xfrm>
          <a:prstGeom prst="rect">
            <a:avLst/>
          </a:prstGeom>
          <a:noFill/>
          <a:ln/>
        </p:spPr>
        <p:txBody>
          <a:bodyPr wrap="square" lIns="0" tIns="0" rIns="0" bIns="0" rtlCol="0" anchor="t"/>
          <a:lstStyle/>
          <a:p>
            <a:pPr marL="342900" indent="-342900">
              <a:lnSpc>
                <a:spcPct val="102000"/>
              </a:lnSpc>
              <a:spcAft>
                <a:spcPts val="1000"/>
              </a:spcAft>
              <a:buSzPct val="100000"/>
              <a:buChar char="•"/>
            </a:pPr>
            <a:r>
              <a:rPr lang="en-US" sz="1050" dirty="0">
                <a:solidFill>
                  <a:srgbClr val="CBD6E6"/>
                </a:solidFill>
                <a:latin typeface="Calibri" pitchFamily="34" charset="0"/>
                <a:ea typeface="Calibri" pitchFamily="34" charset="-122"/>
                <a:cs typeface="Calibri" pitchFamily="34" charset="-120"/>
              </a:rPr>
              <a:t>Is v3 acceptable to standardise on, given it pretrains better but suppresses artefacts less thoroughly?</a:t>
            </a:r>
            <a:endParaRPr lang="en-US" sz="1050" dirty="0"/>
          </a:p>
          <a:p>
            <a:pPr marL="342900" indent="-342900">
              <a:lnSpc>
                <a:spcPct val="102000"/>
              </a:lnSpc>
              <a:spcAft>
                <a:spcPts val="1000"/>
              </a:spcAft>
              <a:buSzPct val="100000"/>
              <a:buChar char="•"/>
            </a:pPr>
            <a:r>
              <a:rPr lang="en-US" sz="1050" dirty="0">
                <a:solidFill>
                  <a:srgbClr val="CBD6E6"/>
                </a:solidFill>
                <a:latin typeface="Calibri" pitchFamily="34" charset="0"/>
                <a:ea typeface="Calibri" pitchFamily="34" charset="-122"/>
                <a:cs typeface="Calibri" pitchFamily="34" charset="-120"/>
              </a:rPr>
              <a:t>What counts as “synthetic data helped” — downstream accuracy only, or distributional fidelity too?</a:t>
            </a:r>
            <a:endParaRPr lang="en-US" sz="1050" dirty="0"/>
          </a:p>
          <a:p>
            <a:pPr marL="342900" indent="-342900">
              <a:lnSpc>
                <a:spcPct val="102000"/>
              </a:lnSpc>
              <a:spcAft>
                <a:spcPts val="1000"/>
              </a:spcAft>
              <a:buSzPct val="100000"/>
              <a:buChar char="•"/>
            </a:pPr>
            <a:r>
              <a:rPr lang="en-US" sz="1050" dirty="0">
                <a:solidFill>
                  <a:srgbClr val="CBD6E6"/>
                </a:solidFill>
                <a:latin typeface="Calibri" pitchFamily="34" charset="0"/>
                <a:ea typeface="Calibri" pitchFamily="34" charset="-122"/>
                <a:cs typeface="Calibri" pitchFamily="34" charset="-120"/>
              </a:rPr>
              <a:t>With a 0.035 noise floor at n = 37–113, should we add a larger evaluation cohort before chasing further gains?</a:t>
            </a:r>
            <a:endParaRPr lang="en-US" sz="1050" dirty="0"/>
          </a:p>
        </p:txBody>
      </p:sp>
      <p:sp>
        <p:nvSpPr>
          <p:cNvPr id="27" name="Text 25"/>
          <p:cNvSpPr/>
          <p:nvPr/>
        </p:nvSpPr>
        <p:spPr>
          <a:xfrm>
            <a:off x="502920" y="5577840"/>
            <a:ext cx="11155680" cy="731520"/>
          </a:xfrm>
          <a:prstGeom prst="rect">
            <a:avLst/>
          </a:prstGeom>
          <a:noFill/>
          <a:ln/>
        </p:spPr>
        <p:txBody>
          <a:bodyPr wrap="square" lIns="0" tIns="0" rIns="0" bIns="0" rtlCol="0" anchor="ctr"/>
          <a:lstStyle/>
          <a:p>
            <a:pPr indent="0" marL="0">
              <a:lnSpc>
                <a:spcPct val="105000"/>
              </a:lnSpc>
              <a:buNone/>
            </a:pPr>
            <a:r>
              <a:rPr lang="en-US" sz="1300" i="1" dirty="0">
                <a:solidFill>
                  <a:srgbClr val="CBD6E6"/>
                </a:solidFill>
                <a:latin typeface="Calibri" pitchFamily="34" charset="0"/>
                <a:ea typeface="Calibri" pitchFamily="34" charset="-122"/>
                <a:cs typeface="Calibri" pitchFamily="34" charset="-120"/>
              </a:rPr>
              <a:t>Bottom line: the model-side axes are close to exhausted and now honestly measured. The data-side branch of your tree is where the remaining leverage is — and most of its infrastructure already exists.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NMR Foundation Models — 15-Day Progress Review</dc:title>
  <dc:subject>PptxGenJS Presentation</dc:subject>
  <dc:creator>Shashank Sharma</dc:creator>
  <cp:lastModifiedBy>Shashank Sharma</cp:lastModifiedBy>
  <cp:revision>1</cp:revision>
  <dcterms:created xsi:type="dcterms:W3CDTF">2026-08-07T10:34:08Z</dcterms:created>
  <dcterms:modified xsi:type="dcterms:W3CDTF">2026-08-07T10:34:08Z</dcterms:modified>
</cp:coreProperties>
</file>