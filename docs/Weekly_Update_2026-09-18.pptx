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claims withdrawn this week. (1) Effective rank does not predict transfer - I predicted joint would win on that basis, and masking won at every budget. (2) An apparent Barth win was selection bias from reporting the best of 15 checkpoints; every objective seed mean is below classical. The summary now reports seed means and marks best-of-15 as an upper bound.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The rebuild is done, verified, and it answers two gates</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Corpus and all four evaluation cohorts now sit on one real chemical-shift axis</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1</a:t>
            </a:r>
          </a:p>
        </p:txBody>
      </p:sp>
      <p:sp>
        <p:nvSpPr>
          <p:cNvPr id="5" name="Rounded Rectangle 4"/>
          <p:cNvSpPr/>
          <p:nvPr/>
        </p:nvSpPr>
        <p:spPr>
          <a:xfrm>
            <a:off x="502920" y="1481328"/>
            <a:ext cx="11155680" cy="1115568"/>
          </a:xfrm>
          <a:prstGeom prst="roundRect">
            <a:avLst>
              <a:gd name="adj" fmla="val 4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81912"/>
            <a:ext cx="8229600" cy="310896"/>
          </a:xfrm>
          <a:prstGeom prst="rect">
            <a:avLst/>
          </a:prstGeom>
          <a:noFill/>
        </p:spPr>
        <p:txBody>
          <a:bodyPr wrap="square" lIns="0" rIns="0" tIns="0" bIns="0">
            <a:spAutoFit/>
          </a:bodyPr>
          <a:lstStyle/>
          <a:p>
            <a:pPr algn="l"/>
            <a:r>
              <a:rPr sz="1500" b="1" i="0">
                <a:solidFill>
                  <a:srgbClr val="1E2761"/>
                </a:solidFill>
                <a:latin typeface="Arial"/>
              </a:rPr>
              <a:t>Corpus rebuilt and verified</a:t>
            </a:r>
          </a:p>
        </p:txBody>
      </p:sp>
      <p:sp>
        <p:nvSpPr>
          <p:cNvPr id="7" name="TextBox 6"/>
          <p:cNvSpPr txBox="1"/>
          <p:nvPr/>
        </p:nvSpPr>
        <p:spPr>
          <a:xfrm>
            <a:off x="9052560" y="1581912"/>
            <a:ext cx="2377440" cy="310896"/>
          </a:xfrm>
          <a:prstGeom prst="rect">
            <a:avLst/>
          </a:prstGeom>
          <a:noFill/>
        </p:spPr>
        <p:txBody>
          <a:bodyPr wrap="square" lIns="0" rIns="0" tIns="0" bIns="0">
            <a:spAutoFit/>
          </a:bodyPr>
          <a:lstStyle/>
          <a:p>
            <a:pPr algn="r"/>
            <a:r>
              <a:rPr sz="1300" b="1" i="0">
                <a:solidFill>
                  <a:srgbClr val="1F6B3B"/>
                </a:solidFill>
                <a:latin typeface="Arial"/>
              </a:rPr>
              <a:t>DONE</a:t>
            </a:r>
          </a:p>
        </p:txBody>
      </p:sp>
      <p:sp>
        <p:nvSpPr>
          <p:cNvPr id="8" name="TextBox 7"/>
          <p:cNvSpPr txBox="1"/>
          <p:nvPr/>
        </p:nvSpPr>
        <p:spPr>
          <a:xfrm>
            <a:off x="777240" y="1929384"/>
            <a:ext cx="10607040" cy="585216"/>
          </a:xfrm>
          <a:prstGeom prst="rect">
            <a:avLst/>
          </a:prstGeom>
          <a:noFill/>
        </p:spPr>
        <p:txBody>
          <a:bodyPr wrap="square" lIns="0" rIns="0" tIns="0" bIns="0">
            <a:spAutoFit/>
          </a:bodyPr>
          <a:lstStyle/>
          <a:p>
            <a:pPr algn="l"/>
            <a:r>
              <a:rPr sz="1150" b="0" i="0">
                <a:solidFill>
                  <a:srgbClr val="3C3C48"/>
                </a:solidFill>
                <a:latin typeface="Arial"/>
              </a:rPr>
              <a:t>9,480 spectra from 18 studies, reprocessed from raw Bruker. Every spectral-width group peaks at scale 1.00 and carries the correct 2.780 ppm lactate CH3-to-CH separation.</a:t>
            </a:r>
          </a:p>
        </p:txBody>
      </p:sp>
      <p:sp>
        <p:nvSpPr>
          <p:cNvPr id="9" name="Rounded Rectangle 8"/>
          <p:cNvSpPr/>
          <p:nvPr/>
        </p:nvSpPr>
        <p:spPr>
          <a:xfrm>
            <a:off x="502920" y="2697480"/>
            <a:ext cx="11155680" cy="1115568"/>
          </a:xfrm>
          <a:prstGeom prst="roundRect">
            <a:avLst>
              <a:gd name="adj" fmla="val 4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98064"/>
            <a:ext cx="8229600" cy="310896"/>
          </a:xfrm>
          <a:prstGeom prst="rect">
            <a:avLst/>
          </a:prstGeom>
          <a:noFill/>
        </p:spPr>
        <p:txBody>
          <a:bodyPr wrap="square" lIns="0" rIns="0" tIns="0" bIns="0">
            <a:spAutoFit/>
          </a:bodyPr>
          <a:lstStyle/>
          <a:p>
            <a:pPr algn="l"/>
            <a:r>
              <a:rPr sz="1500" b="1" i="0">
                <a:solidFill>
                  <a:srgbClr val="1E2761"/>
                </a:solidFill>
                <a:latin typeface="Arial"/>
              </a:rPr>
              <a:t>All four cohorts rebuilt</a:t>
            </a:r>
          </a:p>
        </p:txBody>
      </p:sp>
      <p:sp>
        <p:nvSpPr>
          <p:cNvPr id="11" name="TextBox 10"/>
          <p:cNvSpPr txBox="1"/>
          <p:nvPr/>
        </p:nvSpPr>
        <p:spPr>
          <a:xfrm>
            <a:off x="9052560" y="2798064"/>
            <a:ext cx="2377440" cy="310896"/>
          </a:xfrm>
          <a:prstGeom prst="rect">
            <a:avLst/>
          </a:prstGeom>
          <a:noFill/>
        </p:spPr>
        <p:txBody>
          <a:bodyPr wrap="square" lIns="0" rIns="0" tIns="0" bIns="0">
            <a:spAutoFit/>
          </a:bodyPr>
          <a:lstStyle/>
          <a:p>
            <a:pPr algn="r"/>
            <a:r>
              <a:rPr sz="1300" b="1" i="0">
                <a:solidFill>
                  <a:srgbClr val="1F6B3B"/>
                </a:solidFill>
                <a:latin typeface="Arial"/>
              </a:rPr>
              <a:t>DONE</a:t>
            </a:r>
          </a:p>
        </p:txBody>
      </p:sp>
      <p:sp>
        <p:nvSpPr>
          <p:cNvPr id="12" name="TextBox 11"/>
          <p:cNvSpPr txBox="1"/>
          <p:nvPr/>
        </p:nvSpPr>
        <p:spPr>
          <a:xfrm>
            <a:off x="777240" y="3145536"/>
            <a:ext cx="10607040" cy="585216"/>
          </a:xfrm>
          <a:prstGeom prst="rect">
            <a:avLst/>
          </a:prstGeom>
          <a:noFill/>
        </p:spPr>
        <p:txBody>
          <a:bodyPr wrap="square" lIns="0" rIns="0" tIns="0" bIns="0">
            <a:spAutoFit/>
          </a:bodyPr>
          <a:lstStyle/>
          <a:p>
            <a:pPr algn="l"/>
            <a:r>
              <a:rPr sz="1150" b="0" i="0">
                <a:solidFill>
                  <a:srgbClr val="3C3C48"/>
                </a:solidFill>
                <a:latin typeface="Arial"/>
              </a:rPr>
              <a:t>MTBLS563 142, BrC-T2D 115, MTBLS326 43, Barth 40 - byte-identical ppm axes with the corpus, each verified independently. BrC-T2D recovered 125 spectra the old pipeline discarded.</a:t>
            </a:r>
          </a:p>
        </p:txBody>
      </p:sp>
      <p:sp>
        <p:nvSpPr>
          <p:cNvPr id="13" name="Rounded Rectangle 12"/>
          <p:cNvSpPr/>
          <p:nvPr/>
        </p:nvSpPr>
        <p:spPr>
          <a:xfrm>
            <a:off x="502920" y="3913632"/>
            <a:ext cx="11155680" cy="1115568"/>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14216"/>
            <a:ext cx="8229600" cy="310896"/>
          </a:xfrm>
          <a:prstGeom prst="rect">
            <a:avLst/>
          </a:prstGeom>
          <a:noFill/>
        </p:spPr>
        <p:txBody>
          <a:bodyPr wrap="square" lIns="0" rIns="0" tIns="0" bIns="0">
            <a:spAutoFit/>
          </a:bodyPr>
          <a:lstStyle/>
          <a:p>
            <a:pPr algn="l"/>
            <a:r>
              <a:rPr sz="1500" b="1" i="0">
                <a:solidFill>
                  <a:srgbClr val="1E2761"/>
                </a:solidFill>
                <a:latin typeface="Arial"/>
              </a:rPr>
              <a:t>Gate G1 - can pretraining beat classical ML?</a:t>
            </a:r>
          </a:p>
        </p:txBody>
      </p:sp>
      <p:sp>
        <p:nvSpPr>
          <p:cNvPr id="15" name="TextBox 14"/>
          <p:cNvSpPr txBox="1"/>
          <p:nvPr/>
        </p:nvSpPr>
        <p:spPr>
          <a:xfrm>
            <a:off x="9052560" y="4014216"/>
            <a:ext cx="2377440" cy="310896"/>
          </a:xfrm>
          <a:prstGeom prst="rect">
            <a:avLst/>
          </a:prstGeom>
          <a:noFill/>
        </p:spPr>
        <p:txBody>
          <a:bodyPr wrap="square" lIns="0" rIns="0" tIns="0" bIns="0">
            <a:spAutoFit/>
          </a:bodyPr>
          <a:lstStyle/>
          <a:p>
            <a:pPr algn="r"/>
            <a:r>
              <a:rPr sz="1300" b="1" i="0">
                <a:solidFill>
                  <a:srgbClr val="C0272D"/>
                </a:solidFill>
                <a:latin typeface="Arial"/>
              </a:rPr>
              <a:t>ANSWERED</a:t>
            </a:r>
          </a:p>
        </p:txBody>
      </p:sp>
      <p:sp>
        <p:nvSpPr>
          <p:cNvPr id="16" name="TextBox 15"/>
          <p:cNvSpPr txBox="1"/>
          <p:nvPr/>
        </p:nvSpPr>
        <p:spPr>
          <a:xfrm>
            <a:off x="777240" y="4361688"/>
            <a:ext cx="10607040" cy="585216"/>
          </a:xfrm>
          <a:prstGeom prst="rect">
            <a:avLst/>
          </a:prstGeom>
          <a:noFill/>
        </p:spPr>
        <p:txBody>
          <a:bodyPr wrap="square" lIns="0" rIns="0" tIns="0" bIns="0">
            <a:spAutoFit/>
          </a:bodyPr>
          <a:lstStyle/>
          <a:p>
            <a:pPr algn="l"/>
            <a:r>
              <a:rPr sz="1150" b="0" i="0">
                <a:solidFill>
                  <a:srgbClr val="3C3C48"/>
                </a:solidFill>
                <a:latin typeface="Arial"/>
              </a:rPr>
              <a:t>No. 0 wins, 24 losses, 5 ties across 6 targets x 5 label budgets with 5 seeds. The axis defect was not the reason SSL was losing.</a:t>
            </a:r>
          </a:p>
        </p:txBody>
      </p:sp>
      <p:sp>
        <p:nvSpPr>
          <p:cNvPr id="17" name="Rounded Rectangle 16"/>
          <p:cNvSpPr/>
          <p:nvPr/>
        </p:nvSpPr>
        <p:spPr>
          <a:xfrm>
            <a:off x="502920" y="5129784"/>
            <a:ext cx="11155680" cy="1115568"/>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230368"/>
            <a:ext cx="8229600" cy="310896"/>
          </a:xfrm>
          <a:prstGeom prst="rect">
            <a:avLst/>
          </a:prstGeom>
          <a:noFill/>
        </p:spPr>
        <p:txBody>
          <a:bodyPr wrap="square" lIns="0" rIns="0" tIns="0" bIns="0">
            <a:spAutoFit/>
          </a:bodyPr>
          <a:lstStyle/>
          <a:p>
            <a:pPr algn="l"/>
            <a:r>
              <a:rPr sz="1500" b="1" i="0">
                <a:solidFill>
                  <a:srgbClr val="1E2761"/>
                </a:solidFill>
                <a:latin typeface="Arial"/>
              </a:rPr>
              <a:t>Gate G2 - is data limiting?</a:t>
            </a:r>
          </a:p>
        </p:txBody>
      </p:sp>
      <p:sp>
        <p:nvSpPr>
          <p:cNvPr id="19" name="TextBox 18"/>
          <p:cNvSpPr txBox="1"/>
          <p:nvPr/>
        </p:nvSpPr>
        <p:spPr>
          <a:xfrm>
            <a:off x="9052560" y="5230368"/>
            <a:ext cx="2377440" cy="310896"/>
          </a:xfrm>
          <a:prstGeom prst="rect">
            <a:avLst/>
          </a:prstGeom>
          <a:noFill/>
        </p:spPr>
        <p:txBody>
          <a:bodyPr wrap="square" lIns="0" rIns="0" tIns="0" bIns="0">
            <a:spAutoFit/>
          </a:bodyPr>
          <a:lstStyle/>
          <a:p>
            <a:pPr algn="r"/>
            <a:r>
              <a:rPr sz="1300" b="1" i="0">
                <a:solidFill>
                  <a:srgbClr val="C0272D"/>
                </a:solidFill>
                <a:latin typeface="Arial"/>
              </a:rPr>
              <a:t>ANSWERED</a:t>
            </a:r>
          </a:p>
        </p:txBody>
      </p:sp>
      <p:sp>
        <p:nvSpPr>
          <p:cNvPr id="20" name="TextBox 19"/>
          <p:cNvSpPr txBox="1"/>
          <p:nvPr/>
        </p:nvSpPr>
        <p:spPr>
          <a:xfrm>
            <a:off x="777240" y="5577840"/>
            <a:ext cx="10607040" cy="585216"/>
          </a:xfrm>
          <a:prstGeom prst="rect">
            <a:avLst/>
          </a:prstGeom>
          <a:noFill/>
        </p:spPr>
        <p:txBody>
          <a:bodyPr wrap="square" lIns="0" rIns="0" tIns="0" bIns="0">
            <a:spAutoFit/>
          </a:bodyPr>
          <a:lstStyle/>
          <a:p>
            <a:pPr algn="l"/>
            <a:r>
              <a:rPr sz="1150" b="0" i="0">
                <a:solidFill>
                  <a:srgbClr val="3C3C48"/>
                </a:solidFill>
                <a:latin typeface="Arial"/>
              </a:rPr>
              <a:t>Quantity no, diversity yes. p(y|x) is pinned down for our 12 studies (99.8% of ppm bins) and does not transfer to a thirteenth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The decisive alignment measurement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Where does lactate actually land? The same measurement at each stage</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2</a:t>
            </a:r>
          </a:p>
        </p:txBody>
      </p:sp>
      <p:pic>
        <p:nvPicPr>
          <p:cNvPr id="5" name="Picture 4" descr="fig5_slim.png"/>
          <p:cNvPicPr>
            <a:picLocks noChangeAspect="1"/>
          </p:cNvPicPr>
          <p:nvPr/>
        </p:nvPicPr>
        <p:blipFill>
          <a:blip r:embed="rId2"/>
          <a:stretch>
            <a:fillRect/>
          </a:stretch>
        </p:blipFill>
        <p:spPr>
          <a:xfrm>
            <a:off x="502920" y="1463040"/>
            <a:ext cx="11155680" cy="2831826"/>
          </a:xfrm>
          <a:prstGeom prst="rect">
            <a:avLst/>
          </a:prstGeom>
        </p:spPr>
      </p:pic>
      <p:sp>
        <p:nvSpPr>
          <p:cNvPr id="6" name="Rounded Rectangle 5"/>
          <p:cNvSpPr/>
          <p:nvPr/>
        </p:nvSpPr>
        <p:spPr>
          <a:xfrm>
            <a:off x="502920" y="4773168"/>
            <a:ext cx="3611880" cy="118872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01183"/>
            <a:ext cx="3154680" cy="914400"/>
          </a:xfrm>
          <a:prstGeom prst="rect">
            <a:avLst/>
          </a:prstGeom>
          <a:noFill/>
        </p:spPr>
        <p:txBody>
          <a:bodyPr wrap="square" lIns="0" rIns="0" tIns="0" bIns="0">
            <a:spAutoFit/>
          </a:bodyPr>
          <a:lstStyle/>
          <a:p>
            <a:pPr algn="l"/>
            <a:r>
              <a:rPr sz="1150" b="1" i="0">
                <a:solidFill>
                  <a:srgbClr val="1E2761"/>
                </a:solidFill>
                <a:latin typeface="Arial"/>
              </a:rPr>
              <a:t>As stored  </a:t>
            </a:r>
            <a:r>
              <a:rPr sz="1150" b="0" i="0">
                <a:solidFill>
                  <a:srgbClr val="3C3C48"/>
                </a:solidFill>
                <a:latin typeface="Arial"/>
              </a:rPr>
              <a:t>median 1.618 ppm, 95% span 0.546. Peak positions wander by half a ppm.</a:t>
            </a:r>
          </a:p>
        </p:txBody>
      </p:sp>
      <p:sp>
        <p:nvSpPr>
          <p:cNvPr id="8" name="Rounded Rectangle 7"/>
          <p:cNvSpPr/>
          <p:nvPr/>
        </p:nvSpPr>
        <p:spPr>
          <a:xfrm>
            <a:off x="4279392" y="4773168"/>
            <a:ext cx="3611880" cy="118872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4901183"/>
            <a:ext cx="3154680" cy="914400"/>
          </a:xfrm>
          <a:prstGeom prst="rect">
            <a:avLst/>
          </a:prstGeom>
          <a:noFill/>
        </p:spPr>
        <p:txBody>
          <a:bodyPr wrap="square" lIns="0" rIns="0" tIns="0" bIns="0">
            <a:spAutoFit/>
          </a:bodyPr>
          <a:lstStyle/>
          <a:p>
            <a:pPr algn="l"/>
            <a:r>
              <a:rPr sz="1150" b="1" i="0">
                <a:solidFill>
                  <a:srgbClr val="C0272D"/>
                </a:solidFill>
                <a:latin typeface="Arial"/>
              </a:rPr>
              <a:t>After 0 ppm anchoring  </a:t>
            </a:r>
            <a:r>
              <a:rPr sz="1150" b="0" i="0">
                <a:solidFill>
                  <a:srgbClr val="3C3C48"/>
                </a:solidFill>
                <a:latin typeface="Arial"/>
              </a:rPr>
              <a:t>span 0.000 - exact agreement, at 1.616 ppm, which is not where lactate is.</a:t>
            </a:r>
          </a:p>
        </p:txBody>
      </p:sp>
      <p:sp>
        <p:nvSpPr>
          <p:cNvPr id="10" name="Rounded Rectangle 9"/>
          <p:cNvSpPr/>
          <p:nvPr/>
        </p:nvSpPr>
        <p:spPr>
          <a:xfrm>
            <a:off x="8055864" y="4773168"/>
            <a:ext cx="3602736" cy="118872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4901183"/>
            <a:ext cx="3145536" cy="914400"/>
          </a:xfrm>
          <a:prstGeom prst="rect">
            <a:avLst/>
          </a:prstGeom>
          <a:noFill/>
        </p:spPr>
        <p:txBody>
          <a:bodyPr wrap="square" lIns="0" rIns="0" tIns="0" bIns="0">
            <a:spAutoFit/>
          </a:bodyPr>
          <a:lstStyle/>
          <a:p>
            <a:pPr algn="l"/>
            <a:r>
              <a:rPr sz="1150" b="1" i="0">
                <a:solidFill>
                  <a:srgbClr val="2E5E9E"/>
                </a:solidFill>
                <a:latin typeface="Arial"/>
              </a:rPr>
              <a:t>After the rebuild  </a:t>
            </a:r>
            <a:r>
              <a:rPr sz="1150" b="0" i="0">
                <a:solidFill>
                  <a:srgbClr val="3C3C48"/>
                </a:solidFill>
                <a:latin typeface="Arial"/>
              </a:rPr>
              <a:t>median 1.325 against a true 1.330, with 0.117 ppm of genuine inter-study spread.</a:t>
            </a:r>
          </a:p>
        </p:txBody>
      </p:sp>
      <p:sp>
        <p:nvSpPr>
          <p:cNvPr id="12" name="TextBox 11"/>
          <p:cNvSpPr txBox="1"/>
          <p:nvPr/>
        </p:nvSpPr>
        <p:spPr>
          <a:xfrm>
            <a:off x="502920" y="6126480"/>
            <a:ext cx="11155680" cy="310896"/>
          </a:xfrm>
          <a:prstGeom prst="rect">
            <a:avLst/>
          </a:prstGeom>
          <a:noFill/>
        </p:spPr>
        <p:txBody>
          <a:bodyPr wrap="square" lIns="0" rIns="0" tIns="0" bIns="0">
            <a:spAutoFit/>
          </a:bodyPr>
          <a:lstStyle/>
          <a:p>
            <a:pPr algn="l"/>
            <a:r>
              <a:rPr sz="1250" b="1" i="1">
                <a:solidFill>
                  <a:srgbClr val="1E2761"/>
                </a:solidFill>
                <a:latin typeface="Arial"/>
              </a:rPr>
              <a:t>Agreement between spectra is not the same as correctness. Only the rebuild has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Why inspecting 9,000 spectra could not have found it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The defect exists only between rows - each spectrum looks perfectly normal alone</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3</a:t>
            </a:r>
          </a:p>
        </p:txBody>
      </p:sp>
      <p:pic>
        <p:nvPicPr>
          <p:cNvPr id="5" name="Picture 4" descr="fig3_the_defect.png"/>
          <p:cNvPicPr>
            <a:picLocks noChangeAspect="1"/>
          </p:cNvPicPr>
          <p:nvPr/>
        </p:nvPicPr>
        <p:blipFill>
          <a:blip r:embed="rId2"/>
          <a:stretch>
            <a:fillRect/>
          </a:stretch>
        </p:blipFill>
        <p:spPr>
          <a:xfrm>
            <a:off x="1069848" y="1298448"/>
            <a:ext cx="10058400" cy="3868615"/>
          </a:xfrm>
          <a:prstGeom prst="rect">
            <a:avLst/>
          </a:prstGeom>
        </p:spPr>
      </p:pic>
      <p:sp>
        <p:nvSpPr>
          <p:cNvPr id="6" name="Rounded Rectangle 5"/>
          <p:cNvSpPr/>
          <p:nvPr/>
        </p:nvSpPr>
        <p:spPr>
          <a:xfrm>
            <a:off x="502920" y="5230368"/>
            <a:ext cx="11155680" cy="91440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358384"/>
            <a:ext cx="10607040" cy="694944"/>
          </a:xfrm>
          <a:prstGeom prst="rect">
            <a:avLst/>
          </a:prstGeom>
          <a:noFill/>
        </p:spPr>
        <p:txBody>
          <a:bodyPr wrap="square" lIns="0" rIns="0" tIns="0" bIns="0">
            <a:spAutoFit/>
          </a:bodyPr>
          <a:lstStyle/>
          <a:p>
            <a:pPr algn="l"/>
            <a:r>
              <a:rPr sz="1150" b="1" i="0">
                <a:solidFill>
                  <a:srgbClr val="3C3C48"/>
                </a:solidFill>
                <a:latin typeface="Arial"/>
              </a:rPr>
              <a:t>940 of 9,480 spectra (9.9%) </a:t>
            </a:r>
            <a:r>
              <a:rPr sz="1150" b="0" i="0">
                <a:solidFill>
                  <a:srgbClr val="3C3C48"/>
                </a:solidFill>
                <a:latin typeface="Arial"/>
              </a:rPr>
              <a:t>were acquired at a materially different sweep width. The old pipeline resampled each onto its own ppm range, so one metabolite line occupied 16 points in one row and 27 in another. Four separate 'common axis' files were written and never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Gate G1: classical ML still wins</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And the axis defect was not the reason - this reproduces on correct data</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4</a:t>
            </a:r>
          </a:p>
        </p:txBody>
      </p:sp>
      <p:pic>
        <p:nvPicPr>
          <p:cNvPr id="5" name="Picture 4" descr="fig7_G1_per_cohort_slim.png"/>
          <p:cNvPicPr>
            <a:picLocks noChangeAspect="1"/>
          </p:cNvPicPr>
          <p:nvPr/>
        </p:nvPicPr>
        <p:blipFill>
          <a:blip r:embed="rId2"/>
          <a:stretch>
            <a:fillRect/>
          </a:stretch>
        </p:blipFill>
        <p:spPr>
          <a:xfrm>
            <a:off x="502920" y="1335024"/>
            <a:ext cx="11155680" cy="4141124"/>
          </a:xfrm>
          <a:prstGeom prst="rect">
            <a:avLst/>
          </a:prstGeom>
        </p:spPr>
      </p:pic>
      <p:sp>
        <p:nvSpPr>
          <p:cNvPr id="6" name="TextBox 5"/>
          <p:cNvSpPr txBox="1"/>
          <p:nvPr/>
        </p:nvSpPr>
        <p:spPr>
          <a:xfrm>
            <a:off x="502920" y="5468112"/>
            <a:ext cx="11155680" cy="274320"/>
          </a:xfrm>
          <a:prstGeom prst="rect">
            <a:avLst/>
          </a:prstGeom>
          <a:noFill/>
        </p:spPr>
        <p:txBody>
          <a:bodyPr wrap="square" lIns="0" rIns="0" tIns="0" bIns="0">
            <a:spAutoFit/>
          </a:bodyPr>
          <a:lstStyle/>
          <a:p>
            <a:pPr algn="l"/>
            <a:r>
              <a:rPr sz="950" b="0" i="1">
                <a:solidFill>
                  <a:srgbClr val="5A5A6E"/>
                </a:solidFill>
                <a:latin typeface="Arial"/>
              </a:rPr>
              <a:t>Balanced accuracy vs labelled examples per class. Error bars: sd across 5 pretraining seeds. Red band: +/- episode sd for classical. 50 paired episodes per point.</a:t>
            </a:r>
          </a:p>
        </p:txBody>
      </p:sp>
      <p:sp>
        <p:nvSpPr>
          <p:cNvPr id="7" name="Rounded Rectangle 6"/>
          <p:cNvSpPr/>
          <p:nvPr/>
        </p:nvSpPr>
        <p:spPr>
          <a:xfrm>
            <a:off x="502920" y="5760720"/>
            <a:ext cx="5486400" cy="969264"/>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870448"/>
            <a:ext cx="5029200" cy="786384"/>
          </a:xfrm>
          <a:prstGeom prst="rect">
            <a:avLst/>
          </a:prstGeom>
          <a:noFill/>
        </p:spPr>
        <p:txBody>
          <a:bodyPr wrap="square" lIns="0" rIns="0" tIns="0" bIns="0">
            <a:spAutoFit/>
          </a:bodyPr>
          <a:lstStyle/>
          <a:p>
            <a:pPr algn="l"/>
            <a:r>
              <a:rPr sz="1050" b="1" i="0">
                <a:solidFill>
                  <a:srgbClr val="C0272D"/>
                </a:solidFill>
                <a:latin typeface="Arial"/>
              </a:rPr>
              <a:t>0 SSL wins / 24 classical wins / 5 ties.  </a:t>
            </a:r>
            <a:r>
              <a:rPr sz="1050" b="0" i="0">
                <a:solidFill>
                  <a:srgbClr val="3C3C48"/>
                </a:solidFill>
                <a:latin typeface="Arial"/>
              </a:rPr>
              <a:t>Classical leads in every cohort at every label budget, including k=5, so there is no few-shot crossover. The gap ranges +0.051 to +0.101.</a:t>
            </a:r>
          </a:p>
        </p:txBody>
      </p:sp>
      <p:sp>
        <p:nvSpPr>
          <p:cNvPr id="9" name="Rounded Rectangle 8"/>
          <p:cNvSpPr/>
          <p:nvPr/>
        </p:nvSpPr>
        <p:spPr>
          <a:xfrm>
            <a:off x="6172200" y="5760720"/>
            <a:ext cx="5486400" cy="969264"/>
          </a:xfrm>
          <a:prstGeom prst="roundRect">
            <a:avLst>
              <a:gd name="adj" fmla="val 4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870448"/>
            <a:ext cx="5029200" cy="786384"/>
          </a:xfrm>
          <a:prstGeom prst="rect">
            <a:avLst/>
          </a:prstGeom>
          <a:noFill/>
        </p:spPr>
        <p:txBody>
          <a:bodyPr wrap="square" lIns="0" rIns="0" tIns="0" bIns="0">
            <a:spAutoFit/>
          </a:bodyPr>
          <a:lstStyle/>
          <a:p>
            <a:pPr algn="l"/>
            <a:r>
              <a:rPr sz="1050" b="1" i="0">
                <a:solidFill>
                  <a:srgbClr val="1F6B3B"/>
                </a:solidFill>
                <a:latin typeface="Arial"/>
              </a:rPr>
              <a:t>Pretraining does work.  </a:t>
            </a:r>
            <a:r>
              <a:rPr sz="1050" b="0" i="0">
                <a:solidFill>
                  <a:srgbClr val="3C3C48"/>
                </a:solidFill>
                <a:latin typeface="Arial"/>
              </a:rPr>
              <a:t>Masking beats a random-init backbone by +0.081 to +0.121 on identical episodes - far above the 0.045 noise floor. Still less than a shrinkage LDA on 500 bins.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Gate G2: data quantity is not the constraint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Diversity is - and that changes what we ask the field for</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5</a:t>
            </a:r>
          </a:p>
        </p:txBody>
      </p:sp>
      <p:pic>
        <p:nvPicPr>
          <p:cNvPr id="5" name="Picture 4" descr="fig6_G2_slim.png"/>
          <p:cNvPicPr>
            <a:picLocks noChangeAspect="1"/>
          </p:cNvPicPr>
          <p:nvPr/>
        </p:nvPicPr>
        <p:blipFill>
          <a:blip r:embed="rId2"/>
          <a:stretch>
            <a:fillRect/>
          </a:stretch>
        </p:blipFill>
        <p:spPr>
          <a:xfrm>
            <a:off x="502920" y="1481328"/>
            <a:ext cx="11155680" cy="3089265"/>
          </a:xfrm>
          <a:prstGeom prst="rect">
            <a:avLst/>
          </a:prstGeom>
        </p:spPr>
      </p:pic>
      <p:sp>
        <p:nvSpPr>
          <p:cNvPr id="6" name="Rounded Rectangle 5"/>
          <p:cNvSpPr/>
          <p:nvPr/>
        </p:nvSpPr>
        <p:spPr>
          <a:xfrm>
            <a:off x="502920" y="4846320"/>
            <a:ext cx="5486400" cy="118872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74336"/>
            <a:ext cx="5029200" cy="960120"/>
          </a:xfrm>
          <a:prstGeom prst="rect">
            <a:avLst/>
          </a:prstGeom>
          <a:noFill/>
        </p:spPr>
        <p:txBody>
          <a:bodyPr wrap="square" lIns="0" rIns="0" tIns="0" bIns="0">
            <a:spAutoFit/>
          </a:bodyPr>
          <a:lstStyle/>
          <a:p>
            <a:pPr algn="l"/>
            <a:r>
              <a:rPr sz="1150" b="1" i="0">
                <a:solidFill>
                  <a:srgbClr val="2E5E9E"/>
                </a:solidFill>
                <a:latin typeface="Arial"/>
              </a:rPr>
              <a:t>Within our studies: defined.  </a:t>
            </a:r>
            <a:r>
              <a:rPr sz="1150" b="0" i="0">
                <a:solidFill>
                  <a:srgbClr val="3C3C48"/>
                </a:solidFill>
                <a:latin typeface="Arial"/>
              </a:rPr>
              <a:t>Sampling error falls as 1/sqrt(N) and by N = 4,000 resolves 99.8% of ppm bins. More spectra from these 12 studies would change nothing.</a:t>
            </a:r>
          </a:p>
        </p:txBody>
      </p:sp>
      <p:sp>
        <p:nvSpPr>
          <p:cNvPr id="8" name="Rounded Rectangle 7"/>
          <p:cNvSpPr/>
          <p:nvPr/>
        </p:nvSpPr>
        <p:spPr>
          <a:xfrm>
            <a:off x="6172200" y="4846320"/>
            <a:ext cx="5486400" cy="118872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974336"/>
            <a:ext cx="5029200" cy="960120"/>
          </a:xfrm>
          <a:prstGeom prst="rect">
            <a:avLst/>
          </a:prstGeom>
          <a:noFill/>
        </p:spPr>
        <p:txBody>
          <a:bodyPr wrap="square" lIns="0" rIns="0" tIns="0" bIns="0">
            <a:spAutoFit/>
          </a:bodyPr>
          <a:lstStyle/>
          <a:p>
            <a:pPr algn="l"/>
            <a:r>
              <a:rPr sz="1150" b="1" i="0">
                <a:solidFill>
                  <a:srgbClr val="C0272D"/>
                </a:solidFill>
                <a:latin typeface="Arial"/>
              </a:rPr>
              <a:t>Across studies: not defined.  </a:t>
            </a:r>
            <a:r>
              <a:rPr sz="1150" b="0" i="0">
                <a:solidFill>
                  <a:srgbClr val="3C3C48"/>
                </a:solidFill>
                <a:latin typeface="Arial"/>
              </a:rPr>
              <a:t>Between-study variation is flat across a 20x range of N and resolves 1.5% of bins. Twelve studies do not determine a thirteenth.</a:t>
            </a:r>
          </a:p>
        </p:txBody>
      </p:sp>
      <p:sp>
        <p:nvSpPr>
          <p:cNvPr id="10" name="TextBox 9"/>
          <p:cNvSpPr txBox="1"/>
          <p:nvPr/>
        </p:nvSpPr>
        <p:spPr>
          <a:xfrm>
            <a:off x="502920" y="6172200"/>
            <a:ext cx="11155680" cy="310896"/>
          </a:xfrm>
          <a:prstGeom prst="rect">
            <a:avLst/>
          </a:prstGeom>
          <a:noFill/>
        </p:spPr>
        <p:txBody>
          <a:bodyPr wrap="square" lIns="0" rIns="0" tIns="0" bIns="0">
            <a:spAutoFit/>
          </a:bodyPr>
          <a:lstStyle/>
          <a:p>
            <a:pPr algn="l"/>
            <a:r>
              <a:rPr sz="1250" b="1" i="1">
                <a:solidFill>
                  <a:srgbClr val="1E2761"/>
                </a:solidFill>
                <a:latin typeface="Arial"/>
              </a:rPr>
              <a:t>A generator trained here would be sound and still reproduce a 12-study composition that does not cover a new cohort.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Does more data, or more diverse data, transfer better?</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The scaling sweep - 33 pretraining runs across three machines</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6</a:t>
            </a:r>
          </a:p>
        </p:txBody>
      </p:sp>
      <p:graphicFrame>
        <p:nvGraphicFramePr>
          <p:cNvPr id="5" name="Table 4"/>
          <p:cNvGraphicFramePr>
            <a:graphicFrameLocks noGrp="1"/>
          </p:cNvGraphicFramePr>
          <p:nvPr/>
        </p:nvGraphicFramePr>
        <p:xfrm>
          <a:off x="502920" y="1444752"/>
          <a:ext cx="5486400" cy="2514600"/>
        </p:xfrm>
        <a:graphic>
          <a:graphicData uri="http://schemas.openxmlformats.org/drawingml/2006/table">
            <a:tbl>
              <a:tblPr firstRow="1" bandRow="1">
                <a:tableStyleId>{5C22544A-7EE6-4342-B048-85BDC9FD1C3A}</a:tableStyleId>
              </a:tblPr>
              <a:tblGrid>
                <a:gridCol w="3108960"/>
                <a:gridCol w="1188720"/>
                <a:gridCol w="1188720"/>
              </a:tblGrid>
              <a:tr h="314325">
                <a:tc>
                  <a:txBody>
                    <a:bodyPr/>
                    <a:lstStyle/>
                    <a:p>
                      <a:pPr algn="l"/>
                      <a:r>
                        <a:rPr sz="1100" b="1">
                          <a:solidFill>
                            <a:srgbClr val="1E2761"/>
                          </a:solidFill>
                          <a:latin typeface="Arial"/>
                        </a:rPr>
                        <a:t>pretraining corpus</a:t>
                      </a:r>
                    </a:p>
                  </a:txBody>
                  <a:tcPr anchor="ctr">
                    <a:solidFill>
                      <a:srgbClr val="F4F2EA"/>
                    </a:solidFill>
                  </a:tcPr>
                </a:tc>
                <a:tc>
                  <a:txBody>
                    <a:bodyPr/>
                    <a:lstStyle/>
                    <a:p>
                      <a:pPr algn="ctr"/>
                      <a:r>
                        <a:rPr sz="1100" b="1">
                          <a:solidFill>
                            <a:srgbClr val="1E2761"/>
                          </a:solidFill>
                          <a:latin typeface="Arial"/>
                        </a:rPr>
                        <a:t>10 labels
/class</a:t>
                      </a:r>
                    </a:p>
                  </a:txBody>
                  <a:tcPr anchor="ctr">
                    <a:solidFill>
                      <a:srgbClr val="F4F2EA"/>
                    </a:solidFill>
                  </a:tcPr>
                </a:tc>
                <a:tc>
                  <a:txBody>
                    <a:bodyPr/>
                    <a:lstStyle/>
                    <a:p>
                      <a:pPr algn="ctr"/>
                      <a:r>
                        <a:rPr sz="1100" b="1">
                          <a:solidFill>
                            <a:srgbClr val="1E2761"/>
                          </a:solidFill>
                          <a:latin typeface="Arial"/>
                        </a:rPr>
                        <a:t>all
labels</a:t>
                      </a:r>
                    </a:p>
                  </a:txBody>
                  <a:tcPr anchor="ctr">
                    <a:solidFill>
                      <a:srgbClr val="F4F2EA"/>
                    </a:solidFill>
                  </a:tcPr>
                </a:tc>
              </a:tr>
              <a:tr h="314325">
                <a:tc>
                  <a:txBody>
                    <a:bodyPr/>
                    <a:lstStyle/>
                    <a:p>
                      <a:pPr algn="l"/>
                      <a:r>
                        <a:rPr sz="1100" b="0">
                          <a:solidFill>
                            <a:srgbClr val="3C3C48"/>
                          </a:solidFill>
                          <a:latin typeface="Arial"/>
                        </a:rPr>
                        <a:t>2,000 rows from 2 studies</a:t>
                      </a:r>
                    </a:p>
                  </a:txBody>
                  <a:tcPr anchor="ctr">
                    <a:solidFill>
                      <a:srgbClr val="FFFFFF"/>
                    </a:solidFill>
                  </a:tcPr>
                </a:tc>
                <a:tc>
                  <a:txBody>
                    <a:bodyPr/>
                    <a:lstStyle/>
                    <a:p>
                      <a:pPr algn="ctr"/>
                      <a:r>
                        <a:rPr sz="1100" b="0">
                          <a:solidFill>
                            <a:srgbClr val="3C3C48"/>
                          </a:solidFill>
                          <a:latin typeface="Arial"/>
                        </a:rPr>
                        <a:t>0.541</a:t>
                      </a:r>
                    </a:p>
                  </a:txBody>
                  <a:tcPr anchor="ctr">
                    <a:solidFill>
                      <a:srgbClr val="FFFFFF"/>
                    </a:solidFill>
                  </a:tcPr>
                </a:tc>
                <a:tc>
                  <a:txBody>
                    <a:bodyPr/>
                    <a:lstStyle/>
                    <a:p>
                      <a:pPr algn="ctr"/>
                      <a:r>
                        <a:rPr sz="1100" b="0">
                          <a:solidFill>
                            <a:srgbClr val="3C3C48"/>
                          </a:solidFill>
                          <a:latin typeface="Arial"/>
                        </a:rPr>
                        <a:t>0.600</a:t>
                      </a:r>
                    </a:p>
                  </a:txBody>
                  <a:tcPr anchor="ctr">
                    <a:solidFill>
                      <a:srgbClr val="FFFFFF"/>
                    </a:solidFill>
                  </a:tcPr>
                </a:tc>
              </a:tr>
              <a:tr h="314325">
                <a:tc>
                  <a:txBody>
                    <a:bodyPr/>
                    <a:lstStyle/>
                    <a:p>
                      <a:pPr algn="l"/>
                      <a:r>
                        <a:rPr sz="1100" b="0">
                          <a:solidFill>
                            <a:srgbClr val="3C3C48"/>
                          </a:solidFill>
                          <a:latin typeface="Arial"/>
                        </a:rPr>
                        <a:t>2,000 rows from 4 studies</a:t>
                      </a:r>
                    </a:p>
                  </a:txBody>
                  <a:tcPr anchor="ctr">
                    <a:solidFill>
                      <a:srgbClr val="FFFFFF"/>
                    </a:solidFill>
                  </a:tcPr>
                </a:tc>
                <a:tc>
                  <a:txBody>
                    <a:bodyPr/>
                    <a:lstStyle/>
                    <a:p>
                      <a:pPr algn="ctr"/>
                      <a:r>
                        <a:rPr sz="1100" b="0">
                          <a:solidFill>
                            <a:srgbClr val="3C3C48"/>
                          </a:solidFill>
                          <a:latin typeface="Arial"/>
                        </a:rPr>
                        <a:t>0.565</a:t>
                      </a:r>
                    </a:p>
                  </a:txBody>
                  <a:tcPr anchor="ctr">
                    <a:solidFill>
                      <a:srgbClr val="FFFFFF"/>
                    </a:solidFill>
                  </a:tcPr>
                </a:tc>
                <a:tc>
                  <a:txBody>
                    <a:bodyPr/>
                    <a:lstStyle/>
                    <a:p>
                      <a:pPr algn="ctr"/>
                      <a:r>
                        <a:rPr sz="1100" b="0">
                          <a:solidFill>
                            <a:srgbClr val="3C3C48"/>
                          </a:solidFill>
                          <a:latin typeface="Arial"/>
                        </a:rPr>
                        <a:t>0.633</a:t>
                      </a:r>
                    </a:p>
                  </a:txBody>
                  <a:tcPr anchor="ctr">
                    <a:solidFill>
                      <a:srgbClr val="FFFFFF"/>
                    </a:solidFill>
                  </a:tcPr>
                </a:tc>
              </a:tr>
              <a:tr h="314325">
                <a:tc>
                  <a:txBody>
                    <a:bodyPr/>
                    <a:lstStyle/>
                    <a:p>
                      <a:pPr algn="l"/>
                      <a:r>
                        <a:rPr sz="1100" b="0">
                          <a:solidFill>
                            <a:srgbClr val="3C3C48"/>
                          </a:solidFill>
                          <a:latin typeface="Arial"/>
                        </a:rPr>
                        <a:t>2,000 rows from 8 studies</a:t>
                      </a:r>
                    </a:p>
                  </a:txBody>
                  <a:tcPr anchor="ctr">
                    <a:solidFill>
                      <a:srgbClr val="FFFFFF"/>
                    </a:solidFill>
                  </a:tcPr>
                </a:tc>
                <a:tc>
                  <a:txBody>
                    <a:bodyPr/>
                    <a:lstStyle/>
                    <a:p>
                      <a:pPr algn="ctr"/>
                      <a:r>
                        <a:rPr sz="1100" b="0">
                          <a:solidFill>
                            <a:srgbClr val="3C3C48"/>
                          </a:solidFill>
                          <a:latin typeface="Arial"/>
                        </a:rPr>
                        <a:t>0.565</a:t>
                      </a:r>
                    </a:p>
                  </a:txBody>
                  <a:tcPr anchor="ctr">
                    <a:solidFill>
                      <a:srgbClr val="FFFFFF"/>
                    </a:solidFill>
                  </a:tcPr>
                </a:tc>
                <a:tc>
                  <a:txBody>
                    <a:bodyPr/>
                    <a:lstStyle/>
                    <a:p>
                      <a:pPr algn="ctr"/>
                      <a:r>
                        <a:rPr sz="1100" b="0">
                          <a:solidFill>
                            <a:srgbClr val="3C3C48"/>
                          </a:solidFill>
                          <a:latin typeface="Arial"/>
                        </a:rPr>
                        <a:t>0.629</a:t>
                      </a:r>
                    </a:p>
                  </a:txBody>
                  <a:tcPr anchor="ctr">
                    <a:solidFill>
                      <a:srgbClr val="FFFFFF"/>
                    </a:solidFill>
                  </a:tcPr>
                </a:tc>
              </a:tr>
              <a:tr h="314325">
                <a:tc>
                  <a:txBody>
                    <a:bodyPr/>
                    <a:lstStyle/>
                    <a:p>
                      <a:pPr algn="l"/>
                      <a:r>
                        <a:rPr sz="1100" b="0">
                          <a:solidFill>
                            <a:srgbClr val="3C3C48"/>
                          </a:solidFill>
                          <a:latin typeface="Arial"/>
                        </a:rPr>
                        <a:t>2,000 rows from 12 studies</a:t>
                      </a:r>
                    </a:p>
                  </a:txBody>
                  <a:tcPr anchor="ctr">
                    <a:solidFill>
                      <a:srgbClr val="FFFFFF"/>
                    </a:solidFill>
                  </a:tcPr>
                </a:tc>
                <a:tc>
                  <a:txBody>
                    <a:bodyPr/>
                    <a:lstStyle/>
                    <a:p>
                      <a:pPr algn="ctr"/>
                      <a:r>
                        <a:rPr sz="1100" b="0">
                          <a:solidFill>
                            <a:srgbClr val="3C3C48"/>
                          </a:solidFill>
                          <a:latin typeface="Arial"/>
                        </a:rPr>
                        <a:t>0.568</a:t>
                      </a:r>
                    </a:p>
                  </a:txBody>
                  <a:tcPr anchor="ctr">
                    <a:solidFill>
                      <a:srgbClr val="FFFFFF"/>
                    </a:solidFill>
                  </a:tcPr>
                </a:tc>
                <a:tc>
                  <a:txBody>
                    <a:bodyPr/>
                    <a:lstStyle/>
                    <a:p>
                      <a:pPr algn="ctr"/>
                      <a:r>
                        <a:rPr sz="1100" b="0">
                          <a:solidFill>
                            <a:srgbClr val="3C3C48"/>
                          </a:solidFill>
                          <a:latin typeface="Arial"/>
                        </a:rPr>
                        <a:t>0.627</a:t>
                      </a:r>
                    </a:p>
                  </a:txBody>
                  <a:tcPr anchor="ctr">
                    <a:solidFill>
                      <a:srgbClr val="FFFFFF"/>
                    </a:solidFill>
                  </a:tcPr>
                </a:tc>
              </a:tr>
              <a:tr h="314325">
                <a:tc>
                  <a:txBody>
                    <a:bodyPr/>
                    <a:lstStyle/>
                    <a:p>
                      <a:pPr algn="l"/>
                      <a:r>
                        <a:rPr sz="1100" b="0">
                          <a:solidFill>
                            <a:srgbClr val="3C3C48"/>
                          </a:solidFill>
                          <a:latin typeface="Arial"/>
                        </a:rPr>
                        <a:t>858 rows, all 12 studies</a:t>
                      </a:r>
                    </a:p>
                  </a:txBody>
                  <a:tcPr anchor="ctr">
                    <a:solidFill>
                      <a:srgbClr val="FFFFFF"/>
                    </a:solidFill>
                  </a:tcPr>
                </a:tc>
                <a:tc>
                  <a:txBody>
                    <a:bodyPr/>
                    <a:lstStyle/>
                    <a:p>
                      <a:pPr algn="ctr"/>
                      <a:r>
                        <a:rPr sz="1100" b="0">
                          <a:solidFill>
                            <a:srgbClr val="3C3C48"/>
                          </a:solidFill>
                          <a:latin typeface="Arial"/>
                        </a:rPr>
                        <a:t>0.557</a:t>
                      </a:r>
                    </a:p>
                  </a:txBody>
                  <a:tcPr anchor="ctr">
                    <a:solidFill>
                      <a:srgbClr val="FFFFFF"/>
                    </a:solidFill>
                  </a:tcPr>
                </a:tc>
                <a:tc>
                  <a:txBody>
                    <a:bodyPr/>
                    <a:lstStyle/>
                    <a:p>
                      <a:pPr algn="ctr"/>
                      <a:r>
                        <a:rPr sz="1100" b="0">
                          <a:solidFill>
                            <a:srgbClr val="3C3C48"/>
                          </a:solidFill>
                          <a:latin typeface="Arial"/>
                        </a:rPr>
                        <a:t>0.624</a:t>
                      </a:r>
                    </a:p>
                  </a:txBody>
                  <a:tcPr anchor="ctr">
                    <a:solidFill>
                      <a:srgbClr val="FFFFFF"/>
                    </a:solidFill>
                  </a:tcPr>
                </a:tc>
              </a:tr>
              <a:tr h="314325">
                <a:tc>
                  <a:txBody>
                    <a:bodyPr/>
                    <a:lstStyle/>
                    <a:p>
                      <a:pPr algn="l"/>
                      <a:r>
                        <a:rPr sz="1100" b="0">
                          <a:solidFill>
                            <a:srgbClr val="3C3C48"/>
                          </a:solidFill>
                          <a:latin typeface="Arial"/>
                        </a:rPr>
                        <a:t>6,410 rows, all 12 studies</a:t>
                      </a:r>
                    </a:p>
                  </a:txBody>
                  <a:tcPr anchor="ctr">
                    <a:solidFill>
                      <a:srgbClr val="FFFFFF"/>
                    </a:solidFill>
                  </a:tcPr>
                </a:tc>
                <a:tc>
                  <a:txBody>
                    <a:bodyPr/>
                    <a:lstStyle/>
                    <a:p>
                      <a:pPr algn="ctr"/>
                      <a:r>
                        <a:rPr sz="1100" b="0">
                          <a:solidFill>
                            <a:srgbClr val="3C3C48"/>
                          </a:solidFill>
                          <a:latin typeface="Arial"/>
                        </a:rPr>
                        <a:t>0.571</a:t>
                      </a:r>
                    </a:p>
                  </a:txBody>
                  <a:tcPr anchor="ctr">
                    <a:solidFill>
                      <a:srgbClr val="FFFFFF"/>
                    </a:solidFill>
                  </a:tcPr>
                </a:tc>
                <a:tc>
                  <a:txBody>
                    <a:bodyPr/>
                    <a:lstStyle/>
                    <a:p>
                      <a:pPr algn="ctr"/>
                      <a:r>
                        <a:rPr sz="1100" b="0">
                          <a:solidFill>
                            <a:srgbClr val="3C3C48"/>
                          </a:solidFill>
                          <a:latin typeface="Arial"/>
                        </a:rPr>
                        <a:t>0.640</a:t>
                      </a:r>
                    </a:p>
                  </a:txBody>
                  <a:tcPr anchor="ctr">
                    <a:solidFill>
                      <a:srgbClr val="FFFFFF"/>
                    </a:solidFill>
                  </a:tcPr>
                </a:tc>
              </a:tr>
              <a:tr h="314325">
                <a:tc>
                  <a:txBody>
                    <a:bodyPr/>
                    <a:lstStyle/>
                    <a:p>
                      <a:pPr algn="l"/>
                      <a:r>
                        <a:rPr sz="1100" b="1">
                          <a:solidFill>
                            <a:srgbClr val="2E5E9E"/>
                          </a:solidFill>
                          <a:latin typeface="Arial"/>
                        </a:rPr>
                        <a:t>classical ML</a:t>
                      </a:r>
                    </a:p>
                  </a:txBody>
                  <a:tcPr anchor="ctr">
                    <a:solidFill>
                      <a:srgbClr val="F4F2EA"/>
                    </a:solidFill>
                  </a:tcPr>
                </a:tc>
                <a:tc>
                  <a:txBody>
                    <a:bodyPr/>
                    <a:lstStyle/>
                    <a:p>
                      <a:pPr algn="ctr"/>
                      <a:r>
                        <a:rPr sz="1100" b="1">
                          <a:solidFill>
                            <a:srgbClr val="2E5E9E"/>
                          </a:solidFill>
                          <a:latin typeface="Arial"/>
                        </a:rPr>
                        <a:t>0.658</a:t>
                      </a:r>
                    </a:p>
                  </a:txBody>
                  <a:tcPr anchor="ctr">
                    <a:solidFill>
                      <a:srgbClr val="F4F2EA"/>
                    </a:solidFill>
                  </a:tcPr>
                </a:tc>
                <a:tc>
                  <a:txBody>
                    <a:bodyPr/>
                    <a:lstStyle/>
                    <a:p>
                      <a:pPr algn="ctr"/>
                      <a:r>
                        <a:rPr sz="1100" b="1">
                          <a:solidFill>
                            <a:srgbClr val="2E5E9E"/>
                          </a:solidFill>
                          <a:latin typeface="Arial"/>
                        </a:rPr>
                        <a:t>0.732</a:t>
                      </a:r>
                    </a:p>
                  </a:txBody>
                  <a:tcPr anchor="ctr">
                    <a:solidFill>
                      <a:srgbClr val="F4F2EA"/>
                    </a:solidFill>
                  </a:tcPr>
                </a:tc>
              </a:tr>
            </a:tbl>
          </a:graphicData>
        </a:graphic>
      </p:graphicFrame>
      <p:sp>
        <p:nvSpPr>
          <p:cNvPr id="6" name="TextBox 5"/>
          <p:cNvSpPr txBox="1"/>
          <p:nvPr/>
        </p:nvSpPr>
        <p:spPr>
          <a:xfrm>
            <a:off x="502920" y="3986784"/>
            <a:ext cx="5669280" cy="274320"/>
          </a:xfrm>
          <a:prstGeom prst="rect">
            <a:avLst/>
          </a:prstGeom>
          <a:noFill/>
        </p:spPr>
        <p:txBody>
          <a:bodyPr wrap="square" lIns="0" rIns="0" tIns="0" bIns="0">
            <a:spAutoFit/>
          </a:bodyPr>
          <a:lstStyle/>
          <a:p>
            <a:pPr algn="l"/>
            <a:r>
              <a:rPr sz="950" b="0" i="1">
                <a:solidFill>
                  <a:srgbClr val="5A5A6E"/>
                </a:solidFill>
                <a:latin typeface="Arial"/>
              </a:rPr>
              <a:t>Masking, mean over 6 targets; seed sd 0.002-0.021. Columns = label budget.</a:t>
            </a:r>
          </a:p>
        </p:txBody>
      </p:sp>
      <p:sp>
        <p:nvSpPr>
          <p:cNvPr id="7" name="Rounded Rectangle 6"/>
          <p:cNvSpPr/>
          <p:nvPr/>
        </p:nvSpPr>
        <p:spPr>
          <a:xfrm>
            <a:off x="6263640" y="1444752"/>
            <a:ext cx="5394960" cy="251460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572768"/>
            <a:ext cx="4892040" cy="274320"/>
          </a:xfrm>
          <a:prstGeom prst="rect">
            <a:avLst/>
          </a:prstGeom>
          <a:noFill/>
        </p:spPr>
        <p:txBody>
          <a:bodyPr wrap="square" lIns="0" rIns="0" tIns="0" bIns="0">
            <a:spAutoFit/>
          </a:bodyPr>
          <a:lstStyle/>
          <a:p>
            <a:pPr algn="l"/>
            <a:r>
              <a:rPr sz="1400" b="1" i="0">
                <a:solidFill>
                  <a:srgbClr val="1E2761"/>
                </a:solidFill>
                <a:latin typeface="Arial"/>
              </a:rPr>
              <a:t>Diversity beats quantity, but both are small</a:t>
            </a:r>
          </a:p>
        </p:txBody>
      </p:sp>
      <p:sp>
        <p:nvSpPr>
          <p:cNvPr id="9" name="TextBox 8"/>
          <p:cNvSpPr txBox="1"/>
          <p:nvPr/>
        </p:nvSpPr>
        <p:spPr>
          <a:xfrm>
            <a:off x="6519672" y="1920240"/>
            <a:ext cx="4892040" cy="1920240"/>
          </a:xfrm>
          <a:prstGeom prst="rect">
            <a:avLst/>
          </a:prstGeom>
          <a:noFill/>
        </p:spPr>
        <p:txBody>
          <a:bodyPr wrap="square" lIns="0" rIns="0" tIns="0" bIns="0">
            <a:spAutoFit/>
          </a:bodyPr>
          <a:lstStyle/>
          <a:p>
            <a:pPr algn="l"/>
            <a:r>
              <a:rPr sz="1150" b="0" i="0">
                <a:solidFill>
                  <a:srgbClr val="3C3C48"/>
                </a:solidFill>
                <a:latin typeface="Arial"/>
              </a:rPr>
              <a:t>At a fixed 2,000-row budget, going from 2 studies to 12 gains </a:t>
            </a:r>
            <a:r>
              <a:rPr sz="1150" b="1" i="0">
                <a:solidFill>
                  <a:srgbClr val="3C3C48"/>
                </a:solidFill>
                <a:latin typeface="Arial"/>
              </a:rPr>
              <a:t>+0.027</a:t>
            </a:r>
            <a:r>
              <a:rPr sz="1150" b="0" i="0">
                <a:solidFill>
                  <a:srgbClr val="3C3C48"/>
                </a:solidFill>
                <a:latin typeface="Arial"/>
              </a:rPr>
              <a:t> at both label budgets - above seed noise, and it saturates after 4 studies.
Going from 858 rows to 6,410, with all 12 studies present throughout, gains only </a:t>
            </a:r>
            <a:r>
              <a:rPr sz="1150" b="0" i="0">
                <a:solidFill>
                  <a:srgbClr val="3C3C48"/>
                </a:solidFill>
                <a:latin typeface="Arial"/>
              </a:rPr>
              <a:t>+0.015</a:t>
            </a:r>
            <a:r>
              <a:rPr sz="1150" b="0" i="0">
                <a:solidFill>
                  <a:srgbClr val="3C3C48"/>
                </a:solidFill>
                <a:latin typeface="Arial"/>
              </a:rPr>
              <a:t> and is not monotonic.
So diversity matters more than quantity, which agrees with the distributional result. But neither closes the ~0.10 gap to classical ML.</a:t>
            </a:r>
          </a:p>
        </p:txBody>
      </p:sp>
      <p:sp>
        <p:nvSpPr>
          <p:cNvPr id="10" name="Rounded Rectangle 9"/>
          <p:cNvSpPr/>
          <p:nvPr/>
        </p:nvSpPr>
        <p:spPr>
          <a:xfrm>
            <a:off x="502920" y="4206240"/>
            <a:ext cx="11155680" cy="713232"/>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79392"/>
            <a:ext cx="10607040" cy="237744"/>
          </a:xfrm>
          <a:prstGeom prst="rect">
            <a:avLst/>
          </a:prstGeom>
          <a:noFill/>
        </p:spPr>
        <p:txBody>
          <a:bodyPr wrap="square" lIns="0" rIns="0" tIns="0" bIns="0">
            <a:spAutoFit/>
          </a:bodyPr>
          <a:lstStyle/>
          <a:p>
            <a:pPr algn="l"/>
            <a:r>
              <a:rPr sz="1250" b="1" i="0">
                <a:solidFill>
                  <a:srgbClr val="C0272D"/>
                </a:solidFill>
                <a:latin typeface="Arial"/>
              </a:rPr>
              <a:t>What this means for gate G3</a:t>
            </a:r>
          </a:p>
        </p:txBody>
      </p:sp>
      <p:sp>
        <p:nvSpPr>
          <p:cNvPr id="12" name="TextBox 11"/>
          <p:cNvSpPr txBox="1"/>
          <p:nvPr/>
        </p:nvSpPr>
        <p:spPr>
          <a:xfrm>
            <a:off x="777240" y="4517136"/>
            <a:ext cx="10607040" cy="384048"/>
          </a:xfrm>
          <a:prstGeom prst="rect">
            <a:avLst/>
          </a:prstGeom>
          <a:noFill/>
        </p:spPr>
        <p:txBody>
          <a:bodyPr wrap="square" lIns="0" rIns="0" tIns="0" bIns="0">
            <a:spAutoFit/>
          </a:bodyPr>
          <a:lstStyle/>
          <a:p>
            <a:pPr algn="l"/>
            <a:r>
              <a:rPr sz="1050" b="0" i="0">
                <a:solidFill>
                  <a:srgbClr val="3C3C48"/>
                </a:solidFill>
                <a:latin typeface="Arial"/>
              </a:rPr>
              <a:t>A generator trained on this corpus would reproduce a 12-study composition. The scaling result says a 12-study corpus is not much better than a 4-study one for transfer, so synthetic data drawn from it should not be expected to help. Worth one honest test, with a low prior.</a:t>
            </a:r>
          </a:p>
        </p:txBody>
      </p:sp>
      <p:sp>
        <p:nvSpPr>
          <p:cNvPr id="13" name="Rounded Rectangle 12"/>
          <p:cNvSpPr/>
          <p:nvPr/>
        </p:nvSpPr>
        <p:spPr>
          <a:xfrm>
            <a:off x="502920" y="4992624"/>
            <a:ext cx="11155680" cy="713232"/>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65776"/>
            <a:ext cx="10607040" cy="237744"/>
          </a:xfrm>
          <a:prstGeom prst="rect">
            <a:avLst/>
          </a:prstGeom>
          <a:noFill/>
        </p:spPr>
        <p:txBody>
          <a:bodyPr wrap="square" lIns="0" rIns="0" tIns="0" bIns="0">
            <a:spAutoFit/>
          </a:bodyPr>
          <a:lstStyle/>
          <a:p>
            <a:pPr algn="l"/>
            <a:r>
              <a:rPr sz="1250" b="1" i="0">
                <a:solidFill>
                  <a:srgbClr val="2E5E9E"/>
                </a:solidFill>
                <a:latin typeface="Arial"/>
              </a:rPr>
              <a:t>The open question this raises</a:t>
            </a:r>
          </a:p>
        </p:txBody>
      </p:sp>
      <p:sp>
        <p:nvSpPr>
          <p:cNvPr id="15" name="TextBox 14"/>
          <p:cNvSpPr txBox="1"/>
          <p:nvPr/>
        </p:nvSpPr>
        <p:spPr>
          <a:xfrm>
            <a:off x="777240" y="5303520"/>
            <a:ext cx="10607040" cy="384048"/>
          </a:xfrm>
          <a:prstGeom prst="rect">
            <a:avLst/>
          </a:prstGeom>
          <a:noFill/>
        </p:spPr>
        <p:txBody>
          <a:bodyPr wrap="square" lIns="0" rIns="0" tIns="0" bIns="0">
            <a:spAutoFit/>
          </a:bodyPr>
          <a:lstStyle/>
          <a:p>
            <a:pPr algn="l"/>
            <a:r>
              <a:rPr sz="1050" b="0" i="0">
                <a:solidFill>
                  <a:srgbClr val="3C3C48"/>
                </a:solidFill>
                <a:latin typeface="Arial"/>
              </a:rPr>
              <a:t>Saturation at 4 studies may mean the 2,000-row budget is the binding constraint rather than study count. Re-running the fixed-budget axis at 4,000 rows would separate those, and is the next cheap experiment.</a:t>
            </a:r>
          </a:p>
        </p:txBody>
      </p:sp>
      <p:sp>
        <p:nvSpPr>
          <p:cNvPr id="16" name="Rounded Rectangle 15"/>
          <p:cNvSpPr/>
          <p:nvPr/>
        </p:nvSpPr>
        <p:spPr>
          <a:xfrm>
            <a:off x="502920" y="5779008"/>
            <a:ext cx="11155680" cy="713232"/>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52160"/>
            <a:ext cx="10607040" cy="237744"/>
          </a:xfrm>
          <a:prstGeom prst="rect">
            <a:avLst/>
          </a:prstGeom>
          <a:noFill/>
        </p:spPr>
        <p:txBody>
          <a:bodyPr wrap="square" lIns="0" rIns="0" tIns="0" bIns="0">
            <a:spAutoFit/>
          </a:bodyPr>
          <a:lstStyle/>
          <a:p>
            <a:pPr algn="l"/>
            <a:r>
              <a:rPr sz="1250" b="1" i="0">
                <a:solidFill>
                  <a:srgbClr val="1E2761"/>
                </a:solidFill>
                <a:latin typeface="Arial"/>
              </a:rPr>
              <a:t>Still untested</a:t>
            </a:r>
          </a:p>
        </p:txBody>
      </p:sp>
      <p:sp>
        <p:nvSpPr>
          <p:cNvPr id="18" name="TextBox 17"/>
          <p:cNvSpPr txBox="1"/>
          <p:nvPr/>
        </p:nvSpPr>
        <p:spPr>
          <a:xfrm>
            <a:off x="777240" y="6089904"/>
            <a:ext cx="10607040" cy="384048"/>
          </a:xfrm>
          <a:prstGeom prst="rect">
            <a:avLst/>
          </a:prstGeom>
          <a:noFill/>
        </p:spPr>
        <p:txBody>
          <a:bodyPr wrap="square" lIns="0" rIns="0" tIns="0" bIns="0">
            <a:spAutoFit/>
          </a:bodyPr>
          <a:lstStyle/>
          <a:p>
            <a:pPr algn="l"/>
            <a:r>
              <a:rPr sz="1050" b="0" i="0">
                <a:solidFill>
                  <a:srgbClr val="3C3C48"/>
                </a:solidFill>
                <a:latin typeface="Arial"/>
              </a:rPr>
              <a:t>Fine-tuning rather than frozen probes. Phase 3 froze the backbone deliberately, so G1 is a verdict about representations, not about what the architecture could do if adapted.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