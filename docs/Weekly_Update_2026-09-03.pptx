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this. Two results we were relying on are gone, and both went for the same reason we already knew about: single-run claims and unaudited data.
Barth: experiment #18. The 0.806 came from the original unseeded run, exactly the position #15 showed to be selection-biased upward.
MTBLS326: experiment #11, the batch audit we had deferred since February. The permutation null could never have caught this — permuting labels destroys the batch structure and the biology together, so a confounded dataset passes at p&lt;=0.02.
This does NOT weaken the few-shot result. It removes two targets that were making SSL look better than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useful thing we have produced since August, because it converts a negative result into a mechanism.
Every reconstruction claim in the project had been reported WITHOUT a baseline — the same error as quoting classifier accuracy with no majority-class rate. With masks matched, copy-a-neighbour reaches 0.900 against the network's 0.921.
Why: the corpus is close to low-rank and 55% of rows have a neighbour above r=0.99. The population prior already answers the pretext task, so masked modelling cannot be forced to learn anything disease-discriminative.
Separately (#20) we checked the train/eval boundary: NO leakage — zero evaluation spectra have a near-duplicate in the corpus — but coverage is poor, r = 0.37-0.78 against 0.99 within-corpus.
One prediction of ours failed and it is worth admitting: we expected r to be inflated by predicting empty baseline. It is not — peak bins 0.879 vs baseline bins 0.855.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maps directly onto the whiteboard tree.
The marginal half of the question was already partly answered by the peak-saturation work; I re-ran it on v4 under unit-area (min-max is the wrong unit for an intensity distribution, because its unit is 'this spectrum's tallest peak', which turns out to be 21 different chemical positions across 400 spectra). The conclusion replicates: ~360 spectra suffice.
The joint half had never been measured and it is where the difficulty lies. Note the contrast with the WITHIN-spectrum autocorrelation, which dies by ~1000 points — that is lineshape width. Conflating the two would have suggested a 1000-point window is enough.
Consequence: no overlap setting makes window-stitching lossless. That is a hard constraint on route (b), and it is measured rather than assumed.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pausing on the figure: all three variants LOOK like plausible NMR spectra, including the one whose statistics are destroyed, because a 50% Hann crossfade hides every join. Visual inspection cannot validate a generator here. That is why we scored them against the measured correlation profile instead.
The trade-off follows directly from the joint-distribution measurement on the previous slide, so it is not a tuning failure — it is structural to window sampling.
Practical read: route (b) is usable as LOCAL augmentation on top of a coherent base spectrum, not as a stand-alone generator. That is what pushed us to build route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clear that Stage 0 is a genuine partial result, not a failure.
What is solid: the library is local, the basis is built, and it is chemically validated — 19 of 21 metabolites match literature shifts within 0.03 ppm, and the two apparent misses were my reference values quoting a different peak of the same multiplet.
What is not: the forward model explains ~46-51% of a real spectrum against a 90% bar.
The diagnosis is the useful part. Adding the empirical lipid basis raised the CONSTRAINED fit from 0.11 to 0.45 and made the solver well behaved, but the unconstrained CEILING only moved 0.47 to 0.51. So the missing variance is not missing components — it is that misplaced peaks cannot be fitted by adding basis vectors.
The ppm-offset finding is of independent value. Every within-corpus result we have remains internally consistent; it only bites when comparing to an external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ask, not on the status.
The single highest-value thing is the parameter export, because one small CSV resolves four questions that are currently each blocked separately. Emphasise that it does NOT mean moving the archive — the script reads a few kB per experiment and never opens a FID.
If asked what happens if the corpus turns out to be mixed-field: then one 600 MHz basis is wrong for part of it, and that alone could account for a chunk of the missing variance in the fit gate. Either way we learn something that matters.
Per-peak shift fitting can begin immediately without the archive — fitting each spectrum's offset as a free parameter would tell us how much of the ~50% ceiling is alignment, before the CSV arrives.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74320"/>
            <a:ext cx="11155680" cy="658368"/>
          </a:xfrm>
          <a:prstGeom prst="rect">
            <a:avLst/>
          </a:prstGeom>
          <a:noFill/>
          <a:ln/>
        </p:spPr>
        <p:txBody>
          <a:bodyPr wrap="square" lIns="0" tIns="0" rIns="0" bIns="0" rtlCol="0" anchor="ctr"/>
          <a:lstStyle/>
          <a:p>
            <a:pPr algn="l" indent="0" marL="0">
              <a:buNone/>
            </a:pPr>
            <a:r>
              <a:rPr lang="en-US" sz="3000" b="1" dirty="0">
                <a:solidFill>
                  <a:srgbClr val="21295C"/>
                </a:solidFill>
                <a:latin typeface="Arial" pitchFamily="34" charset="0"/>
                <a:ea typeface="Arial" pitchFamily="34" charset="-122"/>
                <a:cs typeface="Arial" pitchFamily="34" charset="-120"/>
              </a:rPr>
              <a:t>Since 10 August: the evidence base got smaller</a:t>
            </a:r>
            <a:endParaRPr lang="en-US" sz="3000" dirty="0"/>
          </a:p>
        </p:txBody>
      </p:sp>
      <p:sp>
        <p:nvSpPr>
          <p:cNvPr id="3" name="Text 1"/>
          <p:cNvSpPr txBox="1"/>
          <p:nvPr/>
        </p:nvSpPr>
        <p:spPr>
          <a:xfrm>
            <a:off x="502920" y="941832"/>
            <a:ext cx="11155680" cy="384048"/>
          </a:xfrm>
          <a:prstGeom prst="rect">
            <a:avLst/>
          </a:prstGeom>
          <a:noFill/>
          <a:ln/>
        </p:spPr>
        <p:txBody>
          <a:bodyPr wrap="square" lIns="0" tIns="0" rIns="0" bIns="0" rtlCol="0" anchor="ctr"/>
          <a:lstStyle/>
          <a:p>
            <a:pPr algn="l" indent="0" marL="0">
              <a:buNone/>
            </a:pPr>
            <a:r>
              <a:rPr lang="en-US" sz="1700" dirty="0">
                <a:solidFill>
                  <a:srgbClr val="5A6068"/>
                </a:solidFill>
                <a:latin typeface="Arial" pitchFamily="34" charset="0"/>
                <a:ea typeface="Arial" pitchFamily="34" charset="-122"/>
                <a:cs typeface="Arial" pitchFamily="34" charset="-120"/>
              </a:rPr>
              <a:t>Both targets where SSL looked competitive turned out not to count</a:t>
            </a:r>
            <a:endParaRPr lang="en-US" sz="1700" dirty="0"/>
          </a:p>
        </p:txBody>
      </p:sp>
      <p:sp>
        <p:nvSpPr>
          <p:cNvPr id="4" name="Text 2"/>
          <p:cNvSpPr txBox="1"/>
          <p:nvPr/>
        </p:nvSpPr>
        <p:spPr>
          <a:xfrm>
            <a:off x="11631168" y="6355080"/>
            <a:ext cx="411480" cy="274320"/>
          </a:xfrm>
          <a:prstGeom prst="rect">
            <a:avLst/>
          </a:prstGeom>
          <a:noFill/>
          <a:ln/>
        </p:spPr>
        <p:txBody>
          <a:bodyPr wrap="square" lIns="0" tIns="0" rIns="0" bIns="0" rtlCol="0" anchor="ctr"/>
          <a:lstStyle/>
          <a:p>
            <a:pPr algn="r" indent="0" marL="0">
              <a:buNone/>
            </a:pPr>
            <a:r>
              <a:rPr lang="en-US" sz="1200" dirty="0">
                <a:solidFill>
                  <a:srgbClr val="AAB0B8"/>
                </a:solidFill>
                <a:latin typeface="Arial" pitchFamily="34" charset="0"/>
                <a:ea typeface="Arial" pitchFamily="34" charset="-122"/>
                <a:cs typeface="Arial" pitchFamily="34" charset="-120"/>
              </a:rPr>
              <a:t>1</a:t>
            </a:r>
            <a:endParaRPr lang="en-US" sz="1200" dirty="0"/>
          </a:p>
        </p:txBody>
      </p:sp>
      <p:sp>
        <p:nvSpPr>
          <p:cNvPr id="5" name="Shape 3"/>
          <p:cNvSpPr/>
          <p:nvPr/>
        </p:nvSpPr>
        <p:spPr>
          <a:xfrm>
            <a:off x="502920" y="1481328"/>
            <a:ext cx="11155680" cy="1280160"/>
          </a:xfrm>
          <a:prstGeom prst="roundRect">
            <a:avLst>
              <a:gd name="adj" fmla="val 5714"/>
            </a:avLst>
          </a:prstGeom>
          <a:solidFill>
            <a:srgbClr val="FBEEF1"/>
          </a:solidFill>
          <a:ln/>
        </p:spPr>
      </p:sp>
      <p:sp>
        <p:nvSpPr>
          <p:cNvPr id="6" name="Text 4"/>
          <p:cNvSpPr txBox="1"/>
          <p:nvPr/>
        </p:nvSpPr>
        <p:spPr>
          <a:xfrm>
            <a:off x="777240" y="1572768"/>
            <a:ext cx="7498080" cy="310896"/>
          </a:xfrm>
          <a:prstGeom prst="rect">
            <a:avLst/>
          </a:prstGeom>
          <a:noFill/>
          <a:ln/>
        </p:spPr>
        <p:txBody>
          <a:bodyPr wrap="square" lIns="0" tIns="0" rIns="0" bIns="0" rtlCol="0" anchor="ctr"/>
          <a:lstStyle/>
          <a:p>
            <a:pPr indent="0" marL="0">
              <a:buNone/>
            </a:pPr>
            <a:r>
              <a:rPr lang="en-US" sz="1700" b="1" dirty="0">
                <a:solidFill>
                  <a:srgbClr val="1A1A1A"/>
                </a:solidFill>
                <a:latin typeface="Arial" pitchFamily="34" charset="0"/>
                <a:ea typeface="Arial" pitchFamily="34" charset="-122"/>
                <a:cs typeface="Arial" pitchFamily="34" charset="-120"/>
              </a:rPr>
              <a:t>Barth — “SSL beats classical, +0.101”</a:t>
            </a:r>
            <a:endParaRPr lang="en-US" sz="1700" dirty="0"/>
          </a:p>
        </p:txBody>
      </p:sp>
      <p:sp>
        <p:nvSpPr>
          <p:cNvPr id="7" name="Text 5"/>
          <p:cNvSpPr txBox="1"/>
          <p:nvPr/>
        </p:nvSpPr>
        <p:spPr>
          <a:xfrm>
            <a:off x="8412480" y="1572768"/>
            <a:ext cx="3017520" cy="310896"/>
          </a:xfrm>
          <a:prstGeom prst="rect">
            <a:avLst/>
          </a:prstGeom>
          <a:noFill/>
          <a:ln/>
        </p:spPr>
        <p:txBody>
          <a:bodyPr wrap="square" lIns="0" tIns="0" rIns="0" bIns="0" rtlCol="0" anchor="ctr"/>
          <a:lstStyle/>
          <a:p>
            <a:pPr algn="r" indent="0" marL="0">
              <a:buNone/>
            </a:pPr>
            <a:r>
              <a:rPr lang="en-US" sz="1700" b="1" dirty="0">
                <a:solidFill>
                  <a:srgbClr val="C1435B"/>
                </a:solidFill>
                <a:latin typeface="Arial" pitchFamily="34" charset="0"/>
                <a:ea typeface="Arial" pitchFamily="34" charset="-122"/>
                <a:cs typeface="Arial" pitchFamily="34" charset="-120"/>
              </a:rPr>
              <a:t>RETRACTED</a:t>
            </a:r>
            <a:endParaRPr lang="en-US" sz="1700" dirty="0"/>
          </a:p>
        </p:txBody>
      </p:sp>
      <p:sp>
        <p:nvSpPr>
          <p:cNvPr id="8" name="Text 6"/>
          <p:cNvSpPr txBox="1"/>
          <p:nvPr/>
        </p:nvSpPr>
        <p:spPr>
          <a:xfrm>
            <a:off x="777240" y="1920240"/>
            <a:ext cx="10607040" cy="749808"/>
          </a:xfrm>
          <a:prstGeom prst="rect">
            <a:avLst/>
          </a:prstGeom>
          <a:noFill/>
          <a:ln/>
        </p:spPr>
        <p:txBody>
          <a:bodyPr wrap="square" lIns="0" tIns="0" rIns="0" bIns="0" rtlCol="0" anchor="t"/>
          <a:lstStyle/>
          <a:p>
            <a:pPr indent="0" marL="0">
              <a:lnSpc>
                <a:spcPts val="1700"/>
              </a:lnSpc>
              <a:buNone/>
            </a:pPr>
            <a:r>
              <a:rPr lang="en-US" sz="1400" dirty="0">
                <a:solidFill>
                  <a:srgbClr val="1A1A1A"/>
                </a:solidFill>
                <a:latin typeface="Arial" pitchFamily="34" charset="0"/>
                <a:ea typeface="Arial" pitchFamily="34" charset="-122"/>
                <a:cs typeface="Arial" pitchFamily="34" charset="-120"/>
              </a:rPr>
              <a:t>0.806 was the highest of 5 pretraining seeds, +1.5 sd above its own group mean. The other four score 0.598–0.699, all below classical’s 0.705. Across 20 readings SSL wins 5.</a:t>
            </a:r>
            <a:endParaRPr lang="en-US" sz="1400" dirty="0"/>
          </a:p>
        </p:txBody>
      </p:sp>
      <p:sp>
        <p:nvSpPr>
          <p:cNvPr id="9" name="Shape 7"/>
          <p:cNvSpPr/>
          <p:nvPr/>
        </p:nvSpPr>
        <p:spPr>
          <a:xfrm>
            <a:off x="502920" y="2944368"/>
            <a:ext cx="11155680" cy="1280160"/>
          </a:xfrm>
          <a:prstGeom prst="roundRect">
            <a:avLst>
              <a:gd name="adj" fmla="val 5714"/>
            </a:avLst>
          </a:prstGeom>
          <a:solidFill>
            <a:srgbClr val="FBEEF1"/>
          </a:solidFill>
          <a:ln/>
        </p:spPr>
      </p:sp>
      <p:sp>
        <p:nvSpPr>
          <p:cNvPr id="10" name="Text 8"/>
          <p:cNvSpPr txBox="1"/>
          <p:nvPr/>
        </p:nvSpPr>
        <p:spPr>
          <a:xfrm>
            <a:off x="777240" y="3035808"/>
            <a:ext cx="7498080" cy="310896"/>
          </a:xfrm>
          <a:prstGeom prst="rect">
            <a:avLst/>
          </a:prstGeom>
          <a:noFill/>
          <a:ln/>
        </p:spPr>
        <p:txBody>
          <a:bodyPr wrap="square" lIns="0" tIns="0" rIns="0" bIns="0" rtlCol="0" anchor="ctr"/>
          <a:lstStyle/>
          <a:p>
            <a:pPr indent="0" marL="0">
              <a:buNone/>
            </a:pPr>
            <a:r>
              <a:rPr lang="en-US" sz="1700" b="1" dirty="0">
                <a:solidFill>
                  <a:srgbClr val="1A1A1A"/>
                </a:solidFill>
                <a:latin typeface="Arial" pitchFamily="34" charset="0"/>
                <a:ea typeface="Arial" pitchFamily="34" charset="-122"/>
                <a:cs typeface="Arial" pitchFamily="34" charset="-120"/>
              </a:rPr>
              <a:t>MTBLS326 — perfect 1.000 on n=42</a:t>
            </a:r>
            <a:endParaRPr lang="en-US" sz="1700" dirty="0"/>
          </a:p>
        </p:txBody>
      </p:sp>
      <p:sp>
        <p:nvSpPr>
          <p:cNvPr id="11" name="Text 9"/>
          <p:cNvSpPr txBox="1"/>
          <p:nvPr/>
        </p:nvSpPr>
        <p:spPr>
          <a:xfrm>
            <a:off x="8412480" y="3035808"/>
            <a:ext cx="3017520" cy="310896"/>
          </a:xfrm>
          <a:prstGeom prst="rect">
            <a:avLst/>
          </a:prstGeom>
          <a:noFill/>
          <a:ln/>
        </p:spPr>
        <p:txBody>
          <a:bodyPr wrap="square" lIns="0" tIns="0" rIns="0" bIns="0" rtlCol="0" anchor="ctr"/>
          <a:lstStyle/>
          <a:p>
            <a:pPr algn="r" indent="0" marL="0">
              <a:buNone/>
            </a:pPr>
            <a:r>
              <a:rPr lang="en-US" sz="1700" b="1" dirty="0">
                <a:solidFill>
                  <a:srgbClr val="C1435B"/>
                </a:solidFill>
                <a:latin typeface="Arial" pitchFamily="34" charset="0"/>
                <a:ea typeface="Arial" pitchFamily="34" charset="-122"/>
                <a:cs typeface="Arial" pitchFamily="34" charset="-120"/>
              </a:rPr>
              <a:t>UNUSABLE</a:t>
            </a:r>
            <a:endParaRPr lang="en-US" sz="1700" dirty="0"/>
          </a:p>
        </p:txBody>
      </p:sp>
      <p:sp>
        <p:nvSpPr>
          <p:cNvPr id="12" name="Text 10"/>
          <p:cNvSpPr txBox="1"/>
          <p:nvPr/>
        </p:nvSpPr>
        <p:spPr>
          <a:xfrm>
            <a:off x="777240" y="3383280"/>
            <a:ext cx="10607040" cy="749808"/>
          </a:xfrm>
          <a:prstGeom prst="rect">
            <a:avLst/>
          </a:prstGeom>
          <a:noFill/>
          <a:ln/>
        </p:spPr>
        <p:txBody>
          <a:bodyPr wrap="square" lIns="0" tIns="0" rIns="0" bIns="0" rtlCol="0" anchor="t"/>
          <a:lstStyle/>
          <a:p>
            <a:pPr indent="0" marL="0">
              <a:lnSpc>
                <a:spcPts val="1700"/>
              </a:lnSpc>
              <a:buNone/>
            </a:pPr>
            <a:r>
              <a:rPr lang="en-US" sz="1400" dirty="0">
                <a:solidFill>
                  <a:srgbClr val="1A1A1A"/>
                </a:solidFill>
                <a:latin typeface="Arial" pitchFamily="34" charset="0"/>
                <a:ea typeface="Arial" pitchFamily="34" charset="-122"/>
                <a:cs typeface="Arial" pitchFamily="34" charset="-120"/>
              </a:rPr>
              <a:t>Confounded by design: cases are samples 1–27, controls 101–130 — separate acquisition blocks. Spectral regions containing NO metabolites classify the label at 0.726 (p&lt;0.005).</a:t>
            </a:r>
            <a:endParaRPr lang="en-US" sz="1400" dirty="0"/>
          </a:p>
        </p:txBody>
      </p:sp>
      <p:sp>
        <p:nvSpPr>
          <p:cNvPr id="13" name="Shape 11"/>
          <p:cNvSpPr/>
          <p:nvPr/>
        </p:nvSpPr>
        <p:spPr>
          <a:xfrm>
            <a:off x="502920" y="4407408"/>
            <a:ext cx="11155680" cy="1280160"/>
          </a:xfrm>
          <a:prstGeom prst="roundRect">
            <a:avLst>
              <a:gd name="adj" fmla="val 5714"/>
            </a:avLst>
          </a:prstGeom>
          <a:solidFill>
            <a:srgbClr val="EBF5EE"/>
          </a:solidFill>
          <a:ln/>
        </p:spPr>
      </p:sp>
      <p:sp>
        <p:nvSpPr>
          <p:cNvPr id="14" name="Text 12"/>
          <p:cNvSpPr txBox="1"/>
          <p:nvPr/>
        </p:nvSpPr>
        <p:spPr>
          <a:xfrm>
            <a:off x="777240" y="4498848"/>
            <a:ext cx="7498080" cy="310896"/>
          </a:xfrm>
          <a:prstGeom prst="rect">
            <a:avLst/>
          </a:prstGeom>
          <a:noFill/>
          <a:ln/>
        </p:spPr>
        <p:txBody>
          <a:bodyPr wrap="square" lIns="0" tIns="0" rIns="0" bIns="0" rtlCol="0" anchor="ctr"/>
          <a:lstStyle/>
          <a:p>
            <a:pPr indent="0" marL="0">
              <a:buNone/>
            </a:pPr>
            <a:r>
              <a:rPr lang="en-US" sz="1700" b="1" dirty="0">
                <a:solidFill>
                  <a:srgbClr val="1A1A1A"/>
                </a:solidFill>
                <a:latin typeface="Arial" pitchFamily="34" charset="0"/>
                <a:ea typeface="Arial" pitchFamily="34" charset="-122"/>
                <a:cs typeface="Arial" pitchFamily="34" charset="-120"/>
              </a:rPr>
              <a:t>Barth, MTBLS563, BrC-T2D — data quality</a:t>
            </a:r>
            <a:endParaRPr lang="en-US" sz="1700" dirty="0"/>
          </a:p>
        </p:txBody>
      </p:sp>
      <p:sp>
        <p:nvSpPr>
          <p:cNvPr id="15" name="Text 13"/>
          <p:cNvSpPr txBox="1"/>
          <p:nvPr/>
        </p:nvSpPr>
        <p:spPr>
          <a:xfrm>
            <a:off x="8412480" y="4498848"/>
            <a:ext cx="3017520" cy="310896"/>
          </a:xfrm>
          <a:prstGeom prst="rect">
            <a:avLst/>
          </a:prstGeom>
          <a:noFill/>
          <a:ln/>
        </p:spPr>
        <p:txBody>
          <a:bodyPr wrap="square" lIns="0" tIns="0" rIns="0" bIns="0" rtlCol="0" anchor="ctr"/>
          <a:lstStyle/>
          <a:p>
            <a:pPr algn="r" indent="0" marL="0">
              <a:buNone/>
            </a:pPr>
            <a:r>
              <a:rPr lang="en-US" sz="1700" b="1" dirty="0">
                <a:solidFill>
                  <a:srgbClr val="1A7A3C"/>
                </a:solidFill>
                <a:latin typeface="Arial" pitchFamily="34" charset="0"/>
                <a:ea typeface="Arial" pitchFamily="34" charset="-122"/>
                <a:cs typeface="Arial" pitchFamily="34" charset="-120"/>
              </a:rPr>
              <a:t>AUDITED</a:t>
            </a:r>
            <a:endParaRPr lang="en-US" sz="1700" dirty="0"/>
          </a:p>
        </p:txBody>
      </p:sp>
      <p:sp>
        <p:nvSpPr>
          <p:cNvPr id="16" name="Text 14"/>
          <p:cNvSpPr txBox="1"/>
          <p:nvPr/>
        </p:nvSpPr>
        <p:spPr>
          <a:xfrm>
            <a:off x="777240" y="4846320"/>
            <a:ext cx="10607040" cy="749808"/>
          </a:xfrm>
          <a:prstGeom prst="rect">
            <a:avLst/>
          </a:prstGeom>
          <a:noFill/>
          <a:ln/>
        </p:spPr>
        <p:txBody>
          <a:bodyPr wrap="square" lIns="0" tIns="0" rIns="0" bIns="0" rtlCol="0" anchor="t"/>
          <a:lstStyle/>
          <a:p>
            <a:pPr indent="0" marL="0">
              <a:lnSpc>
                <a:spcPts val="1700"/>
              </a:lnSpc>
              <a:buNone/>
            </a:pPr>
            <a:r>
              <a:rPr lang="en-US" sz="1400" dirty="0">
                <a:solidFill>
                  <a:srgbClr val="1A1A1A"/>
                </a:solidFill>
                <a:latin typeface="Arial" pitchFamily="34" charset="0"/>
                <a:ea typeface="Arial" pitchFamily="34" charset="-122"/>
                <a:cs typeface="Arial" pitchFamily="34" charset="-120"/>
              </a:rPr>
              <a:t>All five targets audited. Barth is clean (order AUC 0.58, noise at chance). MTBLS563 and BrC-T2D cancer carry order caveats only. BrC-T2D diabetes is ambiguous.</a:t>
            </a:r>
            <a:endParaRPr lang="en-US" sz="1400" dirty="0"/>
          </a:p>
        </p:txBody>
      </p:sp>
      <p:sp>
        <p:nvSpPr>
          <p:cNvPr id="17" name="Shape 15"/>
          <p:cNvSpPr/>
          <p:nvPr/>
        </p:nvSpPr>
        <p:spPr>
          <a:xfrm>
            <a:off x="502920" y="5925312"/>
            <a:ext cx="11155680" cy="566928"/>
          </a:xfrm>
          <a:prstGeom prst="roundRect">
            <a:avLst>
              <a:gd name="adj" fmla="val 12903"/>
            </a:avLst>
          </a:prstGeom>
          <a:solidFill>
            <a:srgbClr val="21295C"/>
          </a:solidFill>
          <a:ln/>
        </p:spPr>
      </p:sp>
      <p:sp>
        <p:nvSpPr>
          <p:cNvPr id="18" name="Text 16"/>
          <p:cNvSpPr txBox="1"/>
          <p:nvPr/>
        </p:nvSpPr>
        <p:spPr>
          <a:xfrm>
            <a:off x="777240" y="5925312"/>
            <a:ext cx="10607040" cy="566928"/>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Honest full-data record on the targets that remain admissible: 0 SSL wins, 3 losses — and those are the biggest cohorts, the ones with real error bars.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74320"/>
            <a:ext cx="11155680" cy="658368"/>
          </a:xfrm>
          <a:prstGeom prst="rect">
            <a:avLst/>
          </a:prstGeom>
          <a:noFill/>
          <a:ln/>
        </p:spPr>
        <p:txBody>
          <a:bodyPr wrap="square" lIns="0" tIns="0" rIns="0" bIns="0" rtlCol="0" anchor="ctr"/>
          <a:lstStyle/>
          <a:p>
            <a:pPr algn="l" indent="0" marL="0">
              <a:buNone/>
            </a:pPr>
            <a:r>
              <a:rPr lang="en-US" sz="3000" b="1" dirty="0">
                <a:solidFill>
                  <a:srgbClr val="21295C"/>
                </a:solidFill>
                <a:latin typeface="Arial" pitchFamily="34" charset="0"/>
                <a:ea typeface="Arial" pitchFamily="34" charset="-122"/>
                <a:cs typeface="Arial" pitchFamily="34" charset="-120"/>
              </a:rPr>
              <a:t>We now know WHY, not just that it failed</a:t>
            </a:r>
            <a:endParaRPr lang="en-US" sz="3000" dirty="0"/>
          </a:p>
        </p:txBody>
      </p:sp>
      <p:sp>
        <p:nvSpPr>
          <p:cNvPr id="3" name="Text 1"/>
          <p:cNvSpPr txBox="1"/>
          <p:nvPr/>
        </p:nvSpPr>
        <p:spPr>
          <a:xfrm>
            <a:off x="502920" y="941832"/>
            <a:ext cx="11155680" cy="384048"/>
          </a:xfrm>
          <a:prstGeom prst="rect">
            <a:avLst/>
          </a:prstGeom>
          <a:noFill/>
          <a:ln/>
        </p:spPr>
        <p:txBody>
          <a:bodyPr wrap="square" lIns="0" tIns="0" rIns="0" bIns="0" rtlCol="0" anchor="ctr"/>
          <a:lstStyle/>
          <a:p>
            <a:pPr algn="l" indent="0" marL="0">
              <a:buNone/>
            </a:pPr>
            <a:r>
              <a:rPr lang="en-US" sz="1700" dirty="0">
                <a:solidFill>
                  <a:srgbClr val="5A6068"/>
                </a:solidFill>
                <a:latin typeface="Arial" pitchFamily="34" charset="0"/>
                <a:ea typeface="Arial" pitchFamily="34" charset="-122"/>
                <a:cs typeface="Arial" pitchFamily="34" charset="-120"/>
              </a:rPr>
              <a:t>Masked reconstruction is nearly free on this corpus — so the objective cannot bite</a:t>
            </a:r>
            <a:endParaRPr lang="en-US" sz="1700" dirty="0"/>
          </a:p>
        </p:txBody>
      </p:sp>
      <p:sp>
        <p:nvSpPr>
          <p:cNvPr id="4" name="Text 2"/>
          <p:cNvSpPr txBox="1"/>
          <p:nvPr/>
        </p:nvSpPr>
        <p:spPr>
          <a:xfrm>
            <a:off x="11631168" y="6355080"/>
            <a:ext cx="411480" cy="274320"/>
          </a:xfrm>
          <a:prstGeom prst="rect">
            <a:avLst/>
          </a:prstGeom>
          <a:noFill/>
          <a:ln/>
        </p:spPr>
        <p:txBody>
          <a:bodyPr wrap="square" lIns="0" tIns="0" rIns="0" bIns="0" rtlCol="0" anchor="ctr"/>
          <a:lstStyle/>
          <a:p>
            <a:pPr algn="r" indent="0" marL="0">
              <a:buNone/>
            </a:pPr>
            <a:r>
              <a:rPr lang="en-US" sz="1200" dirty="0">
                <a:solidFill>
                  <a:srgbClr val="AAB0B8"/>
                </a:solidFill>
                <a:latin typeface="Arial" pitchFamily="34" charset="0"/>
                <a:ea typeface="Arial" pitchFamily="34" charset="-122"/>
                <a:cs typeface="Arial" pitchFamily="34" charset="-120"/>
              </a:rPr>
              <a:t>2</a:t>
            </a:r>
            <a:endParaRPr lang="en-US" sz="1200" dirty="0"/>
          </a:p>
        </p:txBody>
      </p:sp>
      <p:pic>
        <p:nvPicPr>
          <p:cNvPr id="5" name="Image 0" descr="/home/nmrbox/0012/shasharma/Desktop/NMR_Metabolomics/docs/gm_figures/gm10_recon_baselines.png">    </p:cNvPr>
          <p:cNvPicPr>
            <a:picLocks noChangeAspect="1"/>
          </p:cNvPicPr>
          <p:nvPr/>
        </p:nvPicPr>
        <p:blipFill>
          <a:blip r:embed="rId1"/>
          <a:stretch>
            <a:fillRect/>
          </a:stretch>
        </p:blipFill>
        <p:spPr>
          <a:xfrm>
            <a:off x="1399809" y="1353312"/>
            <a:ext cx="9361902" cy="3931920"/>
          </a:xfrm>
          <a:prstGeom prst="rect">
            <a:avLst/>
          </a:prstGeom>
        </p:spPr>
      </p:pic>
      <p:sp>
        <p:nvSpPr>
          <p:cNvPr id="6" name="Shape 3"/>
          <p:cNvSpPr/>
          <p:nvPr/>
        </p:nvSpPr>
        <p:spPr>
          <a:xfrm>
            <a:off x="502920" y="5440680"/>
            <a:ext cx="5440680" cy="960120"/>
          </a:xfrm>
          <a:prstGeom prst="roundRect">
            <a:avLst>
              <a:gd name="adj" fmla="val 7619"/>
            </a:avLst>
          </a:prstGeom>
          <a:solidFill>
            <a:srgbClr val="FBEEF1"/>
          </a:solidFill>
          <a:ln/>
        </p:spPr>
      </p:sp>
      <p:sp>
        <p:nvSpPr>
          <p:cNvPr id="7" name="Text 4"/>
          <p:cNvSpPr txBox="1"/>
          <p:nvPr/>
        </p:nvSpPr>
        <p:spPr>
          <a:xfrm>
            <a:off x="731520" y="5477256"/>
            <a:ext cx="4992624" cy="886968"/>
          </a:xfrm>
          <a:prstGeom prst="rect">
            <a:avLst/>
          </a:prstGeom>
          <a:noFill/>
          <a:ln/>
        </p:spPr>
        <p:txBody>
          <a:bodyPr wrap="square" lIns="0" tIns="0" rIns="0" bIns="0" rtlCol="0" anchor="ctr"/>
          <a:lstStyle/>
          <a:p>
            <a:pPr indent="0" marL="0">
              <a:lnSpc>
                <a:spcPts val="1700"/>
              </a:lnSpc>
              <a:buNone/>
            </a:pPr>
            <a:r>
              <a:rPr lang="en-US" sz="1400" b="1" dirty="0">
                <a:solidFill>
                  <a:srgbClr val="C1435B"/>
                </a:solidFill>
                <a:latin typeface="Arial" pitchFamily="34" charset="0"/>
                <a:ea typeface="Arial" pitchFamily="34" charset="-122"/>
                <a:cs typeface="Arial" pitchFamily="34" charset="-120"/>
              </a:rPr>
              <a:t>No learning needed.  </a:t>
            </a:r>
            <a:pPr indent="0" marL="0">
              <a:lnSpc>
                <a:spcPts val="1700"/>
              </a:lnSpc>
              <a:buNone/>
            </a:pPr>
            <a:r>
              <a:rPr lang="en-US" sz="1400" dirty="0">
                <a:solidFill>
                  <a:srgbClr val="1A1A1A"/>
                </a:solidFill>
                <a:latin typeface="Arial" pitchFamily="34" charset="0"/>
                <a:ea typeface="Arial" pitchFamily="34" charset="-122"/>
                <a:cs typeface="Arial" pitchFamily="34" charset="-120"/>
              </a:rPr>
              <a:t>Finding the most similar other spectrum and copying its hidden bins scores 0.900 at 60% masking. The trained network gets 0.921.</a:t>
            </a:r>
            <a:endParaRPr lang="en-US" sz="1400" dirty="0"/>
          </a:p>
        </p:txBody>
      </p:sp>
      <p:sp>
        <p:nvSpPr>
          <p:cNvPr id="8" name="Shape 5"/>
          <p:cNvSpPr/>
          <p:nvPr/>
        </p:nvSpPr>
        <p:spPr>
          <a:xfrm>
            <a:off x="6217920" y="5440680"/>
            <a:ext cx="5440680" cy="960120"/>
          </a:xfrm>
          <a:prstGeom prst="roundRect">
            <a:avLst>
              <a:gd name="adj" fmla="val 7619"/>
            </a:avLst>
          </a:prstGeom>
          <a:solidFill>
            <a:srgbClr val="EEF3F7"/>
          </a:solidFill>
          <a:ln/>
        </p:spPr>
      </p:sp>
      <p:sp>
        <p:nvSpPr>
          <p:cNvPr id="9" name="Text 6"/>
          <p:cNvSpPr txBox="1"/>
          <p:nvPr/>
        </p:nvSpPr>
        <p:spPr>
          <a:xfrm>
            <a:off x="6446520" y="5477256"/>
            <a:ext cx="4992624" cy="886968"/>
          </a:xfrm>
          <a:prstGeom prst="rect">
            <a:avLst/>
          </a:prstGeom>
          <a:noFill/>
          <a:ln/>
        </p:spPr>
        <p:txBody>
          <a:bodyPr wrap="square" lIns="0" tIns="0" rIns="0" bIns="0" rtlCol="0" anchor="ctr"/>
          <a:lstStyle/>
          <a:p>
            <a:pPr indent="0" marL="0">
              <a:lnSpc>
                <a:spcPts val="1700"/>
              </a:lnSpc>
              <a:buNone/>
            </a:pPr>
            <a:r>
              <a:rPr lang="en-US" sz="1400" b="1" dirty="0">
                <a:solidFill>
                  <a:srgbClr val="065A82"/>
                </a:solidFill>
                <a:latin typeface="Arial" pitchFamily="34" charset="0"/>
                <a:ea typeface="Arial" pitchFamily="34" charset="-122"/>
                <a:cs typeface="Arial" pitchFamily="34" charset="-120"/>
              </a:rPr>
              <a:t>The corpus is narrow, not small.  </a:t>
            </a:r>
            <a:pPr indent="0" marL="0">
              <a:lnSpc>
                <a:spcPts val="1700"/>
              </a:lnSpc>
              <a:buNone/>
            </a:pPr>
            <a:r>
              <a:rPr lang="en-US" sz="1400" dirty="0">
                <a:solidFill>
                  <a:srgbClr val="1A1A1A"/>
                </a:solidFill>
                <a:latin typeface="Arial" pitchFamily="34" charset="0"/>
                <a:ea typeface="Arial" pitchFamily="34" charset="-122"/>
                <a:cs typeface="Arial" pitchFamily="34" charset="-120"/>
              </a:rPr>
              <a:t>86% of variance in 5 components; the median spectrum’s nearest neighbour correlates at 0.991. And it does not cover our evaluation cohorts (r = 0.37–0.78).</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74320"/>
            <a:ext cx="11155680" cy="658368"/>
          </a:xfrm>
          <a:prstGeom prst="rect">
            <a:avLst/>
          </a:prstGeom>
          <a:noFill/>
          <a:ln/>
        </p:spPr>
        <p:txBody>
          <a:bodyPr wrap="square" lIns="0" tIns="0" rIns="0" bIns="0" rtlCol="0" anchor="ctr"/>
          <a:lstStyle/>
          <a:p>
            <a:pPr algn="l" indent="0" marL="0">
              <a:buNone/>
            </a:pPr>
            <a:r>
              <a:rPr lang="en-US" sz="3000" b="1" dirty="0">
                <a:solidFill>
                  <a:srgbClr val="21295C"/>
                </a:solidFill>
                <a:latin typeface="Arial" pitchFamily="34" charset="0"/>
                <a:ea typeface="Arial" pitchFamily="34" charset="-122"/>
                <a:cs typeface="Arial" pitchFamily="34" charset="-120"/>
              </a:rPr>
              <a:t>Your outline: “is data limiting?”</a:t>
            </a:r>
            <a:endParaRPr lang="en-US" sz="3000" dirty="0"/>
          </a:p>
        </p:txBody>
      </p:sp>
      <p:sp>
        <p:nvSpPr>
          <p:cNvPr id="3" name="Text 1"/>
          <p:cNvSpPr txBox="1"/>
          <p:nvPr/>
        </p:nvSpPr>
        <p:spPr>
          <a:xfrm>
            <a:off x="502920" y="941832"/>
            <a:ext cx="11155680" cy="384048"/>
          </a:xfrm>
          <a:prstGeom prst="rect">
            <a:avLst/>
          </a:prstGeom>
          <a:noFill/>
          <a:ln/>
        </p:spPr>
        <p:txBody>
          <a:bodyPr wrap="square" lIns="0" tIns="0" rIns="0" bIns="0" rtlCol="0" anchor="ctr"/>
          <a:lstStyle/>
          <a:p>
            <a:pPr algn="l" indent="0" marL="0">
              <a:buNone/>
            </a:pPr>
            <a:r>
              <a:rPr lang="en-US" sz="1700" dirty="0">
                <a:solidFill>
                  <a:srgbClr val="5A6068"/>
                </a:solidFill>
                <a:latin typeface="Arial" pitchFamily="34" charset="0"/>
                <a:ea typeface="Arial" pitchFamily="34" charset="-122"/>
                <a:cs typeface="Arial" pitchFamily="34" charset="-120"/>
              </a:rPr>
              <a:t>Answered — but the answer splits in two, and only one half was ever measured</a:t>
            </a:r>
            <a:endParaRPr lang="en-US" sz="1700" dirty="0"/>
          </a:p>
        </p:txBody>
      </p:sp>
      <p:sp>
        <p:nvSpPr>
          <p:cNvPr id="4" name="Text 2"/>
          <p:cNvSpPr txBox="1"/>
          <p:nvPr/>
        </p:nvSpPr>
        <p:spPr>
          <a:xfrm>
            <a:off x="11631168" y="6355080"/>
            <a:ext cx="411480" cy="274320"/>
          </a:xfrm>
          <a:prstGeom prst="rect">
            <a:avLst/>
          </a:prstGeom>
          <a:noFill/>
          <a:ln/>
        </p:spPr>
        <p:txBody>
          <a:bodyPr wrap="square" lIns="0" tIns="0" rIns="0" bIns="0" rtlCol="0" anchor="ctr"/>
          <a:lstStyle/>
          <a:p>
            <a:pPr algn="r" indent="0" marL="0">
              <a:buNone/>
            </a:pPr>
            <a:r>
              <a:rPr lang="en-US" sz="1200" dirty="0">
                <a:solidFill>
                  <a:srgbClr val="AAB0B8"/>
                </a:solidFill>
                <a:latin typeface="Arial" pitchFamily="34" charset="0"/>
                <a:ea typeface="Arial" pitchFamily="34" charset="-122"/>
                <a:cs typeface="Arial" pitchFamily="34" charset="-120"/>
              </a:rPr>
              <a:t>3</a:t>
            </a:r>
            <a:endParaRPr lang="en-US" sz="1200" dirty="0"/>
          </a:p>
        </p:txBody>
      </p:sp>
      <p:sp>
        <p:nvSpPr>
          <p:cNvPr id="5" name="Shape 3"/>
          <p:cNvSpPr/>
          <p:nvPr/>
        </p:nvSpPr>
        <p:spPr>
          <a:xfrm>
            <a:off x="502920" y="1463040"/>
            <a:ext cx="11155680" cy="1389888"/>
          </a:xfrm>
          <a:prstGeom prst="roundRect">
            <a:avLst>
              <a:gd name="adj" fmla="val 5263"/>
            </a:avLst>
          </a:prstGeom>
          <a:solidFill>
            <a:srgbClr val="EEF3F7"/>
          </a:solidFill>
          <a:ln/>
        </p:spPr>
      </p:sp>
      <p:sp>
        <p:nvSpPr>
          <p:cNvPr id="6" name="Shape 4"/>
          <p:cNvSpPr/>
          <p:nvPr/>
        </p:nvSpPr>
        <p:spPr>
          <a:xfrm>
            <a:off x="749808" y="1865376"/>
            <a:ext cx="566928" cy="566928"/>
          </a:xfrm>
          <a:prstGeom prst="ellipse">
            <a:avLst/>
          </a:prstGeom>
          <a:solidFill>
            <a:srgbClr val="1A7A3C"/>
          </a:solidFill>
          <a:ln/>
        </p:spPr>
      </p:sp>
      <p:sp>
        <p:nvSpPr>
          <p:cNvPr id="7" name="Text 5"/>
          <p:cNvSpPr txBox="1"/>
          <p:nvPr/>
        </p:nvSpPr>
        <p:spPr>
          <a:xfrm>
            <a:off x="749808" y="186537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8" name="Text 6"/>
          <p:cNvSpPr txBox="1"/>
          <p:nvPr/>
        </p:nvSpPr>
        <p:spPr>
          <a:xfrm>
            <a:off x="1517904" y="1572768"/>
            <a:ext cx="9875520" cy="329184"/>
          </a:xfrm>
          <a:prstGeom prst="rect">
            <a:avLst/>
          </a:prstGeom>
          <a:noFill/>
          <a:ln/>
        </p:spPr>
        <p:txBody>
          <a:bodyPr wrap="square" lIns="0" tIns="0" rIns="0" bIns="0" rtlCol="0" anchor="ctr"/>
          <a:lstStyle/>
          <a:p>
            <a:pPr indent="0" marL="0">
              <a:buNone/>
            </a:pPr>
            <a:r>
              <a:rPr lang="en-US" sz="1800" b="1" dirty="0">
                <a:solidFill>
                  <a:srgbClr val="1A7A3C"/>
                </a:solidFill>
                <a:latin typeface="Arial" pitchFamily="34" charset="0"/>
                <a:ea typeface="Arial" pitchFamily="34" charset="-122"/>
                <a:cs typeface="Arial" pitchFamily="34" charset="-120"/>
              </a:rPr>
              <a:t>Marginal distributions: NOT limiting</a:t>
            </a:r>
            <a:endParaRPr lang="en-US" sz="1800" dirty="0"/>
          </a:p>
        </p:txBody>
      </p:sp>
      <p:sp>
        <p:nvSpPr>
          <p:cNvPr id="9" name="Text 7"/>
          <p:cNvSpPr txBox="1"/>
          <p:nvPr/>
        </p:nvSpPr>
        <p:spPr>
          <a:xfrm>
            <a:off x="1517904" y="1920240"/>
            <a:ext cx="9875520" cy="859536"/>
          </a:xfrm>
          <a:prstGeom prst="rect">
            <a:avLst/>
          </a:prstGeom>
          <a:noFill/>
          <a:ln/>
        </p:spPr>
        <p:txBody>
          <a:bodyPr wrap="square" lIns="0" tIns="0" rIns="0" bIns="0" rtlCol="0" anchor="t"/>
          <a:lstStyle/>
          <a:p>
            <a:pPr indent="0" marL="0">
              <a:lnSpc>
                <a:spcPts val="1700"/>
              </a:lnSpc>
              <a:buNone/>
            </a:pPr>
            <a:r>
              <a:rPr lang="en-US" sz="1400" dirty="0">
                <a:solidFill>
                  <a:srgbClr val="1A1A1A"/>
                </a:solidFill>
                <a:latin typeface="Arial" pitchFamily="34" charset="0"/>
                <a:ea typeface="Arial" pitchFamily="34" charset="-122"/>
                <a:cs typeface="Arial" pitchFamily="34" charset="-120"/>
              </a:rPr>
              <a:t>Re-ran the 60-peak KS saturation on the v4 corpus under unit-area normalisation. Median N* = 363 spectra; 9,670 is roughly 10× more than needed. For any single peak’s intensity distribution, we have ample data.</a:t>
            </a:r>
            <a:endParaRPr lang="en-US" sz="1400" dirty="0"/>
          </a:p>
        </p:txBody>
      </p:sp>
      <p:sp>
        <p:nvSpPr>
          <p:cNvPr id="10" name="Shape 8"/>
          <p:cNvSpPr/>
          <p:nvPr/>
        </p:nvSpPr>
        <p:spPr>
          <a:xfrm>
            <a:off x="502920" y="3035808"/>
            <a:ext cx="11155680" cy="1389888"/>
          </a:xfrm>
          <a:prstGeom prst="roundRect">
            <a:avLst>
              <a:gd name="adj" fmla="val 5263"/>
            </a:avLst>
          </a:prstGeom>
          <a:solidFill>
            <a:srgbClr val="EEF3F7"/>
          </a:solidFill>
          <a:ln/>
        </p:spPr>
      </p:sp>
      <p:sp>
        <p:nvSpPr>
          <p:cNvPr id="11" name="Shape 9"/>
          <p:cNvSpPr/>
          <p:nvPr/>
        </p:nvSpPr>
        <p:spPr>
          <a:xfrm>
            <a:off x="749808" y="3438144"/>
            <a:ext cx="566928" cy="566928"/>
          </a:xfrm>
          <a:prstGeom prst="ellipse">
            <a:avLst/>
          </a:prstGeom>
          <a:solidFill>
            <a:srgbClr val="C1435B"/>
          </a:solidFill>
          <a:ln/>
        </p:spPr>
      </p:sp>
      <p:sp>
        <p:nvSpPr>
          <p:cNvPr id="12" name="Text 10"/>
          <p:cNvSpPr txBox="1"/>
          <p:nvPr/>
        </p:nvSpPr>
        <p:spPr>
          <a:xfrm>
            <a:off x="749808" y="343814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3" name="Text 11"/>
          <p:cNvSpPr txBox="1"/>
          <p:nvPr/>
        </p:nvSpPr>
        <p:spPr>
          <a:xfrm>
            <a:off x="1517904" y="3145536"/>
            <a:ext cx="9875520" cy="329184"/>
          </a:xfrm>
          <a:prstGeom prst="rect">
            <a:avLst/>
          </a:prstGeom>
          <a:noFill/>
          <a:ln/>
        </p:spPr>
        <p:txBody>
          <a:bodyPr wrap="square" lIns="0" tIns="0" rIns="0" bIns="0" rtlCol="0" anchor="ctr"/>
          <a:lstStyle/>
          <a:p>
            <a:pPr indent="0" marL="0">
              <a:buNone/>
            </a:pPr>
            <a:r>
              <a:rPr lang="en-US" sz="1800" b="1" dirty="0">
                <a:solidFill>
                  <a:srgbClr val="C1435B"/>
                </a:solidFill>
                <a:latin typeface="Arial" pitchFamily="34" charset="0"/>
                <a:ea typeface="Arial" pitchFamily="34" charset="-122"/>
                <a:cs typeface="Arial" pitchFamily="34" charset="-120"/>
              </a:rPr>
              <a:t>The JOINT distribution: this is the constraint</a:t>
            </a:r>
            <a:endParaRPr lang="en-US" sz="1800" dirty="0"/>
          </a:p>
        </p:txBody>
      </p:sp>
      <p:sp>
        <p:nvSpPr>
          <p:cNvPr id="14" name="Text 12"/>
          <p:cNvSpPr txBox="1"/>
          <p:nvPr/>
        </p:nvSpPr>
        <p:spPr>
          <a:xfrm>
            <a:off x="1517904" y="3493008"/>
            <a:ext cx="9875520" cy="859536"/>
          </a:xfrm>
          <a:prstGeom prst="rect">
            <a:avLst/>
          </a:prstGeom>
          <a:noFill/>
          <a:ln/>
        </p:spPr>
        <p:txBody>
          <a:bodyPr wrap="square" lIns="0" tIns="0" rIns="0" bIns="0" rtlCol="0" anchor="t"/>
          <a:lstStyle/>
          <a:p>
            <a:pPr indent="0" marL="0">
              <a:lnSpc>
                <a:spcPts val="1700"/>
              </a:lnSpc>
              <a:buNone/>
            </a:pPr>
            <a:r>
              <a:rPr lang="en-US" sz="1400" dirty="0">
                <a:solidFill>
                  <a:srgbClr val="1A1A1A"/>
                </a:solidFill>
                <a:latin typeface="Arial" pitchFamily="34" charset="0"/>
                <a:ea typeface="Arial" pitchFamily="34" charset="-122"/>
                <a:cs typeface="Arial" pitchFamily="34" charset="-120"/>
              </a:rPr>
              <a:t>Across-spectra correlation never decays — |r| is 0.95 at 32 points, 0.73 at 1024, and still 0.45 at 6 ppm separation. Removing the top 5 principal components barely dents it, so it is real composition covariance, not one global scale factor.</a:t>
            </a:r>
            <a:endParaRPr lang="en-US" sz="1400" dirty="0"/>
          </a:p>
        </p:txBody>
      </p:sp>
      <p:sp>
        <p:nvSpPr>
          <p:cNvPr id="15" name="Shape 13"/>
          <p:cNvSpPr/>
          <p:nvPr/>
        </p:nvSpPr>
        <p:spPr>
          <a:xfrm>
            <a:off x="502920" y="4608576"/>
            <a:ext cx="11155680" cy="1389888"/>
          </a:xfrm>
          <a:prstGeom prst="roundRect">
            <a:avLst>
              <a:gd name="adj" fmla="val 5263"/>
            </a:avLst>
          </a:prstGeom>
          <a:solidFill>
            <a:srgbClr val="EEF3F7"/>
          </a:solidFill>
          <a:ln/>
        </p:spPr>
      </p:sp>
      <p:sp>
        <p:nvSpPr>
          <p:cNvPr id="16" name="Shape 14"/>
          <p:cNvSpPr/>
          <p:nvPr/>
        </p:nvSpPr>
        <p:spPr>
          <a:xfrm>
            <a:off x="749808" y="5010912"/>
            <a:ext cx="566928" cy="566928"/>
          </a:xfrm>
          <a:prstGeom prst="ellipse">
            <a:avLst/>
          </a:prstGeom>
          <a:solidFill>
            <a:srgbClr val="B8860B"/>
          </a:solidFill>
          <a:ln/>
        </p:spPr>
      </p:sp>
      <p:sp>
        <p:nvSpPr>
          <p:cNvPr id="17" name="Text 15"/>
          <p:cNvSpPr txBox="1"/>
          <p:nvPr/>
        </p:nvSpPr>
        <p:spPr>
          <a:xfrm>
            <a:off x="749808" y="5010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8" name="Text 16"/>
          <p:cNvSpPr txBox="1"/>
          <p:nvPr/>
        </p:nvSpPr>
        <p:spPr>
          <a:xfrm>
            <a:off x="1517904" y="4718304"/>
            <a:ext cx="9875520" cy="329184"/>
          </a:xfrm>
          <a:prstGeom prst="rect">
            <a:avLst/>
          </a:prstGeom>
          <a:noFill/>
          <a:ln/>
        </p:spPr>
        <p:txBody>
          <a:bodyPr wrap="square" lIns="0" tIns="0" rIns="0" bIns="0" rtlCol="0" anchor="ctr"/>
          <a:lstStyle/>
          <a:p>
            <a:pPr indent="0" marL="0">
              <a:buNone/>
            </a:pPr>
            <a:r>
              <a:rPr lang="en-US" sz="1800" b="1" dirty="0">
                <a:solidFill>
                  <a:srgbClr val="B8860B"/>
                </a:solidFill>
                <a:latin typeface="Arial" pitchFamily="34" charset="0"/>
                <a:ea typeface="Arial" pitchFamily="34" charset="-122"/>
                <a:cs typeface="Arial" pitchFamily="34" charset="-120"/>
              </a:rPr>
              <a:t>A trap worth recording</a:t>
            </a:r>
            <a:endParaRPr lang="en-US" sz="1800" dirty="0"/>
          </a:p>
        </p:txBody>
      </p:sp>
      <p:sp>
        <p:nvSpPr>
          <p:cNvPr id="19" name="Text 17"/>
          <p:cNvSpPr txBox="1"/>
          <p:nvPr/>
        </p:nvSpPr>
        <p:spPr>
          <a:xfrm>
            <a:off x="1517904" y="5065776"/>
            <a:ext cx="9875520" cy="859536"/>
          </a:xfrm>
          <a:prstGeom prst="rect">
            <a:avLst/>
          </a:prstGeom>
          <a:noFill/>
          <a:ln/>
        </p:spPr>
        <p:txBody>
          <a:bodyPr wrap="square" lIns="0" tIns="0" rIns="0" bIns="0" rtlCol="0" anchor="t"/>
          <a:lstStyle/>
          <a:p>
            <a:pPr indent="0" marL="0">
              <a:lnSpc>
                <a:spcPts val="1700"/>
              </a:lnSpc>
              <a:buNone/>
            </a:pPr>
            <a:r>
              <a:rPr lang="en-US" sz="1400" dirty="0">
                <a:solidFill>
                  <a:srgbClr val="1A1A1A"/>
                </a:solidFill>
                <a:latin typeface="Arial" pitchFamily="34" charset="0"/>
                <a:ea typeface="Arial" pitchFamily="34" charset="-122"/>
                <a:cs typeface="Arial" pitchFamily="34" charset="-120"/>
              </a:rPr>
              <a:t>Re-picking the peak panel per normaliser changes which peaks are analysed (only 9 of 60 shared), and would have reversed the conclusion. The panel must be held fixed across conditions — now enforced by a --peaks-from flag.</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74320"/>
            <a:ext cx="11155680" cy="658368"/>
          </a:xfrm>
          <a:prstGeom prst="rect">
            <a:avLst/>
          </a:prstGeom>
          <a:noFill/>
          <a:ln/>
        </p:spPr>
        <p:txBody>
          <a:bodyPr wrap="square" lIns="0" tIns="0" rIns="0" bIns="0" rtlCol="0" anchor="ctr"/>
          <a:lstStyle/>
          <a:p>
            <a:pPr algn="l" indent="0" marL="0">
              <a:buNone/>
            </a:pPr>
            <a:r>
              <a:rPr lang="en-US" sz="3000" b="1" dirty="0">
                <a:solidFill>
                  <a:srgbClr val="21295C"/>
                </a:solidFill>
                <a:latin typeface="Arial" pitchFamily="34" charset="0"/>
                <a:ea typeface="Arial" pitchFamily="34" charset="-122"/>
                <a:cs typeface="Arial" pitchFamily="34" charset="-120"/>
              </a:rPr>
              <a:t>Synthetic data, route (b): overlapping windows</a:t>
            </a:r>
            <a:endParaRPr lang="en-US" sz="3000" dirty="0"/>
          </a:p>
        </p:txBody>
      </p:sp>
      <p:sp>
        <p:nvSpPr>
          <p:cNvPr id="3" name="Text 1"/>
          <p:cNvSpPr txBox="1"/>
          <p:nvPr/>
        </p:nvSpPr>
        <p:spPr>
          <a:xfrm>
            <a:off x="502920" y="941832"/>
            <a:ext cx="11155680" cy="384048"/>
          </a:xfrm>
          <a:prstGeom prst="rect">
            <a:avLst/>
          </a:prstGeom>
          <a:noFill/>
          <a:ln/>
        </p:spPr>
        <p:txBody>
          <a:bodyPr wrap="square" lIns="0" tIns="0" rIns="0" bIns="0" rtlCol="0" anchor="ctr"/>
          <a:lstStyle/>
          <a:p>
            <a:pPr algn="l" indent="0" marL="0">
              <a:buNone/>
            </a:pPr>
            <a:r>
              <a:rPr lang="en-US" sz="1700" dirty="0">
                <a:solidFill>
                  <a:srgbClr val="5A6068"/>
                </a:solidFill>
                <a:latin typeface="Arial" pitchFamily="34" charset="0"/>
                <a:ea typeface="Arial" pitchFamily="34" charset="-122"/>
                <a:cs typeface="Arial" pitchFamily="34" charset="-120"/>
              </a:rPr>
              <a:t>Built and validated. The trade-off it exposes is the result.</a:t>
            </a:r>
            <a:endParaRPr lang="en-US" sz="1700" dirty="0"/>
          </a:p>
        </p:txBody>
      </p:sp>
      <p:sp>
        <p:nvSpPr>
          <p:cNvPr id="4" name="Text 2"/>
          <p:cNvSpPr txBox="1"/>
          <p:nvPr/>
        </p:nvSpPr>
        <p:spPr>
          <a:xfrm>
            <a:off x="11631168" y="6355080"/>
            <a:ext cx="411480" cy="274320"/>
          </a:xfrm>
          <a:prstGeom prst="rect">
            <a:avLst/>
          </a:prstGeom>
          <a:noFill/>
          <a:ln/>
        </p:spPr>
        <p:txBody>
          <a:bodyPr wrap="square" lIns="0" tIns="0" rIns="0" bIns="0" rtlCol="0" anchor="ctr"/>
          <a:lstStyle/>
          <a:p>
            <a:pPr algn="r" indent="0" marL="0">
              <a:buNone/>
            </a:pPr>
            <a:r>
              <a:rPr lang="en-US" sz="1200" dirty="0">
                <a:solidFill>
                  <a:srgbClr val="AAB0B8"/>
                </a:solidFill>
                <a:latin typeface="Arial" pitchFamily="34" charset="0"/>
                <a:ea typeface="Arial" pitchFamily="34" charset="-122"/>
                <a:cs typeface="Arial" pitchFamily="34" charset="-120"/>
              </a:rPr>
              <a:t>4</a:t>
            </a:r>
            <a:endParaRPr lang="en-US" sz="1200" dirty="0"/>
          </a:p>
        </p:txBody>
      </p:sp>
      <p:pic>
        <p:nvPicPr>
          <p:cNvPr id="5" name="Image 0" descr="/home/nmrbox/0012/shasharma/Desktop/NMR_Metabolomics/results/plots/synthetic_windowed/fig_synth_methods.png">    </p:cNvPr>
          <p:cNvPicPr>
            <a:picLocks noChangeAspect="1"/>
          </p:cNvPicPr>
          <p:nvPr/>
        </p:nvPicPr>
        <p:blipFill>
          <a:blip r:embed="rId1"/>
          <a:stretch>
            <a:fillRect/>
          </a:stretch>
        </p:blipFill>
        <p:spPr>
          <a:xfrm>
            <a:off x="502920" y="1335024"/>
            <a:ext cx="6903720" cy="4636008"/>
          </a:xfrm>
          <a:prstGeom prst="rect">
            <a:avLst/>
          </a:prstGeom>
        </p:spPr>
      </p:pic>
      <p:sp>
        <p:nvSpPr>
          <p:cNvPr id="6" name="Text 3"/>
          <p:cNvSpPr txBox="1"/>
          <p:nvPr/>
        </p:nvSpPr>
        <p:spPr>
          <a:xfrm>
            <a:off x="7635240" y="1389888"/>
            <a:ext cx="4023360" cy="310896"/>
          </a:xfrm>
          <a:prstGeom prst="rect">
            <a:avLst/>
          </a:prstGeom>
          <a:noFill/>
          <a:ln/>
        </p:spPr>
        <p:txBody>
          <a:bodyPr wrap="square" lIns="0" tIns="0" rIns="0" bIns="0" rtlCol="0" anchor="ctr"/>
          <a:lstStyle/>
          <a:p>
            <a:pPr indent="0" marL="0">
              <a:buNone/>
            </a:pPr>
            <a:r>
              <a:rPr lang="en-US" sz="1600" b="1" dirty="0">
                <a:solidFill>
                  <a:srgbClr val="21295C"/>
                </a:solidFill>
                <a:latin typeface="Arial" pitchFamily="34" charset="0"/>
                <a:ea typeface="Arial" pitchFamily="34" charset="-122"/>
                <a:cs typeface="Arial" pitchFamily="34" charset="-120"/>
              </a:rPr>
              <a:t>Three variants, 100 spectra each</a:t>
            </a:r>
            <a:endParaRPr lang="en-US" sz="1600" dirty="0"/>
          </a:p>
        </p:txBody>
      </p:sp>
      <p:sp>
        <p:nvSpPr>
          <p:cNvPr id="7" name="Shape 4"/>
          <p:cNvSpPr/>
          <p:nvPr/>
        </p:nvSpPr>
        <p:spPr>
          <a:xfrm>
            <a:off x="7635240" y="1810512"/>
            <a:ext cx="4023360" cy="932688"/>
          </a:xfrm>
          <a:prstGeom prst="roundRect">
            <a:avLst>
              <a:gd name="adj" fmla="val 7843"/>
            </a:avLst>
          </a:prstGeom>
          <a:solidFill>
            <a:srgbClr val="EEF3F7"/>
          </a:solidFill>
          <a:ln/>
        </p:spPr>
      </p:sp>
      <p:sp>
        <p:nvSpPr>
          <p:cNvPr id="8" name="Text 5"/>
          <p:cNvSpPr txBox="1"/>
          <p:nvPr/>
        </p:nvSpPr>
        <p:spPr>
          <a:xfrm>
            <a:off x="7845552" y="1883664"/>
            <a:ext cx="3611880" cy="256032"/>
          </a:xfrm>
          <a:prstGeom prst="rect">
            <a:avLst/>
          </a:prstGeom>
          <a:noFill/>
          <a:ln/>
        </p:spPr>
        <p:txBody>
          <a:bodyPr wrap="square" lIns="0" tIns="0" rIns="0" bIns="0" rtlCol="0" anchor="ctr"/>
          <a:lstStyle/>
          <a:p>
            <a:pPr indent="0" marL="0">
              <a:buNone/>
            </a:pPr>
            <a:r>
              <a:rPr lang="en-US" sz="1450" b="1" dirty="0">
                <a:solidFill>
                  <a:srgbClr val="C1435B"/>
                </a:solidFill>
                <a:latin typeface="Arial" pitchFamily="34" charset="0"/>
                <a:ea typeface="Arial" pitchFamily="34" charset="-122"/>
                <a:cs typeface="Arial" pitchFamily="34" charset="-120"/>
              </a:rPr>
              <a:t>independent</a:t>
            </a:r>
            <a:endParaRPr lang="en-US" sz="1450" dirty="0"/>
          </a:p>
        </p:txBody>
      </p:sp>
      <p:sp>
        <p:nvSpPr>
          <p:cNvPr id="9" name="Text 6"/>
          <p:cNvSpPr txBox="1"/>
          <p:nvPr/>
        </p:nvSpPr>
        <p:spPr>
          <a:xfrm>
            <a:off x="7845552" y="2139696"/>
            <a:ext cx="3611880" cy="548640"/>
          </a:xfrm>
          <a:prstGeom prst="rect">
            <a:avLst/>
          </a:prstGeom>
          <a:noFill/>
          <a:ln/>
        </p:spPr>
        <p:txBody>
          <a:bodyPr wrap="square" lIns="0" tIns="0" rIns="0" bIns="0" rtlCol="0" anchor="t"/>
          <a:lstStyle/>
          <a:p>
            <a:pPr indent="0" marL="0">
              <a:lnSpc>
                <a:spcPts val="1500"/>
              </a:lnSpc>
              <a:buNone/>
            </a:pPr>
            <a:r>
              <a:rPr lang="en-US" sz="1250" dirty="0">
                <a:solidFill>
                  <a:srgbClr val="1A1A1A"/>
                </a:solidFill>
                <a:latin typeface="Arial" pitchFamily="34" charset="0"/>
                <a:ea typeface="Arial" pitchFamily="34" charset="-122"/>
                <a:cs typeface="Arial" pitchFamily="34" charset="-120"/>
              </a:rPr>
              <a:t>destroys correlation at every scale — 0.198 vs 0.717 even at 0.09 ppm</a:t>
            </a:r>
            <a:endParaRPr lang="en-US" sz="1250" dirty="0"/>
          </a:p>
        </p:txBody>
      </p:sp>
      <p:sp>
        <p:nvSpPr>
          <p:cNvPr id="10" name="Shape 7"/>
          <p:cNvSpPr/>
          <p:nvPr/>
        </p:nvSpPr>
        <p:spPr>
          <a:xfrm>
            <a:off x="7635240" y="2871216"/>
            <a:ext cx="4023360" cy="932688"/>
          </a:xfrm>
          <a:prstGeom prst="roundRect">
            <a:avLst>
              <a:gd name="adj" fmla="val 7843"/>
            </a:avLst>
          </a:prstGeom>
          <a:solidFill>
            <a:srgbClr val="EEF3F7"/>
          </a:solidFill>
          <a:ln/>
        </p:spPr>
      </p:sp>
      <p:sp>
        <p:nvSpPr>
          <p:cNvPr id="11" name="Text 8"/>
          <p:cNvSpPr txBox="1"/>
          <p:nvPr/>
        </p:nvSpPr>
        <p:spPr>
          <a:xfrm>
            <a:off x="7845552" y="2944368"/>
            <a:ext cx="3611880" cy="256032"/>
          </a:xfrm>
          <a:prstGeom prst="rect">
            <a:avLst/>
          </a:prstGeom>
          <a:noFill/>
          <a:ln/>
        </p:spPr>
        <p:txBody>
          <a:bodyPr wrap="square" lIns="0" tIns="0" rIns="0" bIns="0" rtlCol="0" anchor="ctr"/>
          <a:lstStyle/>
          <a:p>
            <a:pPr indent="0" marL="0">
              <a:buNone/>
            </a:pPr>
            <a:r>
              <a:rPr lang="en-US" sz="1450" b="1" dirty="0">
                <a:solidFill>
                  <a:srgbClr val="B8860B"/>
                </a:solidFill>
                <a:latin typeface="Arial" pitchFamily="34" charset="0"/>
                <a:ea typeface="Arial" pitchFamily="34" charset="-122"/>
                <a:cs typeface="Arial" pitchFamily="34" charset="-120"/>
              </a:rPr>
              <a:t>quilted</a:t>
            </a:r>
            <a:endParaRPr lang="en-US" sz="1450" dirty="0"/>
          </a:p>
        </p:txBody>
      </p:sp>
      <p:sp>
        <p:nvSpPr>
          <p:cNvPr id="12" name="Text 9"/>
          <p:cNvSpPr txBox="1"/>
          <p:nvPr/>
        </p:nvSpPr>
        <p:spPr>
          <a:xfrm>
            <a:off x="7845552" y="3200400"/>
            <a:ext cx="3611880" cy="548640"/>
          </a:xfrm>
          <a:prstGeom prst="rect">
            <a:avLst/>
          </a:prstGeom>
          <a:noFill/>
          <a:ln/>
        </p:spPr>
        <p:txBody>
          <a:bodyPr wrap="square" lIns="0" tIns="0" rIns="0" bIns="0" rtlCol="0" anchor="t"/>
          <a:lstStyle/>
          <a:p>
            <a:pPr indent="0" marL="0">
              <a:lnSpc>
                <a:spcPts val="1500"/>
              </a:lnSpc>
              <a:buNone/>
            </a:pPr>
            <a:r>
              <a:rPr lang="en-US" sz="1250" dirty="0">
                <a:solidFill>
                  <a:srgbClr val="1A1A1A"/>
                </a:solidFill>
                <a:latin typeface="Arial" pitchFamily="34" charset="0"/>
                <a:ea typeface="Arial" pitchFamily="34" charset="-122"/>
                <a:cs typeface="Arial" pitchFamily="34" charset="-120"/>
              </a:rPr>
              <a:t>local structure recovered; long-range collapses to 0.051</a:t>
            </a:r>
            <a:endParaRPr lang="en-US" sz="1250" dirty="0"/>
          </a:p>
        </p:txBody>
      </p:sp>
      <p:sp>
        <p:nvSpPr>
          <p:cNvPr id="13" name="Shape 10"/>
          <p:cNvSpPr/>
          <p:nvPr/>
        </p:nvSpPr>
        <p:spPr>
          <a:xfrm>
            <a:off x="7635240" y="3931920"/>
            <a:ext cx="4023360" cy="932688"/>
          </a:xfrm>
          <a:prstGeom prst="roundRect">
            <a:avLst>
              <a:gd name="adj" fmla="val 7843"/>
            </a:avLst>
          </a:prstGeom>
          <a:solidFill>
            <a:srgbClr val="EEF3F7"/>
          </a:solidFill>
          <a:ln/>
        </p:spPr>
      </p:sp>
      <p:sp>
        <p:nvSpPr>
          <p:cNvPr id="14" name="Text 11"/>
          <p:cNvSpPr txBox="1"/>
          <p:nvPr/>
        </p:nvSpPr>
        <p:spPr>
          <a:xfrm>
            <a:off x="7845552" y="4005072"/>
            <a:ext cx="3611880" cy="256032"/>
          </a:xfrm>
          <a:prstGeom prst="rect">
            <a:avLst/>
          </a:prstGeom>
          <a:noFill/>
          <a:ln/>
        </p:spPr>
        <p:txBody>
          <a:bodyPr wrap="square" lIns="0" tIns="0" rIns="0" bIns="0" rtlCol="0" anchor="ctr"/>
          <a:lstStyle/>
          <a:p>
            <a:pPr indent="0" marL="0">
              <a:buNone/>
            </a:pPr>
            <a:r>
              <a:rPr lang="en-US" sz="1450" b="1" dirty="0">
                <a:solidFill>
                  <a:srgbClr val="1C7293"/>
                </a:solidFill>
                <a:latin typeface="Arial" pitchFamily="34" charset="0"/>
                <a:ea typeface="Arial" pitchFamily="34" charset="-122"/>
                <a:cs typeface="Arial" pitchFamily="34" charset="-120"/>
              </a:rPr>
              <a:t>quilted_base</a:t>
            </a:r>
            <a:endParaRPr lang="en-US" sz="1450" dirty="0"/>
          </a:p>
        </p:txBody>
      </p:sp>
      <p:sp>
        <p:nvSpPr>
          <p:cNvPr id="15" name="Text 12"/>
          <p:cNvSpPr txBox="1"/>
          <p:nvPr/>
        </p:nvSpPr>
        <p:spPr>
          <a:xfrm>
            <a:off x="7845552" y="4261104"/>
            <a:ext cx="3611880" cy="548640"/>
          </a:xfrm>
          <a:prstGeom prst="rect">
            <a:avLst/>
          </a:prstGeom>
          <a:noFill/>
          <a:ln/>
        </p:spPr>
        <p:txBody>
          <a:bodyPr wrap="square" lIns="0" tIns="0" rIns="0" bIns="0" rtlCol="0" anchor="t"/>
          <a:lstStyle/>
          <a:p>
            <a:pPr indent="0" marL="0">
              <a:lnSpc>
                <a:spcPts val="1500"/>
              </a:lnSpc>
              <a:buNone/>
            </a:pPr>
            <a:r>
              <a:rPr lang="en-US" sz="1250" dirty="0">
                <a:solidFill>
                  <a:srgbClr val="1A1A1A"/>
                </a:solidFill>
                <a:latin typeface="Arial" pitchFamily="34" charset="0"/>
                <a:ea typeface="Arial" pitchFamily="34" charset="-122"/>
                <a:cs typeface="Arial" pitchFamily="34" charset="-120"/>
              </a:rPr>
              <a:t>long-range preserved (0.401 vs 0.453) — but nn r = 0.982, i.e. copying</a:t>
            </a:r>
            <a:endParaRPr lang="en-US" sz="1250" dirty="0"/>
          </a:p>
        </p:txBody>
      </p:sp>
      <p:sp>
        <p:nvSpPr>
          <p:cNvPr id="16" name="Shape 13"/>
          <p:cNvSpPr/>
          <p:nvPr/>
        </p:nvSpPr>
        <p:spPr>
          <a:xfrm>
            <a:off x="7635240" y="5047488"/>
            <a:ext cx="4023360" cy="923544"/>
          </a:xfrm>
          <a:prstGeom prst="roundRect">
            <a:avLst>
              <a:gd name="adj" fmla="val 7921"/>
            </a:avLst>
          </a:prstGeom>
          <a:solidFill>
            <a:srgbClr val="FBEEF1"/>
          </a:solidFill>
          <a:ln/>
        </p:spPr>
      </p:sp>
      <p:sp>
        <p:nvSpPr>
          <p:cNvPr id="17" name="Text 14"/>
          <p:cNvSpPr txBox="1"/>
          <p:nvPr/>
        </p:nvSpPr>
        <p:spPr>
          <a:xfrm>
            <a:off x="7845552" y="5084064"/>
            <a:ext cx="3611880" cy="850392"/>
          </a:xfrm>
          <a:prstGeom prst="rect">
            <a:avLst/>
          </a:prstGeom>
          <a:noFill/>
          <a:ln/>
        </p:spPr>
        <p:txBody>
          <a:bodyPr wrap="square" lIns="0" tIns="0" rIns="0" bIns="0" rtlCol="0" anchor="ctr"/>
          <a:lstStyle/>
          <a:p>
            <a:pPr indent="0" marL="0">
              <a:lnSpc>
                <a:spcPts val="1500"/>
              </a:lnSpc>
              <a:buNone/>
            </a:pPr>
            <a:r>
              <a:rPr lang="en-US" sz="1250" b="1" dirty="0">
                <a:solidFill>
                  <a:srgbClr val="C1435B"/>
                </a:solidFill>
                <a:latin typeface="Arial" pitchFamily="34" charset="0"/>
                <a:ea typeface="Arial" pitchFamily="34" charset="-122"/>
                <a:cs typeface="Arial" pitchFamily="34" charset="-120"/>
              </a:rPr>
              <a:t>Novelty and long-range fidelity pull against each other. </a:t>
            </a:r>
            <a:pPr indent="0" marL="0">
              <a:lnSpc>
                <a:spcPts val="1500"/>
              </a:lnSpc>
              <a:buNone/>
            </a:pPr>
            <a:r>
              <a:rPr lang="en-US" sz="1250" dirty="0">
                <a:solidFill>
                  <a:srgbClr val="1A1A1A"/>
                </a:solidFill>
                <a:latin typeface="Arial" pitchFamily="34" charset="0"/>
                <a:ea typeface="Arial" pitchFamily="34" charset="-122"/>
                <a:cs typeface="Arial" pitchFamily="34" charset="-120"/>
              </a:rPr>
              <a:t>If correlation never decays, anything novel at long range is also wrong at long range.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74320"/>
            <a:ext cx="11155680" cy="658368"/>
          </a:xfrm>
          <a:prstGeom prst="rect">
            <a:avLst/>
          </a:prstGeom>
          <a:noFill/>
          <a:ln/>
        </p:spPr>
        <p:txBody>
          <a:bodyPr wrap="square" lIns="0" tIns="0" rIns="0" bIns="0" rtlCol="0" anchor="ctr"/>
          <a:lstStyle/>
          <a:p>
            <a:pPr algn="l" indent="0" marL="0">
              <a:buNone/>
            </a:pPr>
            <a:r>
              <a:rPr lang="en-US" sz="3000" b="1" dirty="0">
                <a:solidFill>
                  <a:srgbClr val="21295C"/>
                </a:solidFill>
                <a:latin typeface="Arial" pitchFamily="34" charset="0"/>
                <a:ea typeface="Arial" pitchFamily="34" charset="-122"/>
                <a:cs typeface="Arial" pitchFamily="34" charset="-120"/>
              </a:rPr>
              <a:t>Synthetic data, route (c): the LC generator</a:t>
            </a:r>
            <a:endParaRPr lang="en-US" sz="3000" dirty="0"/>
          </a:p>
        </p:txBody>
      </p:sp>
      <p:sp>
        <p:nvSpPr>
          <p:cNvPr id="3" name="Text 1"/>
          <p:cNvSpPr txBox="1"/>
          <p:nvPr/>
        </p:nvSpPr>
        <p:spPr>
          <a:xfrm>
            <a:off x="502920" y="941832"/>
            <a:ext cx="11155680" cy="384048"/>
          </a:xfrm>
          <a:prstGeom prst="rect">
            <a:avLst/>
          </a:prstGeom>
          <a:noFill/>
          <a:ln/>
        </p:spPr>
        <p:txBody>
          <a:bodyPr wrap="square" lIns="0" tIns="0" rIns="0" bIns="0" rtlCol="0" anchor="ctr"/>
          <a:lstStyle/>
          <a:p>
            <a:pPr algn="l" indent="0" marL="0">
              <a:buNone/>
            </a:pPr>
            <a:r>
              <a:rPr lang="en-US" sz="1700" dirty="0">
                <a:solidFill>
                  <a:srgbClr val="5A6068"/>
                </a:solidFill>
                <a:latin typeface="Arial" pitchFamily="34" charset="0"/>
                <a:ea typeface="Arial" pitchFamily="34" charset="-122"/>
                <a:cs typeface="Arial" pitchFamily="34" charset="-120"/>
              </a:rPr>
              <a:t>GISSMO basis built and validated at 600 MHz — but the fit gate does not pass yet</a:t>
            </a:r>
            <a:endParaRPr lang="en-US" sz="1700" dirty="0"/>
          </a:p>
        </p:txBody>
      </p:sp>
      <p:sp>
        <p:nvSpPr>
          <p:cNvPr id="4" name="Text 2"/>
          <p:cNvSpPr txBox="1"/>
          <p:nvPr/>
        </p:nvSpPr>
        <p:spPr>
          <a:xfrm>
            <a:off x="11631168" y="6355080"/>
            <a:ext cx="411480" cy="274320"/>
          </a:xfrm>
          <a:prstGeom prst="rect">
            <a:avLst/>
          </a:prstGeom>
          <a:noFill/>
          <a:ln/>
        </p:spPr>
        <p:txBody>
          <a:bodyPr wrap="square" lIns="0" tIns="0" rIns="0" bIns="0" rtlCol="0" anchor="ctr"/>
          <a:lstStyle/>
          <a:p>
            <a:pPr algn="r" indent="0" marL="0">
              <a:buNone/>
            </a:pPr>
            <a:r>
              <a:rPr lang="en-US" sz="1200" dirty="0">
                <a:solidFill>
                  <a:srgbClr val="AAB0B8"/>
                </a:solidFill>
                <a:latin typeface="Arial" pitchFamily="34" charset="0"/>
                <a:ea typeface="Arial" pitchFamily="34" charset="-122"/>
                <a:cs typeface="Arial" pitchFamily="34" charset="-120"/>
              </a:rPr>
              <a:t>5</a:t>
            </a:r>
            <a:endParaRPr lang="en-US" sz="1200" dirty="0"/>
          </a:p>
        </p:txBody>
      </p:sp>
      <p:sp>
        <p:nvSpPr>
          <p:cNvPr id="5" name="Shape 3"/>
          <p:cNvSpPr/>
          <p:nvPr/>
        </p:nvSpPr>
        <p:spPr>
          <a:xfrm>
            <a:off x="502920" y="1444752"/>
            <a:ext cx="5577840" cy="1060704"/>
          </a:xfrm>
          <a:prstGeom prst="roundRect">
            <a:avLst>
              <a:gd name="adj" fmla="val 6897"/>
            </a:avLst>
          </a:prstGeom>
          <a:solidFill>
            <a:srgbClr val="EBF5EE"/>
          </a:solidFill>
          <a:ln/>
        </p:spPr>
      </p:sp>
      <p:sp>
        <p:nvSpPr>
          <p:cNvPr id="6" name="Text 4"/>
          <p:cNvSpPr txBox="1"/>
          <p:nvPr/>
        </p:nvSpPr>
        <p:spPr>
          <a:xfrm>
            <a:off x="731520" y="1517904"/>
            <a:ext cx="5120640" cy="274320"/>
          </a:xfrm>
          <a:prstGeom prst="rect">
            <a:avLst/>
          </a:prstGeom>
          <a:noFill/>
          <a:ln/>
        </p:spPr>
        <p:txBody>
          <a:bodyPr wrap="square" lIns="0" tIns="0" rIns="0" bIns="0" rtlCol="0" anchor="ctr"/>
          <a:lstStyle/>
          <a:p>
            <a:pPr indent="0" marL="0">
              <a:buNone/>
            </a:pPr>
            <a:r>
              <a:rPr lang="en-US" sz="1600" b="1" dirty="0">
                <a:solidFill>
                  <a:srgbClr val="1A7A3C"/>
                </a:solidFill>
                <a:latin typeface="Arial" pitchFamily="34" charset="0"/>
                <a:ea typeface="Arial" pitchFamily="34" charset="-122"/>
                <a:cs typeface="Arial" pitchFamily="34" charset="-120"/>
              </a:rPr>
              <a:t>Library</a:t>
            </a:r>
            <a:endParaRPr lang="en-US" sz="1600" dirty="0"/>
          </a:p>
        </p:txBody>
      </p:sp>
      <p:sp>
        <p:nvSpPr>
          <p:cNvPr id="7" name="Text 5"/>
          <p:cNvSpPr txBox="1"/>
          <p:nvPr/>
        </p:nvSpPr>
        <p:spPr>
          <a:xfrm>
            <a:off x="731520" y="1810512"/>
            <a:ext cx="5120640" cy="640080"/>
          </a:xfrm>
          <a:prstGeom prst="rect">
            <a:avLst/>
          </a:prstGeom>
          <a:noFill/>
          <a:ln/>
        </p:spPr>
        <p:txBody>
          <a:bodyPr wrap="square" lIns="0" tIns="0" rIns="0" bIns="0" rtlCol="0" anchor="t"/>
          <a:lstStyle/>
          <a:p>
            <a:pPr indent="0" marL="0">
              <a:lnSpc>
                <a:spcPts val="1550"/>
              </a:lnSpc>
              <a:buNone/>
            </a:pPr>
            <a:r>
              <a:rPr lang="en-US" sz="1300" dirty="0">
                <a:solidFill>
                  <a:srgbClr val="1A1A1A"/>
                </a:solidFill>
                <a:latin typeface="Arial" pitchFamily="34" charset="0"/>
                <a:ea typeface="Arial" pitchFamily="34" charset="-122"/>
                <a:cs typeface="Arial" pitchFamily="34" charset="-120"/>
              </a:rPr>
              <a:t>GISSMO is already installed on NMRbox — 661 compounds with spin-system parameters AND spectra pre-simulated at 19 field strengths. No download, no spin simulation needed.</a:t>
            </a:r>
            <a:endParaRPr lang="en-US" sz="1300" dirty="0"/>
          </a:p>
        </p:txBody>
      </p:sp>
      <p:sp>
        <p:nvSpPr>
          <p:cNvPr id="8" name="Shape 6"/>
          <p:cNvSpPr/>
          <p:nvPr/>
        </p:nvSpPr>
        <p:spPr>
          <a:xfrm>
            <a:off x="502920" y="2633472"/>
            <a:ext cx="5577840" cy="1060704"/>
          </a:xfrm>
          <a:prstGeom prst="roundRect">
            <a:avLst>
              <a:gd name="adj" fmla="val 6897"/>
            </a:avLst>
          </a:prstGeom>
          <a:solidFill>
            <a:srgbClr val="EBF5EE"/>
          </a:solidFill>
          <a:ln/>
        </p:spPr>
      </p:sp>
      <p:sp>
        <p:nvSpPr>
          <p:cNvPr id="9" name="Text 7"/>
          <p:cNvSpPr txBox="1"/>
          <p:nvPr/>
        </p:nvSpPr>
        <p:spPr>
          <a:xfrm>
            <a:off x="731520" y="2706624"/>
            <a:ext cx="5120640" cy="274320"/>
          </a:xfrm>
          <a:prstGeom prst="rect">
            <a:avLst/>
          </a:prstGeom>
          <a:noFill/>
          <a:ln/>
        </p:spPr>
        <p:txBody>
          <a:bodyPr wrap="square" lIns="0" tIns="0" rIns="0" bIns="0" rtlCol="0" anchor="ctr"/>
          <a:lstStyle/>
          <a:p>
            <a:pPr indent="0" marL="0">
              <a:buNone/>
            </a:pPr>
            <a:r>
              <a:rPr lang="en-US" sz="1600" b="1" dirty="0">
                <a:solidFill>
                  <a:srgbClr val="1A7A3C"/>
                </a:solidFill>
                <a:latin typeface="Arial" pitchFamily="34" charset="0"/>
                <a:ea typeface="Arial" pitchFamily="34" charset="-122"/>
                <a:cs typeface="Arial" pitchFamily="34" charset="-120"/>
              </a:rPr>
              <a:t>Basis</a:t>
            </a:r>
            <a:endParaRPr lang="en-US" sz="1600" dirty="0"/>
          </a:p>
        </p:txBody>
      </p:sp>
      <p:sp>
        <p:nvSpPr>
          <p:cNvPr id="10" name="Text 8"/>
          <p:cNvSpPr txBox="1"/>
          <p:nvPr/>
        </p:nvSpPr>
        <p:spPr>
          <a:xfrm>
            <a:off x="731520" y="2999232"/>
            <a:ext cx="5120640" cy="640080"/>
          </a:xfrm>
          <a:prstGeom prst="rect">
            <a:avLst/>
          </a:prstGeom>
          <a:noFill/>
          <a:ln/>
        </p:spPr>
        <p:txBody>
          <a:bodyPr wrap="square" lIns="0" tIns="0" rIns="0" bIns="0" rtlCol="0" anchor="t"/>
          <a:lstStyle/>
          <a:p>
            <a:pPr indent="0" marL="0">
              <a:lnSpc>
                <a:spcPts val="1550"/>
              </a:lnSpc>
              <a:buNone/>
            </a:pPr>
            <a:r>
              <a:rPr lang="en-US" sz="1300" dirty="0">
                <a:solidFill>
                  <a:srgbClr val="1A1A1A"/>
                </a:solidFill>
                <a:latin typeface="Arial" pitchFamily="34" charset="0"/>
                <a:ea typeface="Arial" pitchFamily="34" charset="-122"/>
                <a:cs typeface="Arial" pitchFamily="34" charset="-120"/>
              </a:rPr>
              <a:t>43-metabolite serum panel, each pinned to an explicit compound ID with formula re-verification. 19 of 21 peak positions match literature within 0.03 ppm. Condition number 6.9.</a:t>
            </a:r>
            <a:endParaRPr lang="en-US" sz="1300" dirty="0"/>
          </a:p>
        </p:txBody>
      </p:sp>
      <p:sp>
        <p:nvSpPr>
          <p:cNvPr id="11" name="Shape 9"/>
          <p:cNvSpPr/>
          <p:nvPr/>
        </p:nvSpPr>
        <p:spPr>
          <a:xfrm>
            <a:off x="502920" y="3822192"/>
            <a:ext cx="5577840" cy="1060704"/>
          </a:xfrm>
          <a:prstGeom prst="roundRect">
            <a:avLst>
              <a:gd name="adj" fmla="val 6897"/>
            </a:avLst>
          </a:prstGeom>
          <a:solidFill>
            <a:srgbClr val="EBF5EE"/>
          </a:solidFill>
          <a:ln/>
        </p:spPr>
      </p:sp>
      <p:sp>
        <p:nvSpPr>
          <p:cNvPr id="12" name="Text 10"/>
          <p:cNvSpPr txBox="1"/>
          <p:nvPr/>
        </p:nvSpPr>
        <p:spPr>
          <a:xfrm>
            <a:off x="731520" y="3895344"/>
            <a:ext cx="5120640" cy="274320"/>
          </a:xfrm>
          <a:prstGeom prst="rect">
            <a:avLst/>
          </a:prstGeom>
          <a:noFill/>
          <a:ln/>
        </p:spPr>
        <p:txBody>
          <a:bodyPr wrap="square" lIns="0" tIns="0" rIns="0" bIns="0" rtlCol="0" anchor="ctr"/>
          <a:lstStyle/>
          <a:p>
            <a:pPr indent="0" marL="0">
              <a:buNone/>
            </a:pPr>
            <a:r>
              <a:rPr lang="en-US" sz="1600" b="1" dirty="0">
                <a:solidFill>
                  <a:srgbClr val="1C7293"/>
                </a:solidFill>
                <a:latin typeface="Arial" pitchFamily="34" charset="0"/>
                <a:ea typeface="Arial" pitchFamily="34" charset="-122"/>
                <a:cs typeface="Arial" pitchFamily="34" charset="-120"/>
              </a:rPr>
              <a:t>Lipids</a:t>
            </a:r>
            <a:endParaRPr lang="en-US" sz="1600" dirty="0"/>
          </a:p>
        </p:txBody>
      </p:sp>
      <p:sp>
        <p:nvSpPr>
          <p:cNvPr id="13" name="Text 11"/>
          <p:cNvSpPr txBox="1"/>
          <p:nvPr/>
        </p:nvSpPr>
        <p:spPr>
          <a:xfrm>
            <a:off x="731520" y="4187952"/>
            <a:ext cx="5120640" cy="640080"/>
          </a:xfrm>
          <a:prstGeom prst="rect">
            <a:avLst/>
          </a:prstGeom>
          <a:noFill/>
          <a:ln/>
        </p:spPr>
        <p:txBody>
          <a:bodyPr wrap="square" lIns="0" tIns="0" rIns="0" bIns="0" rtlCol="0" anchor="t"/>
          <a:lstStyle/>
          <a:p>
            <a:pPr indent="0" marL="0">
              <a:lnSpc>
                <a:spcPts val="1550"/>
              </a:lnSpc>
              <a:buNone/>
            </a:pPr>
            <a:r>
              <a:rPr lang="en-US" sz="1300" dirty="0">
                <a:solidFill>
                  <a:srgbClr val="1A1A1A"/>
                </a:solidFill>
                <a:latin typeface="Arial" pitchFamily="34" charset="0"/>
                <a:ea typeface="Arial" pitchFamily="34" charset="-122"/>
                <a:cs typeface="Arial" pitchFamily="34" charset="-120"/>
              </a:rPr>
              <a:t>GISSMO holds small molecules only, so the lipoprotein envelope was extracted from our own corpus. It accounts for 37.5% of the signal.</a:t>
            </a:r>
            <a:endParaRPr lang="en-US" sz="1300" dirty="0"/>
          </a:p>
        </p:txBody>
      </p:sp>
      <p:sp>
        <p:nvSpPr>
          <p:cNvPr id="14" name="Shape 12"/>
          <p:cNvSpPr/>
          <p:nvPr/>
        </p:nvSpPr>
        <p:spPr>
          <a:xfrm>
            <a:off x="6309360" y="1444752"/>
            <a:ext cx="5349240" cy="3529584"/>
          </a:xfrm>
          <a:prstGeom prst="roundRect">
            <a:avLst>
              <a:gd name="adj" fmla="val 2073"/>
            </a:avLst>
          </a:prstGeom>
          <a:solidFill>
            <a:srgbClr val="FBEEF1"/>
          </a:solidFill>
          <a:ln/>
        </p:spPr>
      </p:sp>
      <p:sp>
        <p:nvSpPr>
          <p:cNvPr id="15" name="Text 13"/>
          <p:cNvSpPr txBox="1"/>
          <p:nvPr/>
        </p:nvSpPr>
        <p:spPr>
          <a:xfrm>
            <a:off x="6537960" y="1554480"/>
            <a:ext cx="4892040" cy="292608"/>
          </a:xfrm>
          <a:prstGeom prst="rect">
            <a:avLst/>
          </a:prstGeom>
          <a:noFill/>
          <a:ln/>
        </p:spPr>
        <p:txBody>
          <a:bodyPr wrap="square" lIns="0" tIns="0" rIns="0" bIns="0" rtlCol="0" anchor="ctr"/>
          <a:lstStyle/>
          <a:p>
            <a:pPr indent="0" marL="0">
              <a:buNone/>
            </a:pPr>
            <a:r>
              <a:rPr lang="en-US" sz="1600" b="1" dirty="0">
                <a:solidFill>
                  <a:srgbClr val="C1435B"/>
                </a:solidFill>
                <a:latin typeface="Arial" pitchFamily="34" charset="0"/>
                <a:ea typeface="Arial" pitchFamily="34" charset="-122"/>
                <a:cs typeface="Arial" pitchFamily="34" charset="-120"/>
              </a:rPr>
              <a:t>The gate: does the model explain real spectra?</a:t>
            </a:r>
            <a:endParaRPr lang="en-US" sz="1600" dirty="0"/>
          </a:p>
        </p:txBody>
      </p:sp>
      <p:sp>
        <p:nvSpPr>
          <p:cNvPr id="16" name="Text 14"/>
          <p:cNvSpPr txBox="1"/>
          <p:nvPr/>
        </p:nvSpPr>
        <p:spPr>
          <a:xfrm>
            <a:off x="6537960" y="1920240"/>
            <a:ext cx="4892040" cy="822960"/>
          </a:xfrm>
          <a:prstGeom prst="rect">
            <a:avLst/>
          </a:prstGeom>
          <a:noFill/>
          <a:ln/>
        </p:spPr>
        <p:txBody>
          <a:bodyPr wrap="square" lIns="0" tIns="0" rIns="0" bIns="0" rtlCol="0" anchor="ctr"/>
          <a:lstStyle/>
          <a:p>
            <a:pPr algn="ctr" indent="0" marL="0">
              <a:buNone/>
            </a:pPr>
            <a:r>
              <a:rPr lang="en-US" sz="6200" b="1" dirty="0">
                <a:solidFill>
                  <a:srgbClr val="C1435B"/>
                </a:solidFill>
                <a:latin typeface="Arial" pitchFamily="34" charset="0"/>
                <a:ea typeface="Arial" pitchFamily="34" charset="-122"/>
                <a:cs typeface="Arial" pitchFamily="34" charset="-120"/>
              </a:rPr>
              <a:t>46%</a:t>
            </a:r>
            <a:endParaRPr lang="en-US" sz="6200" dirty="0"/>
          </a:p>
        </p:txBody>
      </p:sp>
      <p:sp>
        <p:nvSpPr>
          <p:cNvPr id="17" name="Text 15"/>
          <p:cNvSpPr txBox="1"/>
          <p:nvPr/>
        </p:nvSpPr>
        <p:spPr>
          <a:xfrm>
            <a:off x="6537960" y="2761488"/>
            <a:ext cx="4892040" cy="512064"/>
          </a:xfrm>
          <a:prstGeom prst="rect">
            <a:avLst/>
          </a:prstGeom>
          <a:noFill/>
          <a:ln/>
        </p:spPr>
        <p:txBody>
          <a:bodyPr wrap="square" lIns="0" tIns="0" rIns="0" bIns="0" rtlCol="0" anchor="ctr"/>
          <a:lstStyle/>
          <a:p>
            <a:pPr algn="ctr" indent="0" marL="0">
              <a:lnSpc>
                <a:spcPts val="1600"/>
              </a:lnSpc>
              <a:buNone/>
            </a:pPr>
            <a:r>
              <a:rPr lang="en-US" sz="1350" dirty="0">
                <a:solidFill>
                  <a:srgbClr val="1A1A1A"/>
                </a:solidFill>
                <a:latin typeface="Arial" pitchFamily="34" charset="0"/>
                <a:ea typeface="Arial" pitchFamily="34" charset="-122"/>
                <a:cs typeface="Arial" pitchFamily="34" charset="-120"/>
              </a:rPr>
              <a:t>of a real serum spectrum’s variance is explained</a:t>
            </a:r>
            <a:endParaRPr lang="en-US" sz="1350" dirty="0"/>
          </a:p>
          <a:p>
            <a:pPr algn="ctr" indent="0" marL="0">
              <a:lnSpc>
                <a:spcPts val="1600"/>
              </a:lnSpc>
              <a:buNone/>
            </a:pPr>
            <a:r>
              <a:rPr lang="en-US" sz="1350" dirty="0">
                <a:solidFill>
                  <a:srgbClr val="1A1A1A"/>
                </a:solidFill>
                <a:latin typeface="Arial" pitchFamily="34" charset="0"/>
                <a:ea typeface="Arial" pitchFamily="34" charset="-122"/>
                <a:cs typeface="Arial" pitchFamily="34" charset="-120"/>
              </a:rPr>
              <a:t>(target: 90%)</a:t>
            </a:r>
            <a:endParaRPr lang="en-US" sz="1350" dirty="0"/>
          </a:p>
        </p:txBody>
      </p:sp>
      <p:sp>
        <p:nvSpPr>
          <p:cNvPr id="18" name="Text 16"/>
          <p:cNvSpPr txBox="1"/>
          <p:nvPr/>
        </p:nvSpPr>
        <p:spPr>
          <a:xfrm>
            <a:off x="6537960" y="3364992"/>
            <a:ext cx="4892040" cy="1005840"/>
          </a:xfrm>
          <a:prstGeom prst="rect">
            <a:avLst/>
          </a:prstGeom>
          <a:noFill/>
          <a:ln/>
        </p:spPr>
        <p:txBody>
          <a:bodyPr wrap="square" lIns="0" tIns="0" rIns="0" bIns="0" rtlCol="0" anchor="t"/>
          <a:lstStyle/>
          <a:p>
            <a:pPr indent="0" marL="0">
              <a:lnSpc>
                <a:spcPts val="1600"/>
              </a:lnSpc>
              <a:buNone/>
            </a:pPr>
            <a:r>
              <a:rPr lang="en-US" sz="1350" b="1" dirty="0">
                <a:solidFill>
                  <a:srgbClr val="1A1A1A"/>
                </a:solidFill>
                <a:latin typeface="Arial" pitchFamily="34" charset="0"/>
                <a:ea typeface="Arial" pitchFamily="34" charset="-122"/>
                <a:cs typeface="Arial" pitchFamily="34" charset="-120"/>
              </a:rPr>
              <a:t>Adding the lipid basis fixed the solver </a:t>
            </a:r>
            <a:pPr indent="0" marL="0">
              <a:lnSpc>
                <a:spcPts val="1600"/>
              </a:lnSpc>
              <a:buNone/>
            </a:pPr>
            <a:r>
              <a:rPr lang="en-US" sz="1350" dirty="0">
                <a:solidFill>
                  <a:srgbClr val="5A6068"/>
                </a:solidFill>
                <a:latin typeface="Arial" pitchFamily="34" charset="0"/>
                <a:ea typeface="Arial" pitchFamily="34" charset="-122"/>
                <a:cs typeface="Arial" pitchFamily="34" charset="-120"/>
              </a:rPr>
              <a:t>(constrained fit 0.11 → 0.45) </a:t>
            </a:r>
            <a:pPr indent="0" marL="0">
              <a:lnSpc>
                <a:spcPts val="1600"/>
              </a:lnSpc>
              <a:buNone/>
            </a:pPr>
            <a:r>
              <a:rPr lang="en-US" sz="1350" b="1" dirty="0">
                <a:solidFill>
                  <a:srgbClr val="1A1A1A"/>
                </a:solidFill>
                <a:latin typeface="Arial" pitchFamily="34" charset="0"/>
                <a:ea typeface="Arial" pitchFamily="34" charset="-122"/>
                <a:cs typeface="Arial" pitchFamily="34" charset="-120"/>
              </a:rPr>
              <a:t>but did NOT raise the ceiling (0.47 → 0.51). By elimination, the remaining bottleneck is peak ALIGNMENT.</a:t>
            </a:r>
            <a:endParaRPr lang="en-US" sz="1350" dirty="0"/>
          </a:p>
        </p:txBody>
      </p:sp>
      <p:sp>
        <p:nvSpPr>
          <p:cNvPr id="19" name="Shape 17"/>
          <p:cNvSpPr/>
          <p:nvPr/>
        </p:nvSpPr>
        <p:spPr>
          <a:xfrm>
            <a:off x="502920" y="5120640"/>
            <a:ext cx="11155680" cy="868680"/>
          </a:xfrm>
          <a:prstGeom prst="roundRect">
            <a:avLst>
              <a:gd name="adj" fmla="val 8421"/>
            </a:avLst>
          </a:prstGeom>
          <a:solidFill>
            <a:srgbClr val="EEF3F7"/>
          </a:solidFill>
          <a:ln/>
        </p:spPr>
      </p:sp>
      <p:sp>
        <p:nvSpPr>
          <p:cNvPr id="20" name="Text 18"/>
          <p:cNvSpPr txBox="1"/>
          <p:nvPr/>
        </p:nvSpPr>
        <p:spPr>
          <a:xfrm>
            <a:off x="777240" y="5157216"/>
            <a:ext cx="10607040" cy="795528"/>
          </a:xfrm>
          <a:prstGeom prst="rect">
            <a:avLst/>
          </a:prstGeom>
          <a:noFill/>
          <a:ln/>
        </p:spPr>
        <p:txBody>
          <a:bodyPr wrap="square" lIns="0" tIns="0" rIns="0" bIns="0" rtlCol="0" anchor="ctr"/>
          <a:lstStyle/>
          <a:p>
            <a:pPr indent="0" marL="0">
              <a:lnSpc>
                <a:spcPts val="1700"/>
              </a:lnSpc>
              <a:buNone/>
            </a:pPr>
            <a:r>
              <a:rPr lang="en-US" sz="1400" b="1" dirty="0">
                <a:solidFill>
                  <a:srgbClr val="065A82"/>
                </a:solidFill>
                <a:latin typeface="Arial" pitchFamily="34" charset="0"/>
                <a:ea typeface="Arial" pitchFamily="34" charset="-122"/>
                <a:cs typeface="Arial" pitchFamily="34" charset="-120"/>
              </a:rPr>
              <a:t>Root cause, and it is fixable:  </a:t>
            </a:r>
            <a:pPr indent="0" marL="0">
              <a:lnSpc>
                <a:spcPts val="1700"/>
              </a:lnSpc>
              <a:buNone/>
            </a:pPr>
            <a:r>
              <a:rPr lang="en-US" sz="1400" dirty="0">
                <a:solidFill>
                  <a:srgbClr val="1A1A1A"/>
                </a:solidFill>
                <a:latin typeface="Arial" pitchFamily="34" charset="0"/>
                <a:ea typeface="Arial" pitchFamily="34" charset="-122"/>
                <a:cs typeface="Arial" pitchFamily="34" charset="-120"/>
              </a:rPr>
              <a:t>our corpus has no 0 ppm reference resonance and was aligned to its own rightmost peak, so its ppm axis carries an arbitrary absolute offset of 0.15–0.3 ppm. That is invisible within the corpus but blocks any comparison against an external library.</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74320"/>
            <a:ext cx="11155680" cy="658368"/>
          </a:xfrm>
          <a:prstGeom prst="rect">
            <a:avLst/>
          </a:prstGeom>
          <a:noFill/>
          <a:ln/>
        </p:spPr>
        <p:txBody>
          <a:bodyPr wrap="square" lIns="0" tIns="0" rIns="0" bIns="0" rtlCol="0" anchor="ctr"/>
          <a:lstStyle/>
          <a:p>
            <a:pPr algn="l" indent="0" marL="0">
              <a:buNone/>
            </a:pPr>
            <a:r>
              <a:rPr lang="en-US" sz="3000" b="1" dirty="0">
                <a:solidFill>
                  <a:srgbClr val="21295C"/>
                </a:solidFill>
                <a:latin typeface="Arial" pitchFamily="34" charset="0"/>
                <a:ea typeface="Arial" pitchFamily="34" charset="-122"/>
                <a:cs typeface="Arial" pitchFamily="34" charset="-120"/>
              </a:rPr>
              <a:t>What I need, and what is next</a:t>
            </a:r>
            <a:endParaRPr lang="en-US" sz="3000" dirty="0"/>
          </a:p>
        </p:txBody>
      </p:sp>
      <p:sp>
        <p:nvSpPr>
          <p:cNvPr id="3" name="Text 1"/>
          <p:cNvSpPr txBox="1"/>
          <p:nvPr/>
        </p:nvSpPr>
        <p:spPr>
          <a:xfrm>
            <a:off x="502920" y="941832"/>
            <a:ext cx="11155680" cy="384048"/>
          </a:xfrm>
          <a:prstGeom prst="rect">
            <a:avLst/>
          </a:prstGeom>
          <a:noFill/>
          <a:ln/>
        </p:spPr>
        <p:txBody>
          <a:bodyPr wrap="square" lIns="0" tIns="0" rIns="0" bIns="0" rtlCol="0" anchor="ctr"/>
          <a:lstStyle/>
          <a:p>
            <a:pPr algn="l" indent="0" marL="0">
              <a:buNone/>
            </a:pPr>
            <a:r>
              <a:rPr lang="en-US" sz="1700" dirty="0">
                <a:solidFill>
                  <a:srgbClr val="5A6068"/>
                </a:solidFill>
                <a:latin typeface="Arial" pitchFamily="34" charset="0"/>
                <a:ea typeface="Arial" pitchFamily="34" charset="-122"/>
                <a:cs typeface="Arial" pitchFamily="34" charset="-120"/>
              </a:rPr>
              <a:t>One input from the instrument archive unblocks four separate open questions</a:t>
            </a:r>
            <a:endParaRPr lang="en-US" sz="1700" dirty="0"/>
          </a:p>
        </p:txBody>
      </p:sp>
      <p:sp>
        <p:nvSpPr>
          <p:cNvPr id="4" name="Text 2"/>
          <p:cNvSpPr txBox="1"/>
          <p:nvPr/>
        </p:nvSpPr>
        <p:spPr>
          <a:xfrm>
            <a:off x="11631168" y="6355080"/>
            <a:ext cx="411480" cy="274320"/>
          </a:xfrm>
          <a:prstGeom prst="rect">
            <a:avLst/>
          </a:prstGeom>
          <a:noFill/>
          <a:ln/>
        </p:spPr>
        <p:txBody>
          <a:bodyPr wrap="square" lIns="0" tIns="0" rIns="0" bIns="0" rtlCol="0" anchor="ctr"/>
          <a:lstStyle/>
          <a:p>
            <a:pPr algn="r" indent="0" marL="0">
              <a:buNone/>
            </a:pPr>
            <a:r>
              <a:rPr lang="en-US" sz="1200" dirty="0">
                <a:solidFill>
                  <a:srgbClr val="AAB0B8"/>
                </a:solidFill>
                <a:latin typeface="Arial" pitchFamily="34" charset="0"/>
                <a:ea typeface="Arial" pitchFamily="34" charset="-122"/>
                <a:cs typeface="Arial" pitchFamily="34" charset="-120"/>
              </a:rPr>
              <a:t>6</a:t>
            </a:r>
            <a:endParaRPr lang="en-US" sz="1200" dirty="0"/>
          </a:p>
        </p:txBody>
      </p:sp>
      <p:sp>
        <p:nvSpPr>
          <p:cNvPr id="5" name="Shape 3"/>
          <p:cNvSpPr/>
          <p:nvPr/>
        </p:nvSpPr>
        <p:spPr>
          <a:xfrm>
            <a:off x="502920" y="1444752"/>
            <a:ext cx="11155680" cy="1965960"/>
          </a:xfrm>
          <a:prstGeom prst="roundRect">
            <a:avLst>
              <a:gd name="adj" fmla="val 3721"/>
            </a:avLst>
          </a:prstGeom>
          <a:solidFill>
            <a:srgbClr val="EBF5EE"/>
          </a:solidFill>
          <a:ln/>
        </p:spPr>
      </p:sp>
      <p:sp>
        <p:nvSpPr>
          <p:cNvPr id="6" name="Text 4"/>
          <p:cNvSpPr txBox="1"/>
          <p:nvPr/>
        </p:nvSpPr>
        <p:spPr>
          <a:xfrm>
            <a:off x="777240" y="1554480"/>
            <a:ext cx="10607040" cy="310896"/>
          </a:xfrm>
          <a:prstGeom prst="rect">
            <a:avLst/>
          </a:prstGeom>
          <a:noFill/>
          <a:ln/>
        </p:spPr>
        <p:txBody>
          <a:bodyPr wrap="square" lIns="0" tIns="0" rIns="0" bIns="0" rtlCol="0" anchor="ctr"/>
          <a:lstStyle/>
          <a:p>
            <a:pPr indent="0" marL="0">
              <a:buNone/>
            </a:pPr>
            <a:r>
              <a:rPr lang="en-US" sz="1800" b="1" dirty="0">
                <a:solidFill>
                  <a:srgbClr val="1A7A3C"/>
                </a:solidFill>
                <a:latin typeface="Arial" pitchFamily="34" charset="0"/>
                <a:ea typeface="Arial" pitchFamily="34" charset="-122"/>
                <a:cs typeface="Arial" pitchFamily="34" charset="-120"/>
              </a:rPr>
              <a:t>Ask 1 — the Bruker parameter export</a:t>
            </a:r>
            <a:endParaRPr lang="en-US" sz="1800" dirty="0"/>
          </a:p>
        </p:txBody>
      </p:sp>
      <p:sp>
        <p:nvSpPr>
          <p:cNvPr id="7" name="Text 5"/>
          <p:cNvSpPr txBox="1"/>
          <p:nvPr/>
        </p:nvSpPr>
        <p:spPr>
          <a:xfrm>
            <a:off x="777240" y="1883664"/>
            <a:ext cx="10607040" cy="475488"/>
          </a:xfrm>
          <a:prstGeom prst="rect">
            <a:avLst/>
          </a:prstGeom>
          <a:noFill/>
          <a:ln/>
        </p:spPr>
        <p:txBody>
          <a:bodyPr wrap="square" lIns="0" tIns="0" rIns="0" bIns="0" rtlCol="0" anchor="t"/>
          <a:lstStyle/>
          <a:p>
            <a:pPr indent="0" marL="0">
              <a:lnSpc>
                <a:spcPts val="1700"/>
              </a:lnSpc>
              <a:buNone/>
            </a:pPr>
            <a:r>
              <a:rPr lang="en-US" sz="1400" dirty="0">
                <a:solidFill>
                  <a:srgbClr val="1A1A1A"/>
                </a:solidFill>
                <a:latin typeface="Arial" pitchFamily="34" charset="0"/>
                <a:ea typeface="Arial" pitchFamily="34" charset="-122"/>
                <a:cs typeface="Arial" pitchFamily="34" charset="-120"/>
              </a:rPr>
              <a:t>The raw archive is tens of GB, but we only need the parameter files: an acqus is 9 kB against ~1 MB for a single FID. A standard-library script extracts them on the machine holding the disk and produces a few-MB CSV. It unblocks:</a:t>
            </a:r>
            <a:endParaRPr lang="en-US" sz="1400" dirty="0"/>
          </a:p>
        </p:txBody>
      </p:sp>
      <p:sp>
        <p:nvSpPr>
          <p:cNvPr id="8" name="Text 6"/>
          <p:cNvSpPr txBox="1"/>
          <p:nvPr/>
        </p:nvSpPr>
        <p:spPr>
          <a:xfrm>
            <a:off x="777240" y="2432304"/>
            <a:ext cx="1417320" cy="329184"/>
          </a:xfrm>
          <a:prstGeom prst="rect">
            <a:avLst/>
          </a:prstGeom>
          <a:noFill/>
          <a:ln/>
        </p:spPr>
        <p:txBody>
          <a:bodyPr wrap="square" lIns="0" tIns="0" rIns="0" bIns="0" rtlCol="0" anchor="ctr"/>
          <a:lstStyle/>
          <a:p>
            <a:pPr indent="0" marL="0">
              <a:buNone/>
            </a:pPr>
            <a:r>
              <a:rPr lang="en-US" sz="1350" b="1" dirty="0">
                <a:solidFill>
                  <a:srgbClr val="065A82"/>
                </a:solidFill>
                <a:latin typeface="Arial" pitchFamily="34" charset="0"/>
                <a:ea typeface="Arial" pitchFamily="34" charset="-122"/>
                <a:cs typeface="Arial" pitchFamily="34" charset="-120"/>
              </a:rPr>
              <a:t>SF / SR</a:t>
            </a:r>
            <a:endParaRPr lang="en-US" sz="1350" dirty="0"/>
          </a:p>
        </p:txBody>
      </p:sp>
      <p:sp>
        <p:nvSpPr>
          <p:cNvPr id="9" name="Text 7"/>
          <p:cNvSpPr txBox="1"/>
          <p:nvPr/>
        </p:nvSpPr>
        <p:spPr>
          <a:xfrm>
            <a:off x="2240280" y="2432304"/>
            <a:ext cx="3703320" cy="329184"/>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true chemical-shift referencing — the fix for the ceiling above</a:t>
            </a:r>
            <a:endParaRPr lang="en-US" sz="1300" dirty="0"/>
          </a:p>
        </p:txBody>
      </p:sp>
      <p:sp>
        <p:nvSpPr>
          <p:cNvPr id="10" name="Text 8"/>
          <p:cNvSpPr txBox="1"/>
          <p:nvPr/>
        </p:nvSpPr>
        <p:spPr>
          <a:xfrm>
            <a:off x="6217920" y="2432304"/>
            <a:ext cx="1417320" cy="329184"/>
          </a:xfrm>
          <a:prstGeom prst="rect">
            <a:avLst/>
          </a:prstGeom>
          <a:noFill/>
          <a:ln/>
        </p:spPr>
        <p:txBody>
          <a:bodyPr wrap="square" lIns="0" tIns="0" rIns="0" bIns="0" rtlCol="0" anchor="ctr"/>
          <a:lstStyle/>
          <a:p>
            <a:pPr indent="0" marL="0">
              <a:buNone/>
            </a:pPr>
            <a:r>
              <a:rPr lang="en-US" sz="1350" b="1" dirty="0">
                <a:solidFill>
                  <a:srgbClr val="065A82"/>
                </a:solidFill>
                <a:latin typeface="Arial" pitchFamily="34" charset="0"/>
                <a:ea typeface="Arial" pitchFamily="34" charset="-122"/>
                <a:cs typeface="Arial" pitchFamily="34" charset="-120"/>
              </a:rPr>
              <a:t>SFO1 / BF1</a:t>
            </a:r>
            <a:endParaRPr lang="en-US" sz="1350" dirty="0"/>
          </a:p>
        </p:txBody>
      </p:sp>
      <p:sp>
        <p:nvSpPr>
          <p:cNvPr id="11" name="Text 9"/>
          <p:cNvSpPr txBox="1"/>
          <p:nvPr/>
        </p:nvSpPr>
        <p:spPr>
          <a:xfrm>
            <a:off x="7680960" y="2432304"/>
            <a:ext cx="3703320" cy="329184"/>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field strength per experiment — is the corpus mixed-field?</a:t>
            </a:r>
            <a:endParaRPr lang="en-US" sz="1300" dirty="0"/>
          </a:p>
        </p:txBody>
      </p:sp>
      <p:sp>
        <p:nvSpPr>
          <p:cNvPr id="12" name="Text 10"/>
          <p:cNvSpPr txBox="1"/>
          <p:nvPr/>
        </p:nvSpPr>
        <p:spPr>
          <a:xfrm>
            <a:off x="777240" y="2871216"/>
            <a:ext cx="1417320" cy="329184"/>
          </a:xfrm>
          <a:prstGeom prst="rect">
            <a:avLst/>
          </a:prstGeom>
          <a:noFill/>
          <a:ln/>
        </p:spPr>
        <p:txBody>
          <a:bodyPr wrap="square" lIns="0" tIns="0" rIns="0" bIns="0" rtlCol="0" anchor="ctr"/>
          <a:lstStyle/>
          <a:p>
            <a:pPr indent="0" marL="0">
              <a:buNone/>
            </a:pPr>
            <a:r>
              <a:rPr lang="en-US" sz="1350" b="1" dirty="0">
                <a:solidFill>
                  <a:srgbClr val="065A82"/>
                </a:solidFill>
                <a:latin typeface="Arial" pitchFamily="34" charset="0"/>
                <a:ea typeface="Arial" pitchFamily="34" charset="-122"/>
                <a:cs typeface="Arial" pitchFamily="34" charset="-120"/>
              </a:rPr>
              <a:t>DATE</a:t>
            </a:r>
            <a:endParaRPr lang="en-US" sz="1350" dirty="0"/>
          </a:p>
        </p:txBody>
      </p:sp>
      <p:sp>
        <p:nvSpPr>
          <p:cNvPr id="13" name="Text 11"/>
          <p:cNvSpPr txBox="1"/>
          <p:nvPr/>
        </p:nvSpPr>
        <p:spPr>
          <a:xfrm>
            <a:off x="2240280" y="2871216"/>
            <a:ext cx="3703320" cy="329184"/>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real acquisition timestamps — upgrades the batch audit</a:t>
            </a:r>
            <a:endParaRPr lang="en-US" sz="1300" dirty="0"/>
          </a:p>
        </p:txBody>
      </p:sp>
      <p:sp>
        <p:nvSpPr>
          <p:cNvPr id="14" name="Text 12"/>
          <p:cNvSpPr txBox="1"/>
          <p:nvPr/>
        </p:nvSpPr>
        <p:spPr>
          <a:xfrm>
            <a:off x="6217920" y="2871216"/>
            <a:ext cx="1417320" cy="329184"/>
          </a:xfrm>
          <a:prstGeom prst="rect">
            <a:avLst/>
          </a:prstGeom>
          <a:noFill/>
          <a:ln/>
        </p:spPr>
        <p:txBody>
          <a:bodyPr wrap="square" lIns="0" tIns="0" rIns="0" bIns="0" rtlCol="0" anchor="ctr"/>
          <a:lstStyle/>
          <a:p>
            <a:pPr indent="0" marL="0">
              <a:buNone/>
            </a:pPr>
            <a:r>
              <a:rPr lang="en-US" sz="1350" b="1" dirty="0">
                <a:solidFill>
                  <a:srgbClr val="065A82"/>
                </a:solidFill>
                <a:latin typeface="Arial" pitchFamily="34" charset="0"/>
                <a:ea typeface="Arial" pitchFamily="34" charset="-122"/>
                <a:cs typeface="Arial" pitchFamily="34" charset="-120"/>
              </a:rPr>
              <a:t>NS / RG</a:t>
            </a:r>
            <a:endParaRPr lang="en-US" sz="1350" dirty="0"/>
          </a:p>
        </p:txBody>
      </p:sp>
      <p:sp>
        <p:nvSpPr>
          <p:cNvPr id="15" name="Text 13"/>
          <p:cNvSpPr txBox="1"/>
          <p:nvPr/>
        </p:nvSpPr>
        <p:spPr>
          <a:xfrm>
            <a:off x="7680960" y="2871216"/>
            <a:ext cx="3703320" cy="329184"/>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scans and gain — tests the normalisation-leak question directly</a:t>
            </a:r>
            <a:endParaRPr lang="en-US" sz="1300" dirty="0"/>
          </a:p>
        </p:txBody>
      </p:sp>
      <p:sp>
        <p:nvSpPr>
          <p:cNvPr id="16" name="Shape 14"/>
          <p:cNvSpPr/>
          <p:nvPr/>
        </p:nvSpPr>
        <p:spPr>
          <a:xfrm>
            <a:off x="502920" y="3611880"/>
            <a:ext cx="11155680" cy="1097280"/>
          </a:xfrm>
          <a:prstGeom prst="roundRect">
            <a:avLst>
              <a:gd name="adj" fmla="val 6667"/>
            </a:avLst>
          </a:prstGeom>
          <a:solidFill>
            <a:srgbClr val="EEF3F7"/>
          </a:solidFill>
          <a:ln/>
        </p:spPr>
      </p:sp>
      <p:sp>
        <p:nvSpPr>
          <p:cNvPr id="17" name="Shape 15"/>
          <p:cNvSpPr/>
          <p:nvPr/>
        </p:nvSpPr>
        <p:spPr>
          <a:xfrm>
            <a:off x="749808" y="3886200"/>
            <a:ext cx="530352" cy="530352"/>
          </a:xfrm>
          <a:prstGeom prst="ellipse">
            <a:avLst/>
          </a:prstGeom>
          <a:solidFill>
            <a:srgbClr val="1C7293"/>
          </a:solidFill>
          <a:ln/>
        </p:spPr>
      </p:sp>
      <p:sp>
        <p:nvSpPr>
          <p:cNvPr id="18" name="Text 16"/>
          <p:cNvSpPr txBox="1"/>
          <p:nvPr/>
        </p:nvSpPr>
        <p:spPr>
          <a:xfrm>
            <a:off x="749808" y="3886200"/>
            <a:ext cx="530352" cy="530352"/>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2</a:t>
            </a:r>
            <a:endParaRPr lang="en-US" sz="1900" dirty="0"/>
          </a:p>
        </p:txBody>
      </p:sp>
      <p:sp>
        <p:nvSpPr>
          <p:cNvPr id="19" name="Text 17"/>
          <p:cNvSpPr txBox="1"/>
          <p:nvPr/>
        </p:nvSpPr>
        <p:spPr>
          <a:xfrm>
            <a:off x="1481328" y="3703320"/>
            <a:ext cx="9966960" cy="310896"/>
          </a:xfrm>
          <a:prstGeom prst="rect">
            <a:avLst/>
          </a:prstGeom>
          <a:noFill/>
          <a:ln/>
        </p:spPr>
        <p:txBody>
          <a:bodyPr wrap="square" lIns="0" tIns="0" rIns="0" bIns="0" rtlCol="0" anchor="ctr"/>
          <a:lstStyle/>
          <a:p>
            <a:pPr indent="0" marL="0">
              <a:buNone/>
            </a:pPr>
            <a:r>
              <a:rPr lang="en-US" sz="1650" b="1" dirty="0">
                <a:solidFill>
                  <a:srgbClr val="1C7293"/>
                </a:solidFill>
                <a:latin typeface="Arial" pitchFamily="34" charset="0"/>
                <a:ea typeface="Arial" pitchFamily="34" charset="-122"/>
                <a:cs typeface="Arial" pitchFamily="34" charset="-120"/>
              </a:rPr>
              <a:t>Lipid basis — done, as you suggested</a:t>
            </a:r>
            <a:endParaRPr lang="en-US" sz="1650" dirty="0"/>
          </a:p>
        </p:txBody>
      </p:sp>
      <p:sp>
        <p:nvSpPr>
          <p:cNvPr id="20" name="Text 18"/>
          <p:cNvSpPr txBox="1"/>
          <p:nvPr/>
        </p:nvSpPr>
        <p:spPr>
          <a:xfrm>
            <a:off x="1481328" y="4032504"/>
            <a:ext cx="9966960" cy="585216"/>
          </a:xfrm>
          <a:prstGeom prst="rect">
            <a:avLst/>
          </a:prstGeom>
          <a:noFill/>
          <a:ln/>
        </p:spPr>
        <p:txBody>
          <a:bodyPr wrap="square" lIns="0" tIns="0" rIns="0" bIns="0" rtlCol="0" anchor="t"/>
          <a:lstStyle/>
          <a:p>
            <a:pPr indent="0" marL="0">
              <a:lnSpc>
                <a:spcPts val="1700"/>
              </a:lnSpc>
              <a:buNone/>
            </a:pPr>
            <a:r>
              <a:rPr lang="en-US" sz="1400" dirty="0">
                <a:solidFill>
                  <a:srgbClr val="1A1A1A"/>
                </a:solidFill>
                <a:latin typeface="Arial" pitchFamily="34" charset="0"/>
                <a:ea typeface="Arial" pitchFamily="34" charset="-122"/>
                <a:cs typeface="Arial" pitchFamily="34" charset="-120"/>
              </a:rPr>
              <a:t>Extracted empirically from the corpus rather than from a library. Already folded into the fit.</a:t>
            </a:r>
            <a:endParaRPr lang="en-US" sz="1400" dirty="0"/>
          </a:p>
        </p:txBody>
      </p:sp>
      <p:sp>
        <p:nvSpPr>
          <p:cNvPr id="21" name="Shape 19"/>
          <p:cNvSpPr/>
          <p:nvPr/>
        </p:nvSpPr>
        <p:spPr>
          <a:xfrm>
            <a:off x="502920" y="4873752"/>
            <a:ext cx="11155680" cy="1097280"/>
          </a:xfrm>
          <a:prstGeom prst="roundRect">
            <a:avLst>
              <a:gd name="adj" fmla="val 6667"/>
            </a:avLst>
          </a:prstGeom>
          <a:solidFill>
            <a:srgbClr val="EEF3F7"/>
          </a:solidFill>
          <a:ln/>
        </p:spPr>
      </p:sp>
      <p:sp>
        <p:nvSpPr>
          <p:cNvPr id="22" name="Shape 20"/>
          <p:cNvSpPr/>
          <p:nvPr/>
        </p:nvSpPr>
        <p:spPr>
          <a:xfrm>
            <a:off x="749808" y="5148072"/>
            <a:ext cx="530352" cy="530352"/>
          </a:xfrm>
          <a:prstGeom prst="ellipse">
            <a:avLst/>
          </a:prstGeom>
          <a:solidFill>
            <a:srgbClr val="B8860B"/>
          </a:solidFill>
          <a:ln/>
        </p:spPr>
      </p:sp>
      <p:sp>
        <p:nvSpPr>
          <p:cNvPr id="23" name="Text 21"/>
          <p:cNvSpPr txBox="1"/>
          <p:nvPr/>
        </p:nvSpPr>
        <p:spPr>
          <a:xfrm>
            <a:off x="749808" y="5148072"/>
            <a:ext cx="530352" cy="530352"/>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3</a:t>
            </a:r>
            <a:endParaRPr lang="en-US" sz="1900" dirty="0"/>
          </a:p>
        </p:txBody>
      </p:sp>
      <p:sp>
        <p:nvSpPr>
          <p:cNvPr id="24" name="Text 22"/>
          <p:cNvSpPr txBox="1"/>
          <p:nvPr/>
        </p:nvSpPr>
        <p:spPr>
          <a:xfrm>
            <a:off x="1481328" y="4965192"/>
            <a:ext cx="9966960" cy="310896"/>
          </a:xfrm>
          <a:prstGeom prst="rect">
            <a:avLst/>
          </a:prstGeom>
          <a:noFill/>
          <a:ln/>
        </p:spPr>
        <p:txBody>
          <a:bodyPr wrap="square" lIns="0" tIns="0" rIns="0" bIns="0" rtlCol="0" anchor="ctr"/>
          <a:lstStyle/>
          <a:p>
            <a:pPr indent="0" marL="0">
              <a:buNone/>
            </a:pPr>
            <a:r>
              <a:rPr lang="en-US" sz="1650" b="1" dirty="0">
                <a:solidFill>
                  <a:srgbClr val="B8860B"/>
                </a:solidFill>
                <a:latin typeface="Arial" pitchFamily="34" charset="0"/>
                <a:ea typeface="Arial" pitchFamily="34" charset="-122"/>
                <a:cs typeface="Arial" pitchFamily="34" charset="-120"/>
              </a:rPr>
              <a:t>Decision: how far to push route (c)?</a:t>
            </a:r>
            <a:endParaRPr lang="en-US" sz="1650" dirty="0"/>
          </a:p>
        </p:txBody>
      </p:sp>
      <p:sp>
        <p:nvSpPr>
          <p:cNvPr id="25" name="Text 23"/>
          <p:cNvSpPr txBox="1"/>
          <p:nvPr/>
        </p:nvSpPr>
        <p:spPr>
          <a:xfrm>
            <a:off x="1481328" y="5294376"/>
            <a:ext cx="9966960" cy="585216"/>
          </a:xfrm>
          <a:prstGeom prst="rect">
            <a:avLst/>
          </a:prstGeom>
          <a:noFill/>
          <a:ln/>
        </p:spPr>
        <p:txBody>
          <a:bodyPr wrap="square" lIns="0" tIns="0" rIns="0" bIns="0" rtlCol="0" anchor="t"/>
          <a:lstStyle/>
          <a:p>
            <a:pPr indent="0" marL="0">
              <a:lnSpc>
                <a:spcPts val="1700"/>
              </a:lnSpc>
              <a:buNone/>
            </a:pPr>
            <a:r>
              <a:rPr lang="en-US" sz="1400" dirty="0">
                <a:solidFill>
                  <a:srgbClr val="1A1A1A"/>
                </a:solidFill>
                <a:latin typeface="Arial" pitchFamily="34" charset="0"/>
                <a:ea typeface="Arial" pitchFamily="34" charset="-122"/>
                <a:cs typeface="Arial" pitchFamily="34" charset="-120"/>
              </a:rPr>
              <a:t>Per-peak shift fitting is the clear next step and does not need the archive — it can start now, in parallel.</a:t>
            </a:r>
            <a:endParaRPr lang="en-US" sz="1400" dirty="0"/>
          </a:p>
        </p:txBody>
      </p:sp>
      <p:sp>
        <p:nvSpPr>
          <p:cNvPr id="26" name="Shape 24"/>
          <p:cNvSpPr/>
          <p:nvPr/>
        </p:nvSpPr>
        <p:spPr>
          <a:xfrm>
            <a:off x="502920" y="6199632"/>
            <a:ext cx="11155680" cy="384048"/>
          </a:xfrm>
          <a:prstGeom prst="roundRect">
            <a:avLst>
              <a:gd name="adj" fmla="val 19048"/>
            </a:avLst>
          </a:prstGeom>
          <a:solidFill>
            <a:srgbClr val="21295C"/>
          </a:solidFill>
          <a:ln/>
        </p:spPr>
      </p:sp>
      <p:sp>
        <p:nvSpPr>
          <p:cNvPr id="27" name="Text 25"/>
          <p:cNvSpPr txBox="1"/>
          <p:nvPr/>
        </p:nvSpPr>
        <p:spPr>
          <a:xfrm>
            <a:off x="777240" y="6199632"/>
            <a:ext cx="10607040" cy="384048"/>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Proposed: start per-peak shift fitting now; run the parameter export in parallel.</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Weekly update — 3 September 2026</dc:title>
  <dc:subject>PptxGenJS Presentation</dc:subject>
  <dc:creator>Shankararama Sharma</dc:creator>
  <cp:lastModifiedBy>Shankararama Sharma</cp:lastModifiedBy>
  <cp:revision>1</cp:revision>
  <dcterms:created xsi:type="dcterms:W3CDTF">2026-09-04T03:32:20Z</dcterms:created>
  <dcterms:modified xsi:type="dcterms:W3CDTF">2026-09-04T03:32:20Z</dcterms:modified>
</cp:coreProperties>
</file>